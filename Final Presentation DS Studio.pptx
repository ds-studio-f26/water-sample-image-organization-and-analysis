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Raleway"/>
      <p:regular r:id="rId28"/>
      <p:bold r:id="rId29"/>
      <p:italic r:id="rId30"/>
      <p:boldItalic r:id="rId31"/>
    </p:embeddedFont>
    <p:embeddedFont>
      <p:font typeface="Roboto"/>
      <p:regular r:id="rId32"/>
      <p:bold r:id="rId33"/>
      <p:italic r:id="rId34"/>
      <p:boldItalic r:id="rId35"/>
    </p:embeddedFont>
    <p:embeddedFont>
      <p:font typeface="Cairo"/>
      <p:regular r:id="rId36"/>
      <p:bold r:id="rId37"/>
    </p:embeddedFont>
    <p:embeddedFont>
      <p:font typeface="Space Grotesk Medium"/>
      <p:regular r:id="rId38"/>
      <p:bold r:id="rId39"/>
    </p:embeddedFont>
    <p:embeddedFont>
      <p:font typeface="PT Sans"/>
      <p:regular r:id="rId40"/>
      <p:bold r:id="rId41"/>
      <p:italic r:id="rId42"/>
      <p:boldItalic r:id="rId43"/>
    </p:embeddedFont>
    <p:embeddedFont>
      <p:font typeface="Roboto Mono"/>
      <p:regular r:id="rId44"/>
      <p:bold r:id="rId45"/>
      <p:italic r:id="rId46"/>
      <p:boldItalic r:id="rId47"/>
    </p:embeddedFont>
    <p:embeddedFont>
      <p:font typeface="Space Grotesk"/>
      <p:regular r:id="rId48"/>
      <p:bold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FA6214-F1D8-4D9F-8613-095F0ADC8461}">
  <a:tblStyle styleId="{92FA6214-F1D8-4D9F-8613-095F0ADC846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TSans-regular.fntdata"/><Relationship Id="rId42" Type="http://schemas.openxmlformats.org/officeDocument/2006/relationships/font" Target="fonts/PTSans-italic.fntdata"/><Relationship Id="rId41" Type="http://schemas.openxmlformats.org/officeDocument/2006/relationships/font" Target="fonts/PTSans-bold.fntdata"/><Relationship Id="rId44" Type="http://schemas.openxmlformats.org/officeDocument/2006/relationships/font" Target="fonts/RobotoMono-regular.fntdata"/><Relationship Id="rId43" Type="http://schemas.openxmlformats.org/officeDocument/2006/relationships/font" Target="fonts/PTSans-boldItalic.fntdata"/><Relationship Id="rId46" Type="http://schemas.openxmlformats.org/officeDocument/2006/relationships/font" Target="fonts/RobotoMono-italic.fntdata"/><Relationship Id="rId45" Type="http://schemas.openxmlformats.org/officeDocument/2006/relationships/font" Target="fonts/Roboto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SpaceGrotesk-regular.fntdata"/><Relationship Id="rId47" Type="http://schemas.openxmlformats.org/officeDocument/2006/relationships/font" Target="fonts/RobotoMono-boldItalic.fntdata"/><Relationship Id="rId49" Type="http://schemas.openxmlformats.org/officeDocument/2006/relationships/font" Target="fonts/SpaceGrotesk-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aleway-boldItalic.fntdata"/><Relationship Id="rId30" Type="http://schemas.openxmlformats.org/officeDocument/2006/relationships/font" Target="fonts/Raleway-italic.fntdata"/><Relationship Id="rId33" Type="http://schemas.openxmlformats.org/officeDocument/2006/relationships/font" Target="fonts/Roboto-bold.fntdata"/><Relationship Id="rId32" Type="http://schemas.openxmlformats.org/officeDocument/2006/relationships/font" Target="fonts/Roboto-regular.fntdata"/><Relationship Id="rId35" Type="http://schemas.openxmlformats.org/officeDocument/2006/relationships/font" Target="fonts/Roboto-boldItalic.fntdata"/><Relationship Id="rId34" Type="http://schemas.openxmlformats.org/officeDocument/2006/relationships/font" Target="fonts/Roboto-italic.fntdata"/><Relationship Id="rId37" Type="http://schemas.openxmlformats.org/officeDocument/2006/relationships/font" Target="fonts/Cairo-bold.fntdata"/><Relationship Id="rId36" Type="http://schemas.openxmlformats.org/officeDocument/2006/relationships/font" Target="fonts/Cairo-regular.fntdata"/><Relationship Id="rId39" Type="http://schemas.openxmlformats.org/officeDocument/2006/relationships/font" Target="fonts/SpaceGroteskMedium-bold.fntdata"/><Relationship Id="rId38" Type="http://schemas.openxmlformats.org/officeDocument/2006/relationships/font" Target="fonts/SpaceGroteskMedium-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aleway-regular.fntdata"/><Relationship Id="rId27" Type="http://schemas.openxmlformats.org/officeDocument/2006/relationships/slide" Target="slides/slide21.xml"/><Relationship Id="rId29" Type="http://schemas.openxmlformats.org/officeDocument/2006/relationships/font" Target="fonts/Raleway-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h6fb17bb26fb2fd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h6fb17bb26fb2fd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3e3fdbb28aa5a30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h3e3fdbb28aa5a30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Our project starts with a real problem. Cyanobacteria are tiny organisms in lakes and ponds, and when they grow out of control they form harmful blooms that can make water unsafe. The way people check for them is mostly by looking at samples under a microscope, one at a time. That takes a lot of time and a lot of expertise. Worcester’s water is monitored by the city and by WCMC, and our advisor Professor Ahlgren studies the samples, so this is data from our own community</a:t>
            </a:r>
            <a:endParaRPr sz="2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h6fb17bb26fb2fda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h6fb17bb26fb2fda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To speed this up, the lab uses a FlowCam. Water flows past a camera, and it takes thousands of pictures of the particles in it. That’s much faster than a person, and the pictures are saved so anyone can look again later. The goal is to train a machine learning model that can recognize cyanobacteria in those pictures automatically. But a model needs organized, labeled images, and that’s where the problem is.</a:t>
            </a:r>
            <a:endParaRPr sz="2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h6fb17bb26fb2fda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h6fb17bb26fb2fda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When we got the data, it was about 550,000 images in 648 folders, and the folders were named in lots of different ways. You couldn’t search for a site or a date, you couldn’t compare samples, and none of the images were labeled. So the camera did its job, but the data wasn’t usable yet. That is the gap we worked on</a:t>
            </a:r>
            <a:endParaRPr sz="2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h6fb17bb26fb2fda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h6fb17bb26fb2fda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So our job was to build the foundation. We organize the data with a script, put it in a database with a dashboard anyone can use, and then build a tool so people can label images. Once that’s done, the machine learning work can begin</a:t>
            </a:r>
            <a:endParaRPr sz="2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h3e3fdbb28aa5a30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h3e3fdbb28aa5a30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Before writing code, we had to understand the data. We met with Professor Ahlgren, who explained the folder names. For example, ‘pp’ means post-processed, which is the city’s standard version. The codes in the name tell you the capture mode, the dilution, and the magnification. We also read a paper on FlowCam pipelines, which showed the same steps we ended up following: clean the data, then label it, then train a model.</a:t>
            </a:r>
            <a:endParaRPr sz="2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h6fb17bb26fb2fda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h6fb17bb26fb2fda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The first step is a Python script. It goes through every folder, reads the name, and pulls out the site, date, magnification, dilution and capture mode. It fixes inconsistent site names, and if there’s a raw folder and a post-processed one for the same sample, it uses the post-processed one. It also checks that every image actually opens. The output is a spreadsheet with one row for every image.</a:t>
            </a:r>
            <a:endParaRPr sz="2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h6fb17bb26fb2fdaf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h6fb17bb26fb2fdaf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Here are the results of the script. The final catalog has 511,765 images from 613 folders, 45 sites and 36 sampling dates, and none of the images were unreadable. We also found that 31,605 images were exact duplicates sitting in both the raw and the post-processed folders, and switching to the post-processed ones removed them.</a:t>
            </a:r>
            <a:endParaRPr sz="2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6fb17bb26fb2fdaf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h6fb17bb26fb2fdaf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W</a:t>
            </a:r>
            <a:r>
              <a:rPr lang="en" sz="2000"/>
              <a:t>e had a meeting with Professor Catalin, Professor Potter, and Professor Han about databases. From that we came up with a $7 a month plan and a free plan, which after meeting with Professor Ahlgren; why not free. The biggest challenge is to run it for $0 your server needs to be static for this type of project, each service fills a gap a static website can’t fill itself</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Supabase covers the data, accounts and permissions: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A real Postgres database. Logins built in. Google sign-in, email and password, confirmation emails and password resets all come ready-made. Row-Level Security. Rules like “anyone can read, only labelers can save labels” live in the database, so the security holds even though the website code is public.</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Cloudflare covers the website and the images: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Pages hosts the website and redeploys it automatically on every GitHub push.</a:t>
            </a:r>
            <a:endParaRPr sz="2000"/>
          </a:p>
          <a:p>
            <a:pPr indent="0" lvl="0" marL="0" rtl="0" algn="l">
              <a:spcBef>
                <a:spcPts val="0"/>
              </a:spcBef>
              <a:spcAft>
                <a:spcPts val="0"/>
              </a:spcAft>
              <a:buNone/>
            </a:pPr>
            <a:r>
              <a:rPr lang="en" sz="2000"/>
              <a:t>R2 holds the 3.65 GB of images.</a:t>
            </a:r>
            <a:endParaRPr sz="2000"/>
          </a:p>
          <a:p>
            <a:pPr indent="0" lvl="0" marL="0" rtl="0" algn="l">
              <a:spcBef>
                <a:spcPts val="0"/>
              </a:spcBef>
              <a:spcAft>
                <a:spcPts val="0"/>
              </a:spcAft>
              <a:buNone/>
            </a:pPr>
            <a:r>
              <a:rPr lang="en" sz="2000"/>
              <a:t>The Worker serves them quickly from Cloudflare’s global network.</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Why not the obvious alternatives?</a:t>
            </a:r>
            <a:endParaRPr sz="2000"/>
          </a:p>
          <a:p>
            <a:pPr indent="0" lvl="0" marL="0" rtl="0" algn="l">
              <a:spcBef>
                <a:spcPts val="0"/>
              </a:spcBef>
              <a:spcAft>
                <a:spcPts val="0"/>
              </a:spcAft>
              <a:buClr>
                <a:schemeClr val="dk1"/>
              </a:buClr>
              <a:buSzPts val="1100"/>
              <a:buFont typeface="Arial"/>
              <a:buNone/>
            </a:pPr>
            <a:r>
              <a:t/>
            </a:r>
            <a:endParaRPr sz="2000">
              <a:solidFill>
                <a:schemeClr val="dk1"/>
              </a:solidFill>
            </a:endParaRPr>
          </a:p>
          <a:p>
            <a:pPr indent="0" lvl="0" marL="0" rtl="0" algn="l">
              <a:spcBef>
                <a:spcPts val="0"/>
              </a:spcBef>
              <a:spcAft>
                <a:spcPts val="0"/>
              </a:spcAft>
              <a:buClr>
                <a:schemeClr val="dk1"/>
              </a:buClr>
              <a:buSzPts val="1100"/>
              <a:buFont typeface="Arial"/>
              <a:buNone/>
            </a:pPr>
            <a:r>
              <a:rPr lang="en" sz="2000">
                <a:solidFill>
                  <a:schemeClr val="dk1"/>
                </a:solidFill>
              </a:rPr>
              <a:t>Images in Supabase Storage: its free tier is only 1 GB</a:t>
            </a:r>
            <a:endParaRPr sz="2000"/>
          </a:p>
          <a:p>
            <a:pPr indent="0" lvl="0" marL="0" rtl="0" algn="l">
              <a:spcBef>
                <a:spcPts val="0"/>
              </a:spcBef>
              <a:spcAft>
                <a:spcPts val="0"/>
              </a:spcAft>
              <a:buNone/>
            </a:pPr>
            <a:r>
              <a:rPr lang="en" sz="2000"/>
              <a:t>Images in GitHub: 3.65 GB is far too large for a repository.</a:t>
            </a:r>
            <a:br>
              <a:rPr lang="en" sz="2000"/>
            </a:br>
            <a:r>
              <a:rPr lang="en" sz="2000"/>
              <a:t>AWS only allows free for around 6-12 months then it ends and charges money for downloads</a:t>
            </a:r>
            <a:endParaRPr sz="2000"/>
          </a:p>
          <a:p>
            <a:pPr indent="0" lvl="0" marL="0" rtl="0" algn="l">
              <a:spcBef>
                <a:spcPts val="0"/>
              </a:spcBef>
              <a:spcAft>
                <a:spcPts val="0"/>
              </a:spcAft>
              <a:buNone/>
            </a:pPr>
            <a:r>
              <a:rPr lang="en" sz="2000"/>
              <a:t>For render: Free database expires after about 30 days unless you upgrade </a:t>
            </a:r>
            <a:endParaRPr sz="20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h63d07de1a0f98c47_3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h63d07de1a0f98c47_3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If the storage needs to </a:t>
            </a:r>
            <a:r>
              <a:rPr lang="en" sz="2400"/>
              <a:t>increase</a:t>
            </a:r>
            <a:r>
              <a:rPr lang="en" sz="2400"/>
              <a:t> for postgres or image storage switch to Supabase for $2</a:t>
            </a:r>
            <a:r>
              <a:rPr lang="en" sz="2400"/>
              <a:t>5 a month</a:t>
            </a:r>
            <a:br>
              <a:rPr lang="en" sz="2400"/>
            </a:br>
            <a:r>
              <a:rPr lang="en" sz="2400">
                <a:solidFill>
                  <a:schemeClr val="dk1"/>
                </a:solidFill>
                <a:latin typeface="Roboto"/>
                <a:ea typeface="Roboto"/>
                <a:cs typeface="Roboto"/>
                <a:sym typeface="Roboto"/>
              </a:rPr>
              <a:t>If more requests is needed, $5 a month -&gt; 10 Million Requests per Day</a:t>
            </a:r>
            <a:endParaRPr sz="2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h3e3fdbb28aa5a30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h3e3fdbb28aa5a30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200">
                <a:solidFill>
                  <a:schemeClr val="dk1"/>
                </a:solidFill>
              </a:rPr>
              <a:t>[Whole diagram]</a:t>
            </a:r>
            <a:br>
              <a:rPr b="1" lang="en" sz="1200">
                <a:solidFill>
                  <a:schemeClr val="dk1"/>
                </a:solidFill>
              </a:rPr>
            </a:br>
            <a:r>
              <a:rPr lang="en" sz="1200">
                <a:solidFill>
                  <a:schemeClr val="dk1"/>
                </a:solidFill>
              </a:rPr>
              <a:t>This is how our Water Sample Image Catalog runs online. There are three parts. On the left is Cloudflare, which serves the website and the images. On the right is Supabase, which holds our data and handles accounts. At the bottom is our offline pipeline, which is how new images get into the system. Everything here runs on free tiers, so hosting costs us nothing.</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[Users box at the top]</a:t>
            </a:r>
            <a:br>
              <a:rPr b="1" lang="en" sz="1200">
                <a:solidFill>
                  <a:schemeClr val="dk1"/>
                </a:solidFill>
              </a:rPr>
            </a:br>
            <a:r>
              <a:rPr lang="en" sz="1200">
                <a:solidFill>
                  <a:schemeClr val="dk1"/>
                </a:solidFill>
              </a:rPr>
              <a:t>It starts with a user in a web browser: our team, professors, or a labeler. They can do four things: load the dashboard, view or download images, log in, and, if they’re allowed, save labels on images.</a:t>
            </a:r>
            <a:endParaRPr sz="1200">
              <a:solidFill>
                <a:schemeClr val="dk1"/>
              </a:solidFill>
            </a:endParaRPr>
          </a:p>
          <a:p>
            <a:pPr indent="0" lvl="0" marL="0" rtl="0" algn="l">
              <a:lnSpc>
                <a:spcPct val="115000"/>
              </a:lnSpc>
              <a:spcBef>
                <a:spcPts val="1200"/>
              </a:spcBef>
              <a:spcAft>
                <a:spcPts val="0"/>
              </a:spcAft>
              <a:buNone/>
            </a:pPr>
            <a:r>
              <a:rPr b="1" lang="en" sz="1200">
                <a:solidFill>
                  <a:schemeClr val="dk1"/>
                </a:solidFill>
              </a:rPr>
              <a:t>[Cloudflare Pages]</a:t>
            </a:r>
            <a:br>
              <a:rPr b="1" lang="en" sz="1200">
                <a:solidFill>
                  <a:schemeClr val="dk1"/>
                </a:solidFill>
              </a:rPr>
            </a:br>
            <a:r>
              <a:rPr lang="en" sz="1200">
                <a:solidFill>
                  <a:schemeClr val="dk1"/>
                </a:solidFill>
              </a:rPr>
              <a:t>“When someone opens the site, the dashboard comes from Cloudflare Pages. The dashboard is a static site: plain HTML, CSS and JavaScript files, with no server code running behind it. That’s why it’s fast and free to host. Pages is connected to our GitHub repo, so whenever we push changes, it rebuilds and redeploys the site automatically.” </a:t>
            </a:r>
            <a:r>
              <a:rPr b="1" lang="en" sz="1200">
                <a:solidFill>
                  <a:schemeClr val="dk1"/>
                </a:solidFill>
              </a:rPr>
              <a:t>[trace the ‘auto-deploy on push’ arrow]</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rPr>
              <a:t>[Cloudflare Worker, then R2]</a:t>
            </a:r>
            <a:br>
              <a:rPr b="1" lang="en" sz="1200">
                <a:solidFill>
                  <a:schemeClr val="dk1"/>
                </a:solidFill>
              </a:rPr>
            </a:br>
            <a:r>
              <a:rPr lang="en" sz="1200">
                <a:solidFill>
                  <a:schemeClr val="dk1"/>
                </a:solidFill>
              </a:rPr>
              <a:t>“The images themselves live in Cloudflare R2, which is cloud file storage. That’s over half a million microscope images, about four gigabytes. R2 has no download fees, which matters because people browse a lot of images. The browser never talks to R2 directly. It goes through the Cloudflare Worker, a small program that acts as our image server. You ask it for an image, it fetches that file from R2 and hands it back, or sends it as a download. It can only hand images out; nobody can change or delete them through it.”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rPr>
              <a:t>[Supabase Auth]</a:t>
            </a:r>
            <a:br>
              <a:rPr b="1" lang="en" sz="1200">
                <a:solidFill>
                  <a:schemeClr val="dk1"/>
                </a:solidFill>
              </a:rPr>
            </a:br>
            <a:r>
              <a:rPr lang="en" sz="1200">
                <a:solidFill>
                  <a:schemeClr val="dk1"/>
                </a:solidFill>
              </a:rPr>
              <a:t>“Now the Supabase side. When someone logs in, with Google or with an email and password, Supabase Auth checks who they are and gives the browser a token called a JWT. Think of it as a signed ID badge. The browser shows that badge with every request after that.”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rPr>
              <a:t>[Supabase REST API, then Postgres]</a:t>
            </a:r>
            <a:br>
              <a:rPr b="1" lang="en" sz="1200">
                <a:solidFill>
                  <a:schemeClr val="dk1"/>
                </a:solidFill>
              </a:rPr>
            </a:br>
            <a:r>
              <a:rPr lang="en" sz="1200">
                <a:solidFill>
                  <a:schemeClr val="dk1"/>
                </a:solidFill>
              </a:rPr>
              <a:t>“All of our data, every folder, site, date, image count and label, lives in a PostgreSQL database. The browser doesn’t connect to the database directly. It goes through Supabase’s REST API, which Supabase generates automatically from our tables. The important part is Row-Level Security. The rules about who can do what live inside the database itself. Anyone can read the catalog. Only labelers and admins can save a label, and even then they can only change the label column, nothing else. Only admins can change people’s roles. So even if someone tampered with the website code in their browser, the database would still refuse anything they aren’t allowed to do.”</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rPr>
              <a:t>[Offline pipeline at the bottom]</a:t>
            </a:r>
            <a:br>
              <a:rPr b="1" lang="en" sz="1200">
                <a:solidFill>
                  <a:schemeClr val="dk1"/>
                </a:solidFill>
              </a:rPr>
            </a:br>
            <a:r>
              <a:rPr lang="en" sz="1200">
                <a:solidFill>
                  <a:schemeClr val="dk1"/>
                </a:solidFill>
              </a:rPr>
              <a:t>“Finally, the bottom box is how data gets in, and it only runs when we add new samples. First, our Python script, </a:t>
            </a:r>
            <a:r>
              <a:rPr lang="en" sz="1200">
                <a:solidFill>
                  <a:srgbClr val="188038"/>
                </a:solidFill>
                <a:latin typeface="Roboto Mono"/>
                <a:ea typeface="Roboto Mono"/>
                <a:cs typeface="Roboto Mono"/>
                <a:sym typeface="Roboto Mono"/>
              </a:rPr>
              <a:t>catalog_images.py</a:t>
            </a:r>
            <a:r>
              <a:rPr lang="en" sz="1200">
                <a:solidFill>
                  <a:schemeClr val="dk1"/>
                </a:solidFill>
              </a:rPr>
              <a:t>, scans the raw image folders and builds a catalog: one row per image and a summary per folder. Then we import that catalog into the Postgres database. Then we upload the image files to R2 with a tool called rclone. Once that’s done, the new samples show up on the live dashboard automatically.”</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rPr>
              <a:t>[Wrap-up]</a:t>
            </a:r>
            <a:br>
              <a:rPr b="1" lang="en" sz="1200">
                <a:solidFill>
                  <a:schemeClr val="dk1"/>
                </a:solidFill>
              </a:rPr>
            </a:br>
            <a:r>
              <a:rPr lang="en" sz="1200">
                <a:solidFill>
                  <a:schemeClr val="dk1"/>
                </a:solidFill>
              </a:rPr>
              <a:t>“To sum up: Cloudflare serves the website and the images. Supabase stores the data, handles logins and enforces permissions. The pipeline on our laptop feeds new images into both. Each piece does one job, it all fits in free tiers, and the security is enforced by the database, not by the web page.”</a:t>
            </a:r>
            <a:endParaRPr sz="1200">
              <a:solidFill>
                <a:schemeClr val="dk1"/>
              </a:solidFill>
            </a:endParaRPr>
          </a:p>
          <a:p>
            <a:pPr indent="0" lvl="0" marL="0" rtl="0" algn="l">
              <a:spcBef>
                <a:spcPts val="1200"/>
              </a:spcBef>
              <a:spcAft>
                <a:spcPts val="0"/>
              </a:spcAft>
              <a:buNone/>
            </a:pPr>
            <a:r>
              <a:t/>
            </a:r>
            <a:endParaRPr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h6fb17bb26fb2fda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h6fb17bb26fb2fda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The dashboard is the front door. Anyone can open it without an account, filter by site, date and water body, see charts, and click a folder to see its images and download them. We also made it work on phones and added a dark mode</a:t>
            </a:r>
            <a:endParaRPr sz="2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h3b2f25947b9d5b1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h3b2f25947b9d5b1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h6fb17bb26fb2fda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h6fb17bb26fb2fda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The last piece is the labeling tool, and this is where machine learning gets its training data. A labeler can select a whole group of images and press a number key to label them, open an image to look closely, and undo mistakes. It shows how much of the dataset is done, and the database records who labeled each image and when. Only approved users can label, and the labels export as a CSV for the model</a:t>
            </a:r>
            <a:endParaRPr sz="2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h3e3fdbb28aa5a30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h3e3fdbb28aa5a30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We hit a lot of problems early on. The naming was inconsistent across 648 folders. Thirty-seven folders had no magnification. We didn’t know what ‘pp’ meant at first, and even after we did, it wasn’t a clean filter, because some post-processed folders repeated images from their raw version. We also couldn’t tell if names like Patch Pond and Patch Reservoir were one site or two. Most of these we fixed with the script and by asking Professor Ahlgren, but a few site names are still not merged.</a:t>
            </a:r>
            <a:endParaRPr sz="2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h3e3fdbb28aa5a30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h3e3fdbb28aa5a30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chemeClr val="dk1"/>
                </a:solidFill>
              </a:rPr>
              <a:t>So far the Worcester Cyanobacteria Monitoring Collaborative collects samples from around mass, sends them to Clark Uni where Bio department analyzes them with a flowcam using the proprietary visualspreadsheet6 software which in turn generated hundreds of thousands of images which didn’t have a place to be stored/analyzed</a:t>
            </a:r>
            <a:endParaRPr sz="2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h3e3fdbb28aa5a30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h3e3fdbb28aa5a30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h3e3fdbb28aa5a30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h3e3fdbb28aa5a30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Let’s look at what we actually built. We started with about half a million images in folders nobody could search, and we ended with one organized catalog of 511,765 images across 45 sites. On top of that there’s a free database and website, a dashboard where anyone can browse, filter and download images, and a labeling tool where approved people can tag images and the system remembers who labeled what and when. We also made it accessible, with dark mode and a demo mode so anyone can try it without an account. And all of it runs on free services.</a:t>
            </a:r>
            <a:endParaRPr sz="2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h6fb17bb26fb2fdaf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h6fb17bb26fb2fda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We learned a few big things along the way. First, real data is messy, and most of our time went into understanding it rather than writing code. Second, asking the expert early matters. When we assumed what ‘pp’ meant, we were partly wrong, and Professor Ahlgren’s answers fixed that. Third, check your assumptions. We found 31,605 duplicate images only because we looked closely. Fourth, we picked a free setup so the project can keep running after this class ends. And finally, this only worked because the team split it up: the script, the database, the dashboard and the labeling tool each had owners who kept checking in with each other.</a:t>
            </a:r>
            <a:endParaRPr sz="2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h6fb17bb26fb2fdaf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h6fb17bb26fb2fdaf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We learned a few big things along the way. First, real data is messy, and most of our time went into understanding it rather than writing code. Second, asking the expert early matters. When we assumed what ‘pp’ meant, we were partly wrong, and Professor Ahlgren’s answers fixed that. Third, check your assumptions. We found 31,605 duplicate images only because we looked closely. Fourth, we picked a free setup so the project can keep running after this class ends. And finally, this only worked because the team split it up: the script, the database, the dashboard and the labeling tool each had owners who kept checking in with each other.</a:t>
            </a:r>
            <a:endParaRPr sz="2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h6fb17bb26fb2fdaf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h6fb17bb26fb2fda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 name="Shape 8"/>
        <p:cNvGrpSpPr/>
        <p:nvPr/>
      </p:nvGrpSpPr>
      <p:grpSpPr>
        <a:xfrm>
          <a:off x="0" y="0"/>
          <a:ext cx="0" cy="0"/>
          <a:chOff x="0" y="0"/>
          <a:chExt cx="0" cy="0"/>
        </a:xfrm>
      </p:grpSpPr>
      <p:grpSp>
        <p:nvGrpSpPr>
          <p:cNvPr id="9" name="Google Shape;9;p2"/>
          <p:cNvGrpSpPr/>
          <p:nvPr/>
        </p:nvGrpSpPr>
        <p:grpSpPr>
          <a:xfrm>
            <a:off x="0" y="0"/>
            <a:ext cx="9144001" cy="5143500"/>
            <a:chOff x="0" y="0"/>
            <a:chExt cx="9144001" cy="5143500"/>
          </a:xfrm>
        </p:grpSpPr>
        <p:pic>
          <p:nvPicPr>
            <p:cNvPr id="10" name="Google Shape;10;p2"/>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1" name="Google Shape;11;p2"/>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sp>
        <p:nvSpPr>
          <p:cNvPr id="12" name="Google Shape;12;p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3" name="Google Shape;13;p2"/>
          <p:cNvSpPr txBox="1"/>
          <p:nvPr>
            <p:ph idx="1" type="body"/>
          </p:nvPr>
        </p:nvSpPr>
        <p:spPr>
          <a:xfrm>
            <a:off x="720000" y="1090229"/>
            <a:ext cx="7704000" cy="3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grpSp>
        <p:nvGrpSpPr>
          <p:cNvPr id="14" name="Google Shape;14;p2"/>
          <p:cNvGrpSpPr/>
          <p:nvPr/>
        </p:nvGrpSpPr>
        <p:grpSpPr>
          <a:xfrm rot="10800000">
            <a:off x="6704226" y="3811697"/>
            <a:ext cx="4574075" cy="3479350"/>
            <a:chOff x="1522650" y="1117750"/>
            <a:chExt cx="4574075" cy="3479350"/>
          </a:xfrm>
        </p:grpSpPr>
        <p:sp>
          <p:nvSpPr>
            <p:cNvPr id="15" name="Google Shape;15;p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 name="Shape 17"/>
        <p:cNvGrpSpPr/>
        <p:nvPr/>
      </p:nvGrpSpPr>
      <p:grpSpPr>
        <a:xfrm>
          <a:off x="0" y="0"/>
          <a:ext cx="0" cy="0"/>
          <a:chOff x="0" y="0"/>
          <a:chExt cx="0" cy="0"/>
        </a:xfrm>
      </p:grpSpPr>
      <p:sp>
        <p:nvSpPr>
          <p:cNvPr id="18" name="Google Shape;18;p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9" name="Google Shape;19;p3"/>
          <p:cNvGrpSpPr/>
          <p:nvPr/>
        </p:nvGrpSpPr>
        <p:grpSpPr>
          <a:xfrm>
            <a:off x="0" y="4"/>
            <a:ext cx="9144005" cy="5143497"/>
            <a:chOff x="0" y="4"/>
            <a:chExt cx="9144005" cy="5143497"/>
          </a:xfrm>
        </p:grpSpPr>
        <p:pic>
          <p:nvPicPr>
            <p:cNvPr id="20" name="Google Shape;20;p3"/>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21" name="Google Shape;21;p3"/>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22" name="Google Shape;22;p3"/>
          <p:cNvGrpSpPr/>
          <p:nvPr/>
        </p:nvGrpSpPr>
        <p:grpSpPr>
          <a:xfrm flipH="1" rot="-10539848">
            <a:off x="6108563" y="4049075"/>
            <a:ext cx="4573901" cy="3479217"/>
            <a:chOff x="1522650" y="1117750"/>
            <a:chExt cx="4574075" cy="3479350"/>
          </a:xfrm>
        </p:grpSpPr>
        <p:sp>
          <p:nvSpPr>
            <p:cNvPr id="23" name="Google Shape;23;p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713225" y="2205375"/>
            <a:ext cx="5257800" cy="1614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4800">
                <a:solidFill>
                  <a:srgbClr val="241160"/>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27" name="Google Shape;27;p4"/>
          <p:cNvSpPr txBox="1"/>
          <p:nvPr>
            <p:ph idx="1" type="subTitle"/>
          </p:nvPr>
        </p:nvSpPr>
        <p:spPr>
          <a:xfrm>
            <a:off x="713225" y="3885650"/>
            <a:ext cx="3690600" cy="4686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28" name="Google Shape;28;p4"/>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5"/>
          <p:cNvSpPr txBox="1"/>
          <p:nvPr>
            <p:ph type="title"/>
          </p:nvPr>
        </p:nvSpPr>
        <p:spPr>
          <a:xfrm>
            <a:off x="4047175" y="2388500"/>
            <a:ext cx="4383600" cy="162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1" name="Google Shape;31;p5"/>
          <p:cNvSpPr txBox="1"/>
          <p:nvPr>
            <p:ph idx="2" type="title"/>
          </p:nvPr>
        </p:nvSpPr>
        <p:spPr>
          <a:xfrm>
            <a:off x="4047175" y="1438750"/>
            <a:ext cx="1230300" cy="8814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pic>
        <p:nvPicPr>
          <p:cNvPr id="32" name="Google Shape;32;p5"/>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 name="Shape 33"/>
        <p:cNvGrpSpPr/>
        <p:nvPr/>
      </p:nvGrpSpPr>
      <p:grpSpPr>
        <a:xfrm>
          <a:off x="0" y="0"/>
          <a:ext cx="0" cy="0"/>
          <a:chOff x="0" y="0"/>
          <a:chExt cx="0" cy="0"/>
        </a:xfrm>
      </p:grpSpPr>
      <p:sp>
        <p:nvSpPr>
          <p:cNvPr id="34" name="Google Shape;34;p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5" name="Google Shape;35;p6"/>
          <p:cNvSpPr txBox="1"/>
          <p:nvPr>
            <p:ph idx="1" type="subTitle"/>
          </p:nvPr>
        </p:nvSpPr>
        <p:spPr>
          <a:xfrm>
            <a:off x="4911639"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6" name="Google Shape;36;p6"/>
          <p:cNvSpPr txBox="1"/>
          <p:nvPr>
            <p:ph idx="2" type="subTitle"/>
          </p:nvPr>
        </p:nvSpPr>
        <p:spPr>
          <a:xfrm>
            <a:off x="1808050"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7" name="Google Shape;37;p6"/>
          <p:cNvSpPr txBox="1"/>
          <p:nvPr>
            <p:ph idx="3" type="subTitle"/>
          </p:nvPr>
        </p:nvSpPr>
        <p:spPr>
          <a:xfrm>
            <a:off x="1808050"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8" name="Google Shape;38;p6"/>
          <p:cNvSpPr txBox="1"/>
          <p:nvPr>
            <p:ph idx="4" type="subTitle"/>
          </p:nvPr>
        </p:nvSpPr>
        <p:spPr>
          <a:xfrm>
            <a:off x="4911639"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39" name="Google Shape;39;p6"/>
          <p:cNvGrpSpPr/>
          <p:nvPr/>
        </p:nvGrpSpPr>
        <p:grpSpPr>
          <a:xfrm>
            <a:off x="0" y="4"/>
            <a:ext cx="9144005" cy="5143497"/>
            <a:chOff x="0" y="4"/>
            <a:chExt cx="9144005" cy="5143497"/>
          </a:xfrm>
        </p:grpSpPr>
        <p:pic>
          <p:nvPicPr>
            <p:cNvPr id="40" name="Google Shape;40;p6"/>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41" name="Google Shape;41;p6"/>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42" name="Google Shape;42;p6"/>
          <p:cNvGrpSpPr/>
          <p:nvPr/>
        </p:nvGrpSpPr>
        <p:grpSpPr>
          <a:xfrm flipH="1" rot="-10539848">
            <a:off x="6108563" y="4049075"/>
            <a:ext cx="4573901" cy="3479217"/>
            <a:chOff x="1522650" y="1117750"/>
            <a:chExt cx="4574075" cy="3479350"/>
          </a:xfrm>
        </p:grpSpPr>
        <p:sp>
          <p:nvSpPr>
            <p:cNvPr id="43" name="Google Shape;43;p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5" name="Shape 45"/>
        <p:cNvGrpSpPr/>
        <p:nvPr/>
      </p:nvGrpSpPr>
      <p:grpSpPr>
        <a:xfrm>
          <a:off x="0" y="0"/>
          <a:ext cx="0" cy="0"/>
          <a:chOff x="0" y="0"/>
          <a:chExt cx="0" cy="0"/>
        </a:xfrm>
      </p:grpSpPr>
      <p:sp>
        <p:nvSpPr>
          <p:cNvPr id="46" name="Google Shape;46;p7"/>
          <p:cNvSpPr txBox="1"/>
          <p:nvPr>
            <p:ph type="title"/>
          </p:nvPr>
        </p:nvSpPr>
        <p:spPr>
          <a:xfrm>
            <a:off x="811975" y="829350"/>
            <a:ext cx="3993300" cy="98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7" name="Google Shape;47;p7"/>
          <p:cNvSpPr txBox="1"/>
          <p:nvPr>
            <p:ph idx="1" type="subTitle"/>
          </p:nvPr>
        </p:nvSpPr>
        <p:spPr>
          <a:xfrm>
            <a:off x="811975" y="1878550"/>
            <a:ext cx="3993300" cy="229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48" name="Google Shape;48;p7"/>
          <p:cNvSpPr/>
          <p:nvPr>
            <p:ph idx="2" type="pic"/>
          </p:nvPr>
        </p:nvSpPr>
        <p:spPr>
          <a:xfrm>
            <a:off x="5088475" y="770400"/>
            <a:ext cx="3081600" cy="3602700"/>
          </a:xfrm>
          <a:prstGeom prst="roundRect">
            <a:avLst>
              <a:gd fmla="val 16667" name="adj"/>
            </a:avLst>
          </a:prstGeom>
          <a:noFill/>
          <a:ln>
            <a:noFill/>
          </a:ln>
        </p:spPr>
      </p:sp>
      <p:grpSp>
        <p:nvGrpSpPr>
          <p:cNvPr id="49" name="Google Shape;49;p7"/>
          <p:cNvGrpSpPr/>
          <p:nvPr/>
        </p:nvGrpSpPr>
        <p:grpSpPr>
          <a:xfrm>
            <a:off x="0" y="0"/>
            <a:ext cx="9144001" cy="5143500"/>
            <a:chOff x="0" y="0"/>
            <a:chExt cx="9144001" cy="5143500"/>
          </a:xfrm>
        </p:grpSpPr>
        <p:pic>
          <p:nvPicPr>
            <p:cNvPr id="50" name="Google Shape;50;p7"/>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51" name="Google Shape;51;p7"/>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52" name="Google Shape;52;p7"/>
          <p:cNvGrpSpPr/>
          <p:nvPr/>
        </p:nvGrpSpPr>
        <p:grpSpPr>
          <a:xfrm rot="10800000">
            <a:off x="6704226" y="3811697"/>
            <a:ext cx="4574075" cy="3479350"/>
            <a:chOff x="1522650" y="1117750"/>
            <a:chExt cx="4574075" cy="3479350"/>
          </a:xfrm>
        </p:grpSpPr>
        <p:sp>
          <p:nvSpPr>
            <p:cNvPr id="53" name="Google Shape;53;p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 name="Shape 55"/>
        <p:cNvGrpSpPr/>
        <p:nvPr/>
      </p:nvGrpSpPr>
      <p:grpSpPr>
        <a:xfrm>
          <a:off x="0" y="0"/>
          <a:ext cx="0" cy="0"/>
          <a:chOff x="0" y="0"/>
          <a:chExt cx="0" cy="0"/>
        </a:xfrm>
      </p:grpSpPr>
      <p:grpSp>
        <p:nvGrpSpPr>
          <p:cNvPr id="56" name="Google Shape;56;p8"/>
          <p:cNvGrpSpPr/>
          <p:nvPr/>
        </p:nvGrpSpPr>
        <p:grpSpPr>
          <a:xfrm>
            <a:off x="10" y="0"/>
            <a:ext cx="9143991" cy="5143500"/>
            <a:chOff x="10" y="0"/>
            <a:chExt cx="9143991" cy="5143500"/>
          </a:xfrm>
        </p:grpSpPr>
        <p:pic>
          <p:nvPicPr>
            <p:cNvPr id="57" name="Google Shape;57;p8"/>
            <p:cNvPicPr preferRelativeResize="0"/>
            <p:nvPr/>
          </p:nvPicPr>
          <p:blipFill rotWithShape="1">
            <a:blip r:embed="rId2">
              <a:alphaModFix/>
            </a:blip>
            <a:srcRect b="0" l="0" r="0" t="0"/>
            <a:stretch/>
          </p:blipFill>
          <p:spPr>
            <a:xfrm flipH="1">
              <a:off x="10" y="0"/>
              <a:ext cx="3405191" cy="5143500"/>
            </a:xfrm>
            <a:prstGeom prst="rect">
              <a:avLst/>
            </a:prstGeom>
            <a:noFill/>
            <a:ln>
              <a:noFill/>
            </a:ln>
          </p:spPr>
        </p:pic>
        <p:pic>
          <p:nvPicPr>
            <p:cNvPr id="58" name="Google Shape;58;p8"/>
            <p:cNvPicPr preferRelativeResize="0"/>
            <p:nvPr/>
          </p:nvPicPr>
          <p:blipFill rotWithShape="1">
            <a:blip r:embed="rId3">
              <a:alphaModFix/>
            </a:blip>
            <a:srcRect b="0" l="0" r="0" t="0"/>
            <a:stretch/>
          </p:blipFill>
          <p:spPr>
            <a:xfrm flipH="1">
              <a:off x="4416200" y="2886625"/>
              <a:ext cx="4727801" cy="2256875"/>
            </a:xfrm>
            <a:prstGeom prst="rect">
              <a:avLst/>
            </a:prstGeom>
            <a:noFill/>
            <a:ln>
              <a:noFill/>
            </a:ln>
          </p:spPr>
        </p:pic>
      </p:grpSp>
      <p:grpSp>
        <p:nvGrpSpPr>
          <p:cNvPr id="59" name="Google Shape;59;p8"/>
          <p:cNvGrpSpPr/>
          <p:nvPr/>
        </p:nvGrpSpPr>
        <p:grpSpPr>
          <a:xfrm rot="756538">
            <a:off x="5159567" y="-1927047"/>
            <a:ext cx="4574157" cy="3479412"/>
            <a:chOff x="1522650" y="1117750"/>
            <a:chExt cx="4574075" cy="3479350"/>
          </a:xfrm>
        </p:grpSpPr>
        <p:sp>
          <p:nvSpPr>
            <p:cNvPr id="60" name="Google Shape;60;p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2" name="Google Shape;62;p8"/>
          <p:cNvSpPr txBox="1"/>
          <p:nvPr>
            <p:ph type="title"/>
          </p:nvPr>
        </p:nvSpPr>
        <p:spPr>
          <a:xfrm>
            <a:off x="3830000" y="1716400"/>
            <a:ext cx="4508100" cy="25293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grpSp>
        <p:nvGrpSpPr>
          <p:cNvPr id="64" name="Google Shape;64;p9"/>
          <p:cNvGrpSpPr/>
          <p:nvPr/>
        </p:nvGrpSpPr>
        <p:grpSpPr>
          <a:xfrm rot="756538">
            <a:off x="-714808" y="-2409347"/>
            <a:ext cx="4574157" cy="3479412"/>
            <a:chOff x="1522650" y="1117750"/>
            <a:chExt cx="4574075" cy="3479350"/>
          </a:xfrm>
        </p:grpSpPr>
        <p:sp>
          <p:nvSpPr>
            <p:cNvPr id="65" name="Google Shape;65;p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 name="Google Shape;67;p9"/>
          <p:cNvGrpSpPr/>
          <p:nvPr/>
        </p:nvGrpSpPr>
        <p:grpSpPr>
          <a:xfrm>
            <a:off x="0" y="0"/>
            <a:ext cx="9144001" cy="5143500"/>
            <a:chOff x="0" y="0"/>
            <a:chExt cx="9144001" cy="5143500"/>
          </a:xfrm>
        </p:grpSpPr>
        <p:pic>
          <p:nvPicPr>
            <p:cNvPr id="68" name="Google Shape;68;p9"/>
            <p:cNvPicPr preferRelativeResize="0"/>
            <p:nvPr/>
          </p:nvPicPr>
          <p:blipFill rotWithShape="1">
            <a:blip r:embed="rId2">
              <a:alphaModFix/>
            </a:blip>
            <a:srcRect b="0" l="0" r="0" t="0"/>
            <a:stretch/>
          </p:blipFill>
          <p:spPr>
            <a:xfrm flipH="1" rot="10800000">
              <a:off x="5738810" y="0"/>
              <a:ext cx="3405191" cy="5143500"/>
            </a:xfrm>
            <a:prstGeom prst="rect">
              <a:avLst/>
            </a:prstGeom>
            <a:noFill/>
            <a:ln>
              <a:noFill/>
            </a:ln>
          </p:spPr>
        </p:pic>
        <p:pic>
          <p:nvPicPr>
            <p:cNvPr id="69" name="Google Shape;69;p9"/>
            <p:cNvPicPr preferRelativeResize="0"/>
            <p:nvPr/>
          </p:nvPicPr>
          <p:blipFill rotWithShape="1">
            <a:blip r:embed="rId3">
              <a:alphaModFix/>
            </a:blip>
            <a:srcRect b="0" l="0" r="0" t="0"/>
            <a:stretch/>
          </p:blipFill>
          <p:spPr>
            <a:xfrm flipH="1" rot="10800000">
              <a:off x="0" y="0"/>
              <a:ext cx="4727801" cy="2256875"/>
            </a:xfrm>
            <a:prstGeom prst="rect">
              <a:avLst/>
            </a:prstGeom>
            <a:noFill/>
            <a:ln>
              <a:noFill/>
            </a:ln>
          </p:spPr>
        </p:pic>
      </p:grpSp>
      <p:sp>
        <p:nvSpPr>
          <p:cNvPr id="70" name="Google Shape;70;p9"/>
          <p:cNvSpPr txBox="1"/>
          <p:nvPr>
            <p:ph type="title"/>
          </p:nvPr>
        </p:nvSpPr>
        <p:spPr>
          <a:xfrm>
            <a:off x="713225" y="1528900"/>
            <a:ext cx="4872900" cy="196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000"/>
              <a:buNone/>
              <a:defRPr sz="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71" name="Google Shape;71;p9"/>
          <p:cNvSpPr txBox="1"/>
          <p:nvPr>
            <p:ph idx="1" type="subTitle"/>
          </p:nvPr>
        </p:nvSpPr>
        <p:spPr>
          <a:xfrm>
            <a:off x="713225" y="3640050"/>
            <a:ext cx="4872900" cy="45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2" name="Shape 72"/>
        <p:cNvGrpSpPr/>
        <p:nvPr/>
      </p:nvGrpSpPr>
      <p:grpSpPr>
        <a:xfrm>
          <a:off x="0" y="0"/>
          <a:ext cx="0" cy="0"/>
          <a:chOff x="0" y="0"/>
          <a:chExt cx="0" cy="0"/>
        </a:xfrm>
      </p:grpSpPr>
      <p:sp>
        <p:nvSpPr>
          <p:cNvPr id="73" name="Google Shape;73;p10"/>
          <p:cNvSpPr/>
          <p:nvPr>
            <p:ph idx="2" type="pic"/>
          </p:nvPr>
        </p:nvSpPr>
        <p:spPr>
          <a:xfrm>
            <a:off x="0" y="0"/>
            <a:ext cx="9144000" cy="5143500"/>
          </a:xfrm>
          <a:prstGeom prst="rect">
            <a:avLst/>
          </a:prstGeom>
          <a:noFill/>
          <a:ln>
            <a:noFill/>
          </a:ln>
        </p:spPr>
      </p:sp>
      <p:sp>
        <p:nvSpPr>
          <p:cNvPr id="74" name="Google Shape;74;p10"/>
          <p:cNvSpPr txBox="1"/>
          <p:nvPr>
            <p:ph type="title"/>
          </p:nvPr>
        </p:nvSpPr>
        <p:spPr>
          <a:xfrm>
            <a:off x="720000" y="4014450"/>
            <a:ext cx="5713200" cy="5727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75" name="Google Shape;75;p10"/>
          <p:cNvGrpSpPr/>
          <p:nvPr/>
        </p:nvGrpSpPr>
        <p:grpSpPr>
          <a:xfrm>
            <a:off x="0" y="4"/>
            <a:ext cx="9144005" cy="5143497"/>
            <a:chOff x="0" y="4"/>
            <a:chExt cx="9144005" cy="5143497"/>
          </a:xfrm>
        </p:grpSpPr>
        <p:pic>
          <p:nvPicPr>
            <p:cNvPr id="76" name="Google Shape;76;p10"/>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77" name="Google Shape;77;p10"/>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78" name="Google Shape;78;p10"/>
          <p:cNvGrpSpPr/>
          <p:nvPr/>
        </p:nvGrpSpPr>
        <p:grpSpPr>
          <a:xfrm>
            <a:off x="-896231" y="-2525369"/>
            <a:ext cx="11703669" cy="10221582"/>
            <a:chOff x="-896231" y="-2525369"/>
            <a:chExt cx="11703669" cy="10221582"/>
          </a:xfrm>
        </p:grpSpPr>
        <p:grpSp>
          <p:nvGrpSpPr>
            <p:cNvPr id="79" name="Google Shape;79;p10"/>
            <p:cNvGrpSpPr/>
            <p:nvPr/>
          </p:nvGrpSpPr>
          <p:grpSpPr>
            <a:xfrm flipH="1" rot="-10539848">
              <a:off x="6108563" y="4049075"/>
              <a:ext cx="4573901" cy="3479217"/>
              <a:chOff x="1522650" y="1117750"/>
              <a:chExt cx="4574075" cy="3479350"/>
            </a:xfrm>
          </p:grpSpPr>
          <p:sp>
            <p:nvSpPr>
              <p:cNvPr id="80" name="Google Shape;80;p1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 name="Google Shape;82;p10"/>
            <p:cNvGrpSpPr/>
            <p:nvPr/>
          </p:nvGrpSpPr>
          <p:grpSpPr>
            <a:xfrm>
              <a:off x="-896231" y="-2525369"/>
              <a:ext cx="4573618" cy="3479002"/>
              <a:chOff x="1522650" y="1117750"/>
              <a:chExt cx="4574075" cy="3479350"/>
            </a:xfrm>
          </p:grpSpPr>
          <p:sp>
            <p:nvSpPr>
              <p:cNvPr id="83" name="Google Shape;83;p1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5" name="Shape 85"/>
        <p:cNvGrpSpPr/>
        <p:nvPr/>
      </p:nvGrpSpPr>
      <p:grpSpPr>
        <a:xfrm>
          <a:off x="0" y="0"/>
          <a:ext cx="0" cy="0"/>
          <a:chOff x="0" y="0"/>
          <a:chExt cx="0" cy="0"/>
        </a:xfrm>
      </p:grpSpPr>
      <p:sp>
        <p:nvSpPr>
          <p:cNvPr id="86" name="Google Shape;86;p11"/>
          <p:cNvSpPr txBox="1"/>
          <p:nvPr>
            <p:ph hasCustomPrompt="1" type="title"/>
          </p:nvPr>
        </p:nvSpPr>
        <p:spPr>
          <a:xfrm>
            <a:off x="4076350" y="2296400"/>
            <a:ext cx="3843300" cy="10851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87" name="Google Shape;87;p11"/>
          <p:cNvSpPr txBox="1"/>
          <p:nvPr>
            <p:ph idx="1" type="subTitle"/>
          </p:nvPr>
        </p:nvSpPr>
        <p:spPr>
          <a:xfrm>
            <a:off x="4076350" y="3426700"/>
            <a:ext cx="38433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88" name="Google Shape;88;p11"/>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9" name="Shape 8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0" name="Shape 90"/>
        <p:cNvGrpSpPr/>
        <p:nvPr/>
      </p:nvGrpSpPr>
      <p:grpSpPr>
        <a:xfrm>
          <a:off x="0" y="0"/>
          <a:ext cx="0" cy="0"/>
          <a:chOff x="0" y="0"/>
          <a:chExt cx="0" cy="0"/>
        </a:xfrm>
      </p:grpSpPr>
      <p:sp>
        <p:nvSpPr>
          <p:cNvPr id="91" name="Google Shape;91;p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2" name="Google Shape;92;p13"/>
          <p:cNvSpPr txBox="1"/>
          <p:nvPr>
            <p:ph idx="2" type="title"/>
          </p:nvPr>
        </p:nvSpPr>
        <p:spPr>
          <a:xfrm>
            <a:off x="720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3" name="Google Shape;93;p13"/>
          <p:cNvSpPr txBox="1"/>
          <p:nvPr>
            <p:ph idx="3" type="title"/>
          </p:nvPr>
        </p:nvSpPr>
        <p:spPr>
          <a:xfrm>
            <a:off x="720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4" name="Google Shape;94;p13"/>
          <p:cNvSpPr txBox="1"/>
          <p:nvPr>
            <p:ph idx="4" type="title"/>
          </p:nvPr>
        </p:nvSpPr>
        <p:spPr>
          <a:xfrm>
            <a:off x="3306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5" name="Google Shape;95;p13"/>
          <p:cNvSpPr txBox="1"/>
          <p:nvPr>
            <p:ph idx="5" type="title"/>
          </p:nvPr>
        </p:nvSpPr>
        <p:spPr>
          <a:xfrm>
            <a:off x="3306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6" name="Google Shape;96;p13"/>
          <p:cNvSpPr txBox="1"/>
          <p:nvPr>
            <p:ph idx="6" type="title"/>
          </p:nvPr>
        </p:nvSpPr>
        <p:spPr>
          <a:xfrm>
            <a:off x="5892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7" name="Google Shape;97;p13"/>
          <p:cNvSpPr txBox="1"/>
          <p:nvPr>
            <p:ph idx="7" type="title"/>
          </p:nvPr>
        </p:nvSpPr>
        <p:spPr>
          <a:xfrm>
            <a:off x="5892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8" name="Google Shape;98;p13"/>
          <p:cNvSpPr txBox="1"/>
          <p:nvPr>
            <p:ph idx="1" type="subTitle"/>
          </p:nvPr>
        </p:nvSpPr>
        <p:spPr>
          <a:xfrm>
            <a:off x="720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9" name="Google Shape;99;p13"/>
          <p:cNvSpPr txBox="1"/>
          <p:nvPr>
            <p:ph idx="8" type="subTitle"/>
          </p:nvPr>
        </p:nvSpPr>
        <p:spPr>
          <a:xfrm>
            <a:off x="3306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0" name="Google Shape;100;p13"/>
          <p:cNvSpPr txBox="1"/>
          <p:nvPr>
            <p:ph idx="9" type="subTitle"/>
          </p:nvPr>
        </p:nvSpPr>
        <p:spPr>
          <a:xfrm>
            <a:off x="5892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1" name="Google Shape;101;p13"/>
          <p:cNvSpPr txBox="1"/>
          <p:nvPr>
            <p:ph idx="13" type="subTitle"/>
          </p:nvPr>
        </p:nvSpPr>
        <p:spPr>
          <a:xfrm>
            <a:off x="720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2" name="Google Shape;102;p13"/>
          <p:cNvSpPr txBox="1"/>
          <p:nvPr>
            <p:ph idx="14" type="subTitle"/>
          </p:nvPr>
        </p:nvSpPr>
        <p:spPr>
          <a:xfrm>
            <a:off x="3306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3" name="Google Shape;103;p13"/>
          <p:cNvSpPr txBox="1"/>
          <p:nvPr>
            <p:ph idx="15" type="subTitle"/>
          </p:nvPr>
        </p:nvSpPr>
        <p:spPr>
          <a:xfrm>
            <a:off x="5892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04" name="Google Shape;104;p13"/>
          <p:cNvGrpSpPr/>
          <p:nvPr/>
        </p:nvGrpSpPr>
        <p:grpSpPr>
          <a:xfrm>
            <a:off x="0" y="4"/>
            <a:ext cx="9144005" cy="5143497"/>
            <a:chOff x="0" y="4"/>
            <a:chExt cx="9144005" cy="5143497"/>
          </a:xfrm>
        </p:grpSpPr>
        <p:pic>
          <p:nvPicPr>
            <p:cNvPr id="105" name="Google Shape;105;p13"/>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06" name="Google Shape;106;p13"/>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07" name="Google Shape;107;p13"/>
          <p:cNvGrpSpPr/>
          <p:nvPr/>
        </p:nvGrpSpPr>
        <p:grpSpPr>
          <a:xfrm flipH="1" rot="-10539848">
            <a:off x="6108563" y="4049075"/>
            <a:ext cx="4573901" cy="3479217"/>
            <a:chOff x="1522650" y="1117750"/>
            <a:chExt cx="4574075" cy="3479350"/>
          </a:xfrm>
        </p:grpSpPr>
        <p:sp>
          <p:nvSpPr>
            <p:cNvPr id="108" name="Google Shape;108;p1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10" name="Shape 110"/>
        <p:cNvGrpSpPr/>
        <p:nvPr/>
      </p:nvGrpSpPr>
      <p:grpSpPr>
        <a:xfrm>
          <a:off x="0" y="0"/>
          <a:ext cx="0" cy="0"/>
          <a:chOff x="0" y="0"/>
          <a:chExt cx="0" cy="0"/>
        </a:xfrm>
      </p:grpSpPr>
      <p:grpSp>
        <p:nvGrpSpPr>
          <p:cNvPr id="111" name="Google Shape;111;p14"/>
          <p:cNvGrpSpPr/>
          <p:nvPr/>
        </p:nvGrpSpPr>
        <p:grpSpPr>
          <a:xfrm>
            <a:off x="0" y="0"/>
            <a:ext cx="9144001" cy="5143500"/>
            <a:chOff x="0" y="0"/>
            <a:chExt cx="9144001" cy="5143500"/>
          </a:xfrm>
        </p:grpSpPr>
        <p:pic>
          <p:nvPicPr>
            <p:cNvPr id="112" name="Google Shape;112;p14"/>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13" name="Google Shape;113;p14"/>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14" name="Google Shape;114;p14"/>
          <p:cNvGrpSpPr/>
          <p:nvPr/>
        </p:nvGrpSpPr>
        <p:grpSpPr>
          <a:xfrm rot="10800000">
            <a:off x="6704226" y="3811697"/>
            <a:ext cx="4574075" cy="3479350"/>
            <a:chOff x="1522650" y="1117750"/>
            <a:chExt cx="4574075" cy="3479350"/>
          </a:xfrm>
        </p:grpSpPr>
        <p:sp>
          <p:nvSpPr>
            <p:cNvPr id="115" name="Google Shape;115;p1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7" name="Google Shape;117;p1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18" name="Shape 118"/>
        <p:cNvGrpSpPr/>
        <p:nvPr/>
      </p:nvGrpSpPr>
      <p:grpSpPr>
        <a:xfrm>
          <a:off x="0" y="0"/>
          <a:ext cx="0" cy="0"/>
          <a:chOff x="0" y="0"/>
          <a:chExt cx="0" cy="0"/>
        </a:xfrm>
      </p:grpSpPr>
      <p:grpSp>
        <p:nvGrpSpPr>
          <p:cNvPr id="119" name="Google Shape;119;p15"/>
          <p:cNvGrpSpPr/>
          <p:nvPr/>
        </p:nvGrpSpPr>
        <p:grpSpPr>
          <a:xfrm>
            <a:off x="0" y="4"/>
            <a:ext cx="9144005" cy="5143497"/>
            <a:chOff x="0" y="4"/>
            <a:chExt cx="9144005" cy="5143497"/>
          </a:xfrm>
        </p:grpSpPr>
        <p:pic>
          <p:nvPicPr>
            <p:cNvPr id="120" name="Google Shape;120;p15"/>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21" name="Google Shape;121;p15"/>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22" name="Google Shape;122;p15"/>
          <p:cNvGrpSpPr/>
          <p:nvPr/>
        </p:nvGrpSpPr>
        <p:grpSpPr>
          <a:xfrm flipH="1" rot="-10539848">
            <a:off x="6108563" y="4049075"/>
            <a:ext cx="4573901" cy="3479217"/>
            <a:chOff x="1522650" y="1117750"/>
            <a:chExt cx="4574075" cy="3479350"/>
          </a:xfrm>
        </p:grpSpPr>
        <p:sp>
          <p:nvSpPr>
            <p:cNvPr id="123" name="Google Shape;123;p1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5" name="Google Shape;125;p15"/>
          <p:cNvSpPr txBox="1"/>
          <p:nvPr>
            <p:ph type="title"/>
          </p:nvPr>
        </p:nvSpPr>
        <p:spPr>
          <a:xfrm>
            <a:off x="3889175" y="1000050"/>
            <a:ext cx="3205500" cy="105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6" name="Google Shape;126;p15"/>
          <p:cNvSpPr txBox="1"/>
          <p:nvPr>
            <p:ph idx="1" type="subTitle"/>
          </p:nvPr>
        </p:nvSpPr>
        <p:spPr>
          <a:xfrm>
            <a:off x="3889175" y="2131950"/>
            <a:ext cx="4185300" cy="201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AutoNum type="arabicPeriod"/>
              <a:defRPr/>
            </a:lvl1pPr>
            <a:lvl2pPr lvl="1" algn="ctr">
              <a:lnSpc>
                <a:spcPct val="100000"/>
              </a:lnSpc>
              <a:spcBef>
                <a:spcPts val="0"/>
              </a:spcBef>
              <a:spcAft>
                <a:spcPts val="0"/>
              </a:spcAft>
              <a:buSzPts val="1200"/>
              <a:buAutoNum type="alphaLcPeriod"/>
              <a:defRPr/>
            </a:lvl2pPr>
            <a:lvl3pPr lvl="2" algn="ctr">
              <a:lnSpc>
                <a:spcPct val="100000"/>
              </a:lnSpc>
              <a:spcBef>
                <a:spcPts val="0"/>
              </a:spcBef>
              <a:spcAft>
                <a:spcPts val="0"/>
              </a:spcAft>
              <a:buSzPts val="1200"/>
              <a:buAutoNum type="romanLcPeriod"/>
              <a:defRPr/>
            </a:lvl3pPr>
            <a:lvl4pPr lvl="3" algn="ctr">
              <a:lnSpc>
                <a:spcPct val="100000"/>
              </a:lnSpc>
              <a:spcBef>
                <a:spcPts val="0"/>
              </a:spcBef>
              <a:spcAft>
                <a:spcPts val="0"/>
              </a:spcAft>
              <a:buSzPts val="1200"/>
              <a:buAutoNum type="arabicPeriod"/>
              <a:defRPr/>
            </a:lvl4pPr>
            <a:lvl5pPr lvl="4" algn="ctr">
              <a:lnSpc>
                <a:spcPct val="100000"/>
              </a:lnSpc>
              <a:spcBef>
                <a:spcPts val="0"/>
              </a:spcBef>
              <a:spcAft>
                <a:spcPts val="0"/>
              </a:spcAft>
              <a:buSzPts val="1200"/>
              <a:buAutoNum type="alphaLcPeriod"/>
              <a:defRPr/>
            </a:lvl5pPr>
            <a:lvl6pPr lvl="5" algn="ctr">
              <a:lnSpc>
                <a:spcPct val="100000"/>
              </a:lnSpc>
              <a:spcBef>
                <a:spcPts val="0"/>
              </a:spcBef>
              <a:spcAft>
                <a:spcPts val="0"/>
              </a:spcAft>
              <a:buSzPts val="1200"/>
              <a:buAutoNum type="romanLcPeriod"/>
              <a:defRPr/>
            </a:lvl6pPr>
            <a:lvl7pPr lvl="6" algn="ctr">
              <a:lnSpc>
                <a:spcPct val="100000"/>
              </a:lnSpc>
              <a:spcBef>
                <a:spcPts val="0"/>
              </a:spcBef>
              <a:spcAft>
                <a:spcPts val="0"/>
              </a:spcAft>
              <a:buSzPts val="1200"/>
              <a:buAutoNum type="arabicPeriod"/>
              <a:defRPr/>
            </a:lvl7pPr>
            <a:lvl8pPr lvl="7" algn="ctr">
              <a:lnSpc>
                <a:spcPct val="100000"/>
              </a:lnSpc>
              <a:spcBef>
                <a:spcPts val="0"/>
              </a:spcBef>
              <a:spcAft>
                <a:spcPts val="0"/>
              </a:spcAft>
              <a:buSzPts val="1200"/>
              <a:buAutoNum type="alphaLcPeriod"/>
              <a:defRPr/>
            </a:lvl8pPr>
            <a:lvl9pPr lvl="8"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127" name="Shape 127"/>
        <p:cNvGrpSpPr/>
        <p:nvPr/>
      </p:nvGrpSpPr>
      <p:grpSpPr>
        <a:xfrm>
          <a:off x="0" y="0"/>
          <a:ext cx="0" cy="0"/>
          <a:chOff x="0" y="0"/>
          <a:chExt cx="0" cy="0"/>
        </a:xfrm>
      </p:grpSpPr>
      <p:grpSp>
        <p:nvGrpSpPr>
          <p:cNvPr id="128" name="Google Shape;128;p16"/>
          <p:cNvGrpSpPr/>
          <p:nvPr/>
        </p:nvGrpSpPr>
        <p:grpSpPr>
          <a:xfrm>
            <a:off x="0" y="0"/>
            <a:ext cx="9144001" cy="5143500"/>
            <a:chOff x="0" y="0"/>
            <a:chExt cx="9144001" cy="5143500"/>
          </a:xfrm>
        </p:grpSpPr>
        <p:pic>
          <p:nvPicPr>
            <p:cNvPr id="129" name="Google Shape;129;p16"/>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30" name="Google Shape;130;p16"/>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31" name="Google Shape;131;p16"/>
          <p:cNvGrpSpPr/>
          <p:nvPr/>
        </p:nvGrpSpPr>
        <p:grpSpPr>
          <a:xfrm rot="10800000">
            <a:off x="6704226" y="3811697"/>
            <a:ext cx="4574075" cy="3479350"/>
            <a:chOff x="1522650" y="1117750"/>
            <a:chExt cx="4574075" cy="3479350"/>
          </a:xfrm>
        </p:grpSpPr>
        <p:sp>
          <p:nvSpPr>
            <p:cNvPr id="132" name="Google Shape;132;p1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4" name="Google Shape;134;p16"/>
          <p:cNvSpPr txBox="1"/>
          <p:nvPr>
            <p:ph type="title"/>
          </p:nvPr>
        </p:nvSpPr>
        <p:spPr>
          <a:xfrm>
            <a:off x="713225" y="707075"/>
            <a:ext cx="2345400" cy="97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35" name="Google Shape;135;p16"/>
          <p:cNvSpPr txBox="1"/>
          <p:nvPr>
            <p:ph idx="1" type="subTitle"/>
          </p:nvPr>
        </p:nvSpPr>
        <p:spPr>
          <a:xfrm>
            <a:off x="713225" y="1606775"/>
            <a:ext cx="2345400" cy="112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36" name="Google Shape;136;p16"/>
          <p:cNvSpPr/>
          <p:nvPr>
            <p:ph idx="2" type="pic"/>
          </p:nvPr>
        </p:nvSpPr>
        <p:spPr>
          <a:xfrm>
            <a:off x="5588500" y="539500"/>
            <a:ext cx="2801100" cy="4064700"/>
          </a:xfrm>
          <a:prstGeom prst="roundRect">
            <a:avLst>
              <a:gd fmla="val 16667" name="adj"/>
            </a:avLst>
          </a:prstGeom>
          <a:noFill/>
          <a:ln>
            <a:noFill/>
          </a:ln>
        </p:spPr>
      </p:sp>
      <p:sp>
        <p:nvSpPr>
          <p:cNvPr id="137" name="Google Shape;137;p16"/>
          <p:cNvSpPr/>
          <p:nvPr>
            <p:ph idx="3" type="pic"/>
          </p:nvPr>
        </p:nvSpPr>
        <p:spPr>
          <a:xfrm>
            <a:off x="3171450" y="539500"/>
            <a:ext cx="2304300" cy="2285700"/>
          </a:xfrm>
          <a:prstGeom prst="roundRect">
            <a:avLst>
              <a:gd fmla="val 16667" name="adj"/>
            </a:avLst>
          </a:prstGeom>
          <a:noFill/>
          <a:ln>
            <a:noFill/>
          </a:ln>
        </p:spPr>
      </p:sp>
      <p:sp>
        <p:nvSpPr>
          <p:cNvPr id="138" name="Google Shape;138;p16"/>
          <p:cNvSpPr/>
          <p:nvPr>
            <p:ph idx="4" type="pic"/>
          </p:nvPr>
        </p:nvSpPr>
        <p:spPr>
          <a:xfrm>
            <a:off x="3171450" y="2953775"/>
            <a:ext cx="2304300" cy="1650300"/>
          </a:xfrm>
          <a:prstGeom prst="roundRect">
            <a:avLst>
              <a:gd fmla="val 16667" name="adj"/>
            </a:avLst>
          </a:prstGeom>
          <a:noFill/>
          <a:ln>
            <a:noFill/>
          </a:ln>
        </p:spPr>
      </p:sp>
      <p:sp>
        <p:nvSpPr>
          <p:cNvPr id="139" name="Google Shape;139;p16"/>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140" name="Shape 140"/>
        <p:cNvGrpSpPr/>
        <p:nvPr/>
      </p:nvGrpSpPr>
      <p:grpSpPr>
        <a:xfrm>
          <a:off x="0" y="0"/>
          <a:ext cx="0" cy="0"/>
          <a:chOff x="0" y="0"/>
          <a:chExt cx="0" cy="0"/>
        </a:xfrm>
      </p:grpSpPr>
      <p:grpSp>
        <p:nvGrpSpPr>
          <p:cNvPr id="141" name="Google Shape;141;p17"/>
          <p:cNvGrpSpPr/>
          <p:nvPr/>
        </p:nvGrpSpPr>
        <p:grpSpPr>
          <a:xfrm>
            <a:off x="0" y="4"/>
            <a:ext cx="9144005" cy="5143497"/>
            <a:chOff x="0" y="4"/>
            <a:chExt cx="9144005" cy="5143497"/>
          </a:xfrm>
        </p:grpSpPr>
        <p:pic>
          <p:nvPicPr>
            <p:cNvPr id="142" name="Google Shape;142;p17"/>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43" name="Google Shape;143;p17"/>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44" name="Google Shape;144;p17"/>
          <p:cNvGrpSpPr/>
          <p:nvPr/>
        </p:nvGrpSpPr>
        <p:grpSpPr>
          <a:xfrm flipH="1" rot="-10539848">
            <a:off x="6108563" y="4049075"/>
            <a:ext cx="4573901" cy="3479217"/>
            <a:chOff x="1522650" y="1117750"/>
            <a:chExt cx="4574075" cy="3479350"/>
          </a:xfrm>
        </p:grpSpPr>
        <p:sp>
          <p:nvSpPr>
            <p:cNvPr id="145" name="Google Shape;145;p1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7" name="Google Shape;147;p1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48" name="Google Shape;148;p17"/>
          <p:cNvSpPr txBox="1"/>
          <p:nvPr>
            <p:ph idx="1" type="subTitle"/>
          </p:nvPr>
        </p:nvSpPr>
        <p:spPr>
          <a:xfrm>
            <a:off x="719975" y="1164450"/>
            <a:ext cx="3748800" cy="118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149" name="Shape 149"/>
        <p:cNvGrpSpPr/>
        <p:nvPr/>
      </p:nvGrpSpPr>
      <p:grpSpPr>
        <a:xfrm>
          <a:off x="0" y="0"/>
          <a:ext cx="0" cy="0"/>
          <a:chOff x="0" y="0"/>
          <a:chExt cx="0" cy="0"/>
        </a:xfrm>
      </p:grpSpPr>
      <p:grpSp>
        <p:nvGrpSpPr>
          <p:cNvPr id="150" name="Google Shape;150;p18"/>
          <p:cNvGrpSpPr/>
          <p:nvPr/>
        </p:nvGrpSpPr>
        <p:grpSpPr>
          <a:xfrm>
            <a:off x="0" y="0"/>
            <a:ext cx="9144001" cy="5143500"/>
            <a:chOff x="0" y="0"/>
            <a:chExt cx="9144001" cy="5143500"/>
          </a:xfrm>
        </p:grpSpPr>
        <p:pic>
          <p:nvPicPr>
            <p:cNvPr id="151" name="Google Shape;151;p18"/>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52" name="Google Shape;152;p18"/>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53" name="Google Shape;153;p18"/>
          <p:cNvGrpSpPr/>
          <p:nvPr/>
        </p:nvGrpSpPr>
        <p:grpSpPr>
          <a:xfrm rot="10800000">
            <a:off x="6704226" y="3811697"/>
            <a:ext cx="4574075" cy="3479350"/>
            <a:chOff x="1522650" y="1117750"/>
            <a:chExt cx="4574075" cy="3479350"/>
          </a:xfrm>
        </p:grpSpPr>
        <p:sp>
          <p:nvSpPr>
            <p:cNvPr id="154" name="Google Shape;154;p1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6" name="Google Shape;156;p18"/>
          <p:cNvSpPr txBox="1"/>
          <p:nvPr>
            <p:ph idx="1" type="subTitle"/>
          </p:nvPr>
        </p:nvSpPr>
        <p:spPr>
          <a:xfrm>
            <a:off x="719975" y="1393800"/>
            <a:ext cx="5015400" cy="220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
        <p:nvSpPr>
          <p:cNvPr id="157" name="Google Shape;157;p1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8" name="Shape 158"/>
        <p:cNvGrpSpPr/>
        <p:nvPr/>
      </p:nvGrpSpPr>
      <p:grpSpPr>
        <a:xfrm>
          <a:off x="0" y="0"/>
          <a:ext cx="0" cy="0"/>
          <a:chOff x="0" y="0"/>
          <a:chExt cx="0" cy="0"/>
        </a:xfrm>
      </p:grpSpPr>
      <p:grpSp>
        <p:nvGrpSpPr>
          <p:cNvPr id="159" name="Google Shape;159;p19"/>
          <p:cNvGrpSpPr/>
          <p:nvPr/>
        </p:nvGrpSpPr>
        <p:grpSpPr>
          <a:xfrm>
            <a:off x="0" y="0"/>
            <a:ext cx="9144001" cy="5143500"/>
            <a:chOff x="0" y="0"/>
            <a:chExt cx="9144001" cy="5143500"/>
          </a:xfrm>
        </p:grpSpPr>
        <p:pic>
          <p:nvPicPr>
            <p:cNvPr id="160" name="Google Shape;160;p19"/>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61" name="Google Shape;161;p19"/>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62" name="Google Shape;162;p19"/>
          <p:cNvGrpSpPr/>
          <p:nvPr/>
        </p:nvGrpSpPr>
        <p:grpSpPr>
          <a:xfrm rot="10800000">
            <a:off x="6704226" y="3811697"/>
            <a:ext cx="4574075" cy="3479350"/>
            <a:chOff x="1522650" y="1117750"/>
            <a:chExt cx="4574075" cy="3479350"/>
          </a:xfrm>
        </p:grpSpPr>
        <p:sp>
          <p:nvSpPr>
            <p:cNvPr id="163" name="Google Shape;163;p1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5" name="Google Shape;165;p1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66" name="Google Shape;166;p19"/>
          <p:cNvSpPr txBox="1"/>
          <p:nvPr>
            <p:ph idx="1" type="subTitle"/>
          </p:nvPr>
        </p:nvSpPr>
        <p:spPr>
          <a:xfrm>
            <a:off x="865525"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67" name="Google Shape;167;p19"/>
          <p:cNvSpPr txBox="1"/>
          <p:nvPr>
            <p:ph idx="2" type="subTitle"/>
          </p:nvPr>
        </p:nvSpPr>
        <p:spPr>
          <a:xfrm>
            <a:off x="3433873"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68" name="Google Shape;168;p19"/>
          <p:cNvSpPr txBox="1"/>
          <p:nvPr>
            <p:ph idx="3" type="subTitle"/>
          </p:nvPr>
        </p:nvSpPr>
        <p:spPr>
          <a:xfrm>
            <a:off x="6002228"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69" name="Google Shape;169;p19"/>
          <p:cNvSpPr txBox="1"/>
          <p:nvPr>
            <p:ph idx="4" type="subTitle"/>
          </p:nvPr>
        </p:nvSpPr>
        <p:spPr>
          <a:xfrm>
            <a:off x="865525"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0" name="Google Shape;170;p19"/>
          <p:cNvSpPr txBox="1"/>
          <p:nvPr>
            <p:ph idx="5" type="subTitle"/>
          </p:nvPr>
        </p:nvSpPr>
        <p:spPr>
          <a:xfrm>
            <a:off x="3433878"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1" name="Google Shape;171;p19"/>
          <p:cNvSpPr txBox="1"/>
          <p:nvPr>
            <p:ph idx="6" type="subTitle"/>
          </p:nvPr>
        </p:nvSpPr>
        <p:spPr>
          <a:xfrm>
            <a:off x="6002231"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72" name="Shape 172"/>
        <p:cNvGrpSpPr/>
        <p:nvPr/>
      </p:nvGrpSpPr>
      <p:grpSpPr>
        <a:xfrm>
          <a:off x="0" y="0"/>
          <a:ext cx="0" cy="0"/>
          <a:chOff x="0" y="0"/>
          <a:chExt cx="0" cy="0"/>
        </a:xfrm>
      </p:grpSpPr>
      <p:grpSp>
        <p:nvGrpSpPr>
          <p:cNvPr id="173" name="Google Shape;173;p20"/>
          <p:cNvGrpSpPr/>
          <p:nvPr/>
        </p:nvGrpSpPr>
        <p:grpSpPr>
          <a:xfrm>
            <a:off x="0" y="4"/>
            <a:ext cx="9144005" cy="5143497"/>
            <a:chOff x="0" y="4"/>
            <a:chExt cx="9144005" cy="5143497"/>
          </a:xfrm>
        </p:grpSpPr>
        <p:pic>
          <p:nvPicPr>
            <p:cNvPr id="174" name="Google Shape;174;p20"/>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75" name="Google Shape;175;p20"/>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76" name="Google Shape;176;p20"/>
          <p:cNvGrpSpPr/>
          <p:nvPr/>
        </p:nvGrpSpPr>
        <p:grpSpPr>
          <a:xfrm flipH="1" rot="-10539848">
            <a:off x="6108563" y="4049075"/>
            <a:ext cx="4573901" cy="3479217"/>
            <a:chOff x="1522650" y="1117750"/>
            <a:chExt cx="4574075" cy="3479350"/>
          </a:xfrm>
        </p:grpSpPr>
        <p:sp>
          <p:nvSpPr>
            <p:cNvPr id="177" name="Google Shape;177;p2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9" name="Google Shape;179;p2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80" name="Google Shape;180;p20"/>
          <p:cNvSpPr txBox="1"/>
          <p:nvPr>
            <p:ph idx="1" type="subTitle"/>
          </p:nvPr>
        </p:nvSpPr>
        <p:spPr>
          <a:xfrm>
            <a:off x="1225674"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1" name="Google Shape;181;p20"/>
          <p:cNvSpPr txBox="1"/>
          <p:nvPr>
            <p:ph idx="2" type="subTitle"/>
          </p:nvPr>
        </p:nvSpPr>
        <p:spPr>
          <a:xfrm>
            <a:off x="5052125"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2" name="Google Shape;182;p20"/>
          <p:cNvSpPr txBox="1"/>
          <p:nvPr>
            <p:ph idx="3" type="subTitle"/>
          </p:nvPr>
        </p:nvSpPr>
        <p:spPr>
          <a:xfrm>
            <a:off x="1225674"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3" name="Google Shape;183;p20"/>
          <p:cNvSpPr txBox="1"/>
          <p:nvPr>
            <p:ph idx="4" type="subTitle"/>
          </p:nvPr>
        </p:nvSpPr>
        <p:spPr>
          <a:xfrm>
            <a:off x="5052125"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4" name="Google Shape;184;p20"/>
          <p:cNvSpPr txBox="1"/>
          <p:nvPr>
            <p:ph idx="5" type="subTitle"/>
          </p:nvPr>
        </p:nvSpPr>
        <p:spPr>
          <a:xfrm>
            <a:off x="1225675"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5" name="Google Shape;185;p20"/>
          <p:cNvSpPr txBox="1"/>
          <p:nvPr>
            <p:ph idx="6" type="subTitle"/>
          </p:nvPr>
        </p:nvSpPr>
        <p:spPr>
          <a:xfrm>
            <a:off x="1225675"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6" name="Google Shape;186;p20"/>
          <p:cNvSpPr txBox="1"/>
          <p:nvPr>
            <p:ph idx="7" type="subTitle"/>
          </p:nvPr>
        </p:nvSpPr>
        <p:spPr>
          <a:xfrm>
            <a:off x="5052099"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7" name="Google Shape;187;p20"/>
          <p:cNvSpPr txBox="1"/>
          <p:nvPr>
            <p:ph idx="8" type="subTitle"/>
          </p:nvPr>
        </p:nvSpPr>
        <p:spPr>
          <a:xfrm>
            <a:off x="5052099"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88" name="Shape 188"/>
        <p:cNvGrpSpPr/>
        <p:nvPr/>
      </p:nvGrpSpPr>
      <p:grpSpPr>
        <a:xfrm>
          <a:off x="0" y="0"/>
          <a:ext cx="0" cy="0"/>
          <a:chOff x="0" y="0"/>
          <a:chExt cx="0" cy="0"/>
        </a:xfrm>
      </p:grpSpPr>
      <p:grpSp>
        <p:nvGrpSpPr>
          <p:cNvPr id="189" name="Google Shape;189;p21"/>
          <p:cNvGrpSpPr/>
          <p:nvPr/>
        </p:nvGrpSpPr>
        <p:grpSpPr>
          <a:xfrm>
            <a:off x="0" y="0"/>
            <a:ext cx="9144001" cy="5143500"/>
            <a:chOff x="0" y="0"/>
            <a:chExt cx="9144001" cy="5143500"/>
          </a:xfrm>
        </p:grpSpPr>
        <p:pic>
          <p:nvPicPr>
            <p:cNvPr id="190" name="Google Shape;190;p21"/>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91" name="Google Shape;191;p21"/>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92" name="Google Shape;192;p21"/>
          <p:cNvGrpSpPr/>
          <p:nvPr/>
        </p:nvGrpSpPr>
        <p:grpSpPr>
          <a:xfrm rot="10800000">
            <a:off x="6704226" y="3811697"/>
            <a:ext cx="4574075" cy="3479350"/>
            <a:chOff x="1522650" y="1117750"/>
            <a:chExt cx="4574075" cy="3479350"/>
          </a:xfrm>
        </p:grpSpPr>
        <p:sp>
          <p:nvSpPr>
            <p:cNvPr id="193" name="Google Shape;193;p2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5" name="Google Shape;195;p2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6" name="Google Shape;196;p21"/>
          <p:cNvSpPr txBox="1"/>
          <p:nvPr>
            <p:ph idx="1" type="subTitle"/>
          </p:nvPr>
        </p:nvSpPr>
        <p:spPr>
          <a:xfrm>
            <a:off x="11620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7" name="Google Shape;197;p21"/>
          <p:cNvSpPr txBox="1"/>
          <p:nvPr>
            <p:ph idx="2" type="subTitle"/>
          </p:nvPr>
        </p:nvSpPr>
        <p:spPr>
          <a:xfrm>
            <a:off x="3782975" y="1656925"/>
            <a:ext cx="1972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8" name="Google Shape;198;p21"/>
          <p:cNvSpPr txBox="1"/>
          <p:nvPr>
            <p:ph idx="3" type="subTitle"/>
          </p:nvPr>
        </p:nvSpPr>
        <p:spPr>
          <a:xfrm>
            <a:off x="11620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9" name="Google Shape;199;p21"/>
          <p:cNvSpPr txBox="1"/>
          <p:nvPr>
            <p:ph idx="4" type="subTitle"/>
          </p:nvPr>
        </p:nvSpPr>
        <p:spPr>
          <a:xfrm>
            <a:off x="378297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0" name="Google Shape;200;p21"/>
          <p:cNvSpPr txBox="1"/>
          <p:nvPr>
            <p:ph idx="5" type="subTitle"/>
          </p:nvPr>
        </p:nvSpPr>
        <p:spPr>
          <a:xfrm>
            <a:off x="64039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1" name="Google Shape;201;p21"/>
          <p:cNvSpPr txBox="1"/>
          <p:nvPr>
            <p:ph idx="6" type="subTitle"/>
          </p:nvPr>
        </p:nvSpPr>
        <p:spPr>
          <a:xfrm>
            <a:off x="64039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2" name="Google Shape;202;p21"/>
          <p:cNvSpPr txBox="1"/>
          <p:nvPr>
            <p:ph idx="7" type="subTitle"/>
          </p:nvPr>
        </p:nvSpPr>
        <p:spPr>
          <a:xfrm>
            <a:off x="1162025" y="1359241"/>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3" name="Google Shape;203;p21"/>
          <p:cNvSpPr txBox="1"/>
          <p:nvPr>
            <p:ph idx="8" type="subTitle"/>
          </p:nvPr>
        </p:nvSpPr>
        <p:spPr>
          <a:xfrm>
            <a:off x="3782975" y="1359241"/>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4" name="Google Shape;204;p21"/>
          <p:cNvSpPr txBox="1"/>
          <p:nvPr>
            <p:ph idx="9" type="subTitle"/>
          </p:nvPr>
        </p:nvSpPr>
        <p:spPr>
          <a:xfrm>
            <a:off x="6403925" y="1359241"/>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5" name="Google Shape;205;p21"/>
          <p:cNvSpPr txBox="1"/>
          <p:nvPr>
            <p:ph idx="13" type="subTitle"/>
          </p:nvPr>
        </p:nvSpPr>
        <p:spPr>
          <a:xfrm>
            <a:off x="1162025" y="3086317"/>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6" name="Google Shape;206;p21"/>
          <p:cNvSpPr txBox="1"/>
          <p:nvPr>
            <p:ph idx="14" type="subTitle"/>
          </p:nvPr>
        </p:nvSpPr>
        <p:spPr>
          <a:xfrm>
            <a:off x="3782975" y="3086317"/>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7" name="Google Shape;207;p21"/>
          <p:cNvSpPr txBox="1"/>
          <p:nvPr>
            <p:ph idx="15" type="subTitle"/>
          </p:nvPr>
        </p:nvSpPr>
        <p:spPr>
          <a:xfrm>
            <a:off x="6403925" y="3086317"/>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08" name="Shape 208"/>
        <p:cNvGrpSpPr/>
        <p:nvPr/>
      </p:nvGrpSpPr>
      <p:grpSpPr>
        <a:xfrm>
          <a:off x="0" y="0"/>
          <a:ext cx="0" cy="0"/>
          <a:chOff x="0" y="0"/>
          <a:chExt cx="0" cy="0"/>
        </a:xfrm>
      </p:grpSpPr>
      <p:sp>
        <p:nvSpPr>
          <p:cNvPr id="209" name="Google Shape;209;p22"/>
          <p:cNvSpPr txBox="1"/>
          <p:nvPr>
            <p:ph type="title"/>
          </p:nvPr>
        </p:nvSpPr>
        <p:spPr>
          <a:xfrm>
            <a:off x="1200575" y="2266166"/>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10" name="Google Shape;210;p22"/>
          <p:cNvSpPr txBox="1"/>
          <p:nvPr>
            <p:ph idx="1" type="subTitle"/>
          </p:nvPr>
        </p:nvSpPr>
        <p:spPr>
          <a:xfrm>
            <a:off x="1200575" y="2948884"/>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11" name="Google Shape;211;p22"/>
          <p:cNvSpPr txBox="1"/>
          <p:nvPr>
            <p:ph idx="2" type="title"/>
          </p:nvPr>
        </p:nvSpPr>
        <p:spPr>
          <a:xfrm>
            <a:off x="1200575" y="977950"/>
            <a:ext cx="2739300" cy="6663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12" name="Google Shape;212;p22"/>
          <p:cNvSpPr txBox="1"/>
          <p:nvPr>
            <p:ph idx="3" type="subTitle"/>
          </p:nvPr>
        </p:nvSpPr>
        <p:spPr>
          <a:xfrm>
            <a:off x="1200575" y="1669422"/>
            <a:ext cx="2739300" cy="36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13" name="Google Shape;213;p22"/>
          <p:cNvSpPr txBox="1"/>
          <p:nvPr>
            <p:ph idx="4" type="title"/>
          </p:nvPr>
        </p:nvSpPr>
        <p:spPr>
          <a:xfrm>
            <a:off x="1200575" y="3555582"/>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14" name="Google Shape;214;p22"/>
          <p:cNvSpPr txBox="1"/>
          <p:nvPr>
            <p:ph idx="5" type="subTitle"/>
          </p:nvPr>
        </p:nvSpPr>
        <p:spPr>
          <a:xfrm>
            <a:off x="1200575" y="4238300"/>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215" name="Google Shape;215;p22"/>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16" name="Shape 216"/>
        <p:cNvGrpSpPr/>
        <p:nvPr/>
      </p:nvGrpSpPr>
      <p:grpSpPr>
        <a:xfrm>
          <a:off x="0" y="0"/>
          <a:ext cx="0" cy="0"/>
          <a:chOff x="0" y="0"/>
          <a:chExt cx="0" cy="0"/>
        </a:xfrm>
      </p:grpSpPr>
      <p:sp>
        <p:nvSpPr>
          <p:cNvPr id="217" name="Google Shape;217;p23"/>
          <p:cNvSpPr txBox="1"/>
          <p:nvPr>
            <p:ph type="title"/>
          </p:nvPr>
        </p:nvSpPr>
        <p:spPr>
          <a:xfrm>
            <a:off x="713225" y="747263"/>
            <a:ext cx="32817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6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18" name="Google Shape;218;p23"/>
          <p:cNvSpPr txBox="1"/>
          <p:nvPr>
            <p:ph idx="1" type="subTitle"/>
          </p:nvPr>
        </p:nvSpPr>
        <p:spPr>
          <a:xfrm>
            <a:off x="713225" y="1584449"/>
            <a:ext cx="3281700" cy="89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219" name="Google Shape;219;p23"/>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
        <p:nvSpPr>
          <p:cNvPr id="220" name="Google Shape;220;p23"/>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1" i="0" lang="en" sz="1000" u="none" cap="none" strike="noStrike">
                <a:solidFill>
                  <a:schemeClr val="dk1"/>
                </a:solidFill>
                <a:latin typeface="Cairo"/>
                <a:ea typeface="Cairo"/>
                <a:cs typeface="Cairo"/>
                <a:sym typeface="Cairo"/>
              </a:rPr>
              <a:t>CREDITS:</a:t>
            </a:r>
            <a:r>
              <a:rPr b="0" i="0" lang="en" sz="1000" u="none" cap="none" strike="noStrike">
                <a:solidFill>
                  <a:schemeClr val="dk1"/>
                </a:solidFill>
                <a:latin typeface="Cairo"/>
                <a:ea typeface="Cairo"/>
                <a:cs typeface="Cairo"/>
                <a:sym typeface="Cairo"/>
              </a:rPr>
              <a:t> This presentation template was created by </a:t>
            </a:r>
            <a:r>
              <a:rPr b="1" i="0" lang="en" sz="1000" u="sng" cap="none" strike="noStrike">
                <a:solidFill>
                  <a:schemeClr val="hlink"/>
                </a:solidFill>
                <a:latin typeface="Cairo"/>
                <a:ea typeface="Cairo"/>
                <a:cs typeface="Cairo"/>
                <a:sym typeface="Cairo"/>
                <a:hlinkClick r:id="rId3"/>
              </a:rPr>
              <a:t>Slidesgo</a:t>
            </a:r>
            <a:r>
              <a:rPr b="0" i="0" lang="en" sz="1000" u="none" cap="none" strike="noStrike">
                <a:solidFill>
                  <a:schemeClr val="dk1"/>
                </a:solidFill>
                <a:latin typeface="Cairo"/>
                <a:ea typeface="Cairo"/>
                <a:cs typeface="Cairo"/>
                <a:sym typeface="Cairo"/>
              </a:rPr>
              <a:t>, and includes icons by </a:t>
            </a:r>
            <a:r>
              <a:rPr b="1" i="0" lang="en" sz="1000" u="sng" cap="none" strike="noStrike">
                <a:solidFill>
                  <a:schemeClr val="hlink"/>
                </a:solidFill>
                <a:latin typeface="Cairo"/>
                <a:ea typeface="Cairo"/>
                <a:cs typeface="Cairo"/>
                <a:sym typeface="Cairo"/>
                <a:hlinkClick r:id="rId4"/>
              </a:rPr>
              <a:t>Flaticon</a:t>
            </a:r>
            <a:r>
              <a:rPr b="0" i="0" lang="en" sz="1000" u="none" cap="none" strike="noStrike">
                <a:solidFill>
                  <a:schemeClr val="dk1"/>
                </a:solidFill>
                <a:latin typeface="Cairo"/>
                <a:ea typeface="Cairo"/>
                <a:cs typeface="Cairo"/>
                <a:sym typeface="Cairo"/>
              </a:rPr>
              <a:t>, and infographics &amp; images by </a:t>
            </a:r>
            <a:r>
              <a:rPr b="1" i="0" lang="en" sz="1000" u="sng" cap="none" strike="noStrike">
                <a:solidFill>
                  <a:schemeClr val="hlink"/>
                </a:solidFill>
                <a:latin typeface="Cairo"/>
                <a:ea typeface="Cairo"/>
                <a:cs typeface="Cairo"/>
                <a:sym typeface="Cairo"/>
                <a:hlinkClick r:id="rId5"/>
              </a:rPr>
              <a:t>Freepik</a:t>
            </a:r>
            <a:r>
              <a:rPr b="1" i="0" lang="en" sz="1000" u="sng" cap="none" strike="noStrike">
                <a:solidFill>
                  <a:schemeClr val="dk1"/>
                </a:solidFill>
                <a:latin typeface="Cairo"/>
                <a:ea typeface="Cairo"/>
                <a:cs typeface="Cairo"/>
                <a:sym typeface="Cairo"/>
              </a:rPr>
              <a:t> </a:t>
            </a:r>
            <a:endParaRPr b="1" i="0" sz="1000" u="sng" cap="none" strike="noStrike">
              <a:solidFill>
                <a:schemeClr val="dk1"/>
              </a:solidFill>
              <a:latin typeface="Cairo"/>
              <a:ea typeface="Cairo"/>
              <a:cs typeface="Cairo"/>
              <a:sym typeface="Cair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21" name="Shape 221"/>
        <p:cNvGrpSpPr/>
        <p:nvPr/>
      </p:nvGrpSpPr>
      <p:grpSpPr>
        <a:xfrm>
          <a:off x="0" y="0"/>
          <a:ext cx="0" cy="0"/>
          <a:chOff x="0" y="0"/>
          <a:chExt cx="0" cy="0"/>
        </a:xfrm>
      </p:grpSpPr>
      <p:grpSp>
        <p:nvGrpSpPr>
          <p:cNvPr id="222" name="Google Shape;222;p24"/>
          <p:cNvGrpSpPr/>
          <p:nvPr/>
        </p:nvGrpSpPr>
        <p:grpSpPr>
          <a:xfrm>
            <a:off x="0" y="0"/>
            <a:ext cx="9144001" cy="5143500"/>
            <a:chOff x="0" y="0"/>
            <a:chExt cx="9144001" cy="5143500"/>
          </a:xfrm>
        </p:grpSpPr>
        <p:pic>
          <p:nvPicPr>
            <p:cNvPr id="223" name="Google Shape;223;p24"/>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pic>
          <p:nvPicPr>
            <p:cNvPr id="224" name="Google Shape;224;p24"/>
            <p:cNvPicPr preferRelativeResize="0"/>
            <p:nvPr/>
          </p:nvPicPr>
          <p:blipFill rotWithShape="1">
            <a:blip r:embed="rId3">
              <a:alphaModFix/>
            </a:blip>
            <a:srcRect b="0" l="0" r="0" t="0"/>
            <a:stretch/>
          </p:blipFill>
          <p:spPr>
            <a:xfrm flipH="1" rot="10800000">
              <a:off x="5738810" y="0"/>
              <a:ext cx="3405191" cy="5143500"/>
            </a:xfrm>
            <a:prstGeom prst="rect">
              <a:avLst/>
            </a:prstGeom>
            <a:noFill/>
            <a:ln>
              <a:noFill/>
            </a:ln>
          </p:spPr>
        </p:pic>
      </p:grpSp>
      <p:grpSp>
        <p:nvGrpSpPr>
          <p:cNvPr id="225" name="Google Shape;225;p24"/>
          <p:cNvGrpSpPr/>
          <p:nvPr/>
        </p:nvGrpSpPr>
        <p:grpSpPr>
          <a:xfrm rot="756538">
            <a:off x="-1069833" y="-1842572"/>
            <a:ext cx="4574157" cy="3479412"/>
            <a:chOff x="1522650" y="1117750"/>
            <a:chExt cx="4574075" cy="3479350"/>
          </a:xfrm>
        </p:grpSpPr>
        <p:sp>
          <p:nvSpPr>
            <p:cNvPr id="226" name="Google Shape;226;p2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28" name="Shape 228"/>
        <p:cNvGrpSpPr/>
        <p:nvPr/>
      </p:nvGrpSpPr>
      <p:grpSpPr>
        <a:xfrm>
          <a:off x="0" y="0"/>
          <a:ext cx="0" cy="0"/>
          <a:chOff x="0" y="0"/>
          <a:chExt cx="0" cy="0"/>
        </a:xfrm>
      </p:grpSpPr>
      <p:grpSp>
        <p:nvGrpSpPr>
          <p:cNvPr id="229" name="Google Shape;229;p25"/>
          <p:cNvGrpSpPr/>
          <p:nvPr/>
        </p:nvGrpSpPr>
        <p:grpSpPr>
          <a:xfrm>
            <a:off x="0" y="0"/>
            <a:ext cx="9144001" cy="5143500"/>
            <a:chOff x="0" y="0"/>
            <a:chExt cx="9144001" cy="5143500"/>
          </a:xfrm>
        </p:grpSpPr>
        <p:pic>
          <p:nvPicPr>
            <p:cNvPr id="230" name="Google Shape;230;p25"/>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231" name="Google Shape;231;p25"/>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232" name="Google Shape;232;p25"/>
          <p:cNvGrpSpPr/>
          <p:nvPr/>
        </p:nvGrpSpPr>
        <p:grpSpPr>
          <a:xfrm>
            <a:off x="-1845124" y="-2180828"/>
            <a:ext cx="12652562" cy="9877041"/>
            <a:chOff x="-1845124" y="-2180828"/>
            <a:chExt cx="12652562" cy="9877041"/>
          </a:xfrm>
        </p:grpSpPr>
        <p:grpSp>
          <p:nvGrpSpPr>
            <p:cNvPr id="233" name="Google Shape;233;p25"/>
            <p:cNvGrpSpPr/>
            <p:nvPr/>
          </p:nvGrpSpPr>
          <p:grpSpPr>
            <a:xfrm>
              <a:off x="-1845124" y="-2180828"/>
              <a:ext cx="4574075" cy="3479350"/>
              <a:chOff x="1522650" y="1117750"/>
              <a:chExt cx="4574075" cy="3479350"/>
            </a:xfrm>
          </p:grpSpPr>
          <p:sp>
            <p:nvSpPr>
              <p:cNvPr id="234" name="Google Shape;234;p2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6" name="Google Shape;236;p25"/>
            <p:cNvGrpSpPr/>
            <p:nvPr/>
          </p:nvGrpSpPr>
          <p:grpSpPr>
            <a:xfrm flipH="1" rot="-10539848">
              <a:off x="6108563" y="4049075"/>
              <a:ext cx="4573901" cy="3479217"/>
              <a:chOff x="1522650" y="1117750"/>
              <a:chExt cx="4574075" cy="3479350"/>
            </a:xfrm>
          </p:grpSpPr>
          <p:sp>
            <p:nvSpPr>
              <p:cNvPr id="237" name="Google Shape;237;p2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Space Grotesk"/>
              <a:buNone/>
              <a:defRPr b="0" i="0" sz="3000" u="none" cap="none" strike="noStrike">
                <a:solidFill>
                  <a:schemeClr val="dk1"/>
                </a:solidFill>
                <a:latin typeface="Space Grotesk"/>
                <a:ea typeface="Space Grotesk"/>
                <a:cs typeface="Space Grotesk"/>
                <a:sym typeface="Space Grotesk"/>
              </a:defRPr>
            </a:lvl1pPr>
            <a:lvl2pPr lvl="1"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2pPr>
            <a:lvl3pPr lvl="2"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3pPr>
            <a:lvl4pPr lvl="3"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4pPr>
            <a:lvl5pPr lvl="4"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5pPr>
            <a:lvl6pPr lvl="5"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6pPr>
            <a:lvl7pPr lvl="6"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7pPr>
            <a:lvl8pPr lvl="7"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8pPr>
            <a:lvl9pPr lvl="8"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1pPr>
            <a:lvl2pPr indent="-304800" lvl="1" marL="914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2pPr>
            <a:lvl3pPr indent="-304800" lvl="2" marL="1371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3pPr>
            <a:lvl4pPr indent="-304800" lvl="3" marL="1828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4pPr>
            <a:lvl5pPr indent="-304800" lvl="4" marL="22860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5pPr>
            <a:lvl6pPr indent="-304800" lvl="5" marL="2743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6pPr>
            <a:lvl7pPr indent="-304800" lvl="6" marL="3200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7pPr>
            <a:lvl8pPr indent="-304800" lvl="7" marL="3657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8pPr>
            <a:lvl9pPr indent="-304800" lvl="8" marL="4114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0" Type="http://schemas.openxmlformats.org/officeDocument/2006/relationships/image" Target="../media/image41.png"/><Relationship Id="rId20" Type="http://schemas.openxmlformats.org/officeDocument/2006/relationships/image" Target="../media/image23.png"/><Relationship Id="rId42" Type="http://schemas.openxmlformats.org/officeDocument/2006/relationships/image" Target="../media/image34.png"/><Relationship Id="rId41" Type="http://schemas.openxmlformats.org/officeDocument/2006/relationships/image" Target="../media/image46.png"/><Relationship Id="rId22" Type="http://schemas.openxmlformats.org/officeDocument/2006/relationships/image" Target="../media/image15.png"/><Relationship Id="rId21" Type="http://schemas.openxmlformats.org/officeDocument/2006/relationships/image" Target="../media/image27.png"/><Relationship Id="rId24" Type="http://schemas.openxmlformats.org/officeDocument/2006/relationships/image" Target="../media/image18.png"/><Relationship Id="rId23" Type="http://schemas.openxmlformats.org/officeDocument/2006/relationships/image" Target="../media/image19.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2.png"/><Relationship Id="rId9" Type="http://schemas.openxmlformats.org/officeDocument/2006/relationships/image" Target="../media/image6.png"/><Relationship Id="rId26" Type="http://schemas.openxmlformats.org/officeDocument/2006/relationships/image" Target="../media/image16.png"/><Relationship Id="rId25" Type="http://schemas.openxmlformats.org/officeDocument/2006/relationships/image" Target="../media/image20.png"/><Relationship Id="rId28" Type="http://schemas.openxmlformats.org/officeDocument/2006/relationships/image" Target="../media/image24.png"/><Relationship Id="rId27" Type="http://schemas.openxmlformats.org/officeDocument/2006/relationships/image" Target="../media/image17.png"/><Relationship Id="rId5" Type="http://schemas.openxmlformats.org/officeDocument/2006/relationships/image" Target="../media/image9.png"/><Relationship Id="rId6" Type="http://schemas.openxmlformats.org/officeDocument/2006/relationships/image" Target="../media/image4.png"/><Relationship Id="rId29" Type="http://schemas.openxmlformats.org/officeDocument/2006/relationships/image" Target="../media/image32.png"/><Relationship Id="rId7" Type="http://schemas.openxmlformats.org/officeDocument/2006/relationships/image" Target="../media/image14.png"/><Relationship Id="rId8" Type="http://schemas.openxmlformats.org/officeDocument/2006/relationships/image" Target="../media/image11.png"/><Relationship Id="rId31" Type="http://schemas.openxmlformats.org/officeDocument/2006/relationships/image" Target="../media/image40.png"/><Relationship Id="rId30" Type="http://schemas.openxmlformats.org/officeDocument/2006/relationships/image" Target="../media/image38.png"/><Relationship Id="rId11" Type="http://schemas.openxmlformats.org/officeDocument/2006/relationships/image" Target="../media/image8.png"/><Relationship Id="rId33" Type="http://schemas.openxmlformats.org/officeDocument/2006/relationships/image" Target="../media/image30.png"/><Relationship Id="rId10" Type="http://schemas.openxmlformats.org/officeDocument/2006/relationships/image" Target="../media/image21.png"/><Relationship Id="rId32" Type="http://schemas.openxmlformats.org/officeDocument/2006/relationships/image" Target="../media/image49.png"/><Relationship Id="rId13" Type="http://schemas.openxmlformats.org/officeDocument/2006/relationships/image" Target="../media/image7.png"/><Relationship Id="rId35" Type="http://schemas.openxmlformats.org/officeDocument/2006/relationships/image" Target="../media/image44.png"/><Relationship Id="rId12" Type="http://schemas.openxmlformats.org/officeDocument/2006/relationships/image" Target="../media/image13.png"/><Relationship Id="rId34" Type="http://schemas.openxmlformats.org/officeDocument/2006/relationships/image" Target="../media/image25.png"/><Relationship Id="rId15" Type="http://schemas.openxmlformats.org/officeDocument/2006/relationships/image" Target="../media/image22.png"/><Relationship Id="rId37" Type="http://schemas.openxmlformats.org/officeDocument/2006/relationships/image" Target="../media/image31.png"/><Relationship Id="rId14" Type="http://schemas.openxmlformats.org/officeDocument/2006/relationships/image" Target="../media/image28.png"/><Relationship Id="rId36" Type="http://schemas.openxmlformats.org/officeDocument/2006/relationships/image" Target="../media/image51.png"/><Relationship Id="rId17" Type="http://schemas.openxmlformats.org/officeDocument/2006/relationships/image" Target="../media/image26.png"/><Relationship Id="rId39" Type="http://schemas.openxmlformats.org/officeDocument/2006/relationships/image" Target="../media/image33.png"/><Relationship Id="rId16" Type="http://schemas.openxmlformats.org/officeDocument/2006/relationships/image" Target="../media/image29.png"/><Relationship Id="rId38" Type="http://schemas.openxmlformats.org/officeDocument/2006/relationships/image" Target="../media/image45.png"/><Relationship Id="rId19" Type="http://schemas.openxmlformats.org/officeDocument/2006/relationships/image" Target="../media/image35.png"/><Relationship Id="rId18" Type="http://schemas.openxmlformats.org/officeDocument/2006/relationships/image" Target="../media/image4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7.png"/><Relationship Id="rId4" Type="http://schemas.openxmlformats.org/officeDocument/2006/relationships/image" Target="../media/image54.png"/><Relationship Id="rId5" Type="http://schemas.openxmlformats.org/officeDocument/2006/relationships/image" Target="../media/image57.png"/><Relationship Id="rId6" Type="http://schemas.openxmlformats.org/officeDocument/2006/relationships/image" Target="../media/image36.png"/><Relationship Id="rId7" Type="http://schemas.openxmlformats.org/officeDocument/2006/relationships/image" Target="../media/image5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water-sample-dashboard.pages.dev/"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2.png"/><Relationship Id="rId4" Type="http://schemas.openxmlformats.org/officeDocument/2006/relationships/image" Target="../media/image47.png"/><Relationship Id="rId5" Type="http://schemas.openxmlformats.org/officeDocument/2006/relationships/image" Target="../media/image43.png"/><Relationship Id="rId6" Type="http://schemas.openxmlformats.org/officeDocument/2006/relationships/image" Target="../media/image53.png"/><Relationship Id="rId7" Type="http://schemas.openxmlformats.org/officeDocument/2006/relationships/image" Target="../media/image52.png"/><Relationship Id="rId8" Type="http://schemas.openxmlformats.org/officeDocument/2006/relationships/image" Target="../media/image5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8.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6"/>
          <p:cNvSpPr txBox="1"/>
          <p:nvPr>
            <p:ph type="title"/>
          </p:nvPr>
        </p:nvSpPr>
        <p:spPr>
          <a:xfrm>
            <a:off x="720000" y="4014450"/>
            <a:ext cx="5713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Week 7: Final Presentation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
            </a:r>
            <a:r>
              <a:rPr lang="en"/>
              <a:t>otivation</a:t>
            </a:r>
            <a:endParaRPr/>
          </a:p>
        </p:txBody>
      </p:sp>
      <p:sp>
        <p:nvSpPr>
          <p:cNvPr id="249" name="Google Shape;249;p27"/>
          <p:cNvSpPr txBox="1"/>
          <p:nvPr>
            <p:ph idx="1" type="body"/>
          </p:nvPr>
        </p:nvSpPr>
        <p:spPr>
          <a:xfrm>
            <a:off x="720000" y="1310300"/>
            <a:ext cx="7704000" cy="32649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900"/>
              <a:t>The problem</a:t>
            </a:r>
            <a:endParaRPr b="1" sz="1900"/>
          </a:p>
          <a:p>
            <a:pPr indent="0" lvl="0" marL="0" rtl="0" algn="l">
              <a:lnSpc>
                <a:spcPct val="150000"/>
              </a:lnSpc>
              <a:spcBef>
                <a:spcPts val="0"/>
              </a:spcBef>
              <a:spcAft>
                <a:spcPts val="0"/>
              </a:spcAft>
              <a:buNone/>
            </a:pPr>
            <a:r>
              <a:rPr lang="en" sz="1900"/>
              <a:t>Harmful cyanobacteria blooms can make drinking water and local water bodies unsafe</a:t>
            </a:r>
            <a:endParaRPr sz="1900"/>
          </a:p>
          <a:p>
            <a:pPr indent="0" lvl="0" marL="0" rtl="0" algn="l">
              <a:lnSpc>
                <a:spcPct val="150000"/>
              </a:lnSpc>
              <a:spcBef>
                <a:spcPts val="0"/>
              </a:spcBef>
              <a:spcAft>
                <a:spcPts val="0"/>
              </a:spcAft>
              <a:buNone/>
            </a:pPr>
            <a:r>
              <a:rPr lang="en" sz="1900"/>
              <a:t>Monitoring means looking at water samples under a microscope by hand</a:t>
            </a:r>
            <a:endParaRPr sz="1900"/>
          </a:p>
          <a:p>
            <a:pPr indent="0" lvl="0" marL="0" rtl="0" algn="l">
              <a:lnSpc>
                <a:spcPct val="150000"/>
              </a:lnSpc>
              <a:spcBef>
                <a:spcPts val="0"/>
              </a:spcBef>
              <a:spcAft>
                <a:spcPts val="0"/>
              </a:spcAft>
              <a:buNone/>
            </a:pPr>
            <a:r>
              <a:rPr lang="en" sz="1900"/>
              <a:t>That is slow, and it depends on a trained person</a:t>
            </a:r>
            <a:endParaRPr sz="1900"/>
          </a:p>
          <a:p>
            <a:pPr indent="0" lvl="0" marL="0" rtl="0" algn="l">
              <a:lnSpc>
                <a:spcPct val="150000"/>
              </a:lnSpc>
              <a:spcBef>
                <a:spcPts val="0"/>
              </a:spcBef>
              <a:spcAft>
                <a:spcPts val="0"/>
              </a:spcAft>
              <a:buNone/>
            </a:pPr>
            <a:r>
              <a:rPr lang="en" sz="1900"/>
              <a:t>The City of Worcester, WCMC (Worcester Cyanobacteria Monitoring Collaborative) and Prof. Nathan Ahlgren study these samples</a:t>
            </a: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FlowCam</a:t>
            </a:r>
            <a:endParaRPr/>
          </a:p>
        </p:txBody>
      </p:sp>
      <p:sp>
        <p:nvSpPr>
          <p:cNvPr id="255" name="Google Shape;255;p28"/>
          <p:cNvSpPr txBox="1"/>
          <p:nvPr>
            <p:ph idx="1" type="body"/>
          </p:nvPr>
        </p:nvSpPr>
        <p:spPr>
          <a:xfrm>
            <a:off x="720000" y="1310299"/>
            <a:ext cx="7704000" cy="2628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900"/>
              <a:t>A FlowCam is a microscope camera that photographs particles in flowing water</a:t>
            </a:r>
            <a:endParaRPr sz="1900"/>
          </a:p>
          <a:p>
            <a:pPr indent="0" lvl="0" marL="0" rtl="0" algn="l">
              <a:lnSpc>
                <a:spcPct val="150000"/>
              </a:lnSpc>
              <a:spcBef>
                <a:spcPts val="0"/>
              </a:spcBef>
              <a:spcAft>
                <a:spcPts val="0"/>
              </a:spcAft>
              <a:buNone/>
            </a:pPr>
            <a:r>
              <a:rPr lang="en" sz="1900"/>
              <a:t>It takes thousands of pictures per sample</a:t>
            </a:r>
            <a:endParaRPr sz="1900"/>
          </a:p>
          <a:p>
            <a:pPr indent="0" lvl="0" marL="0" rtl="0" algn="l">
              <a:lnSpc>
                <a:spcPct val="150000"/>
              </a:lnSpc>
              <a:spcBef>
                <a:spcPts val="0"/>
              </a:spcBef>
              <a:spcAft>
                <a:spcPts val="0"/>
              </a:spcAft>
              <a:buNone/>
            </a:pPr>
            <a:r>
              <a:rPr lang="en" sz="1900"/>
              <a:t>Faster than a person, and the images can be re-checked later</a:t>
            </a:r>
            <a:endParaRPr sz="1900"/>
          </a:p>
          <a:p>
            <a:pPr indent="0" lvl="0" marL="0" rtl="0" algn="l">
              <a:lnSpc>
                <a:spcPct val="150000"/>
              </a:lnSpc>
              <a:spcBef>
                <a:spcPts val="0"/>
              </a:spcBef>
              <a:spcAft>
                <a:spcPts val="0"/>
              </a:spcAft>
              <a:buNone/>
            </a:pPr>
            <a:r>
              <a:rPr lang="en" sz="1900"/>
              <a:t>Machine learning could help identify what is in each picture</a:t>
            </a:r>
            <a:endParaRPr sz="1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started with</a:t>
            </a:r>
            <a:endParaRPr/>
          </a:p>
        </p:txBody>
      </p:sp>
      <p:sp>
        <p:nvSpPr>
          <p:cNvPr id="261" name="Google Shape;261;p29"/>
          <p:cNvSpPr txBox="1"/>
          <p:nvPr>
            <p:ph idx="1" type="body"/>
          </p:nvPr>
        </p:nvSpPr>
        <p:spPr>
          <a:xfrm>
            <a:off x="720000" y="1310299"/>
            <a:ext cx="7704000" cy="26283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1200"/>
              </a:spcBef>
              <a:spcAft>
                <a:spcPts val="0"/>
              </a:spcAft>
              <a:buClr>
                <a:srgbClr val="000000"/>
              </a:buClr>
              <a:buSzPts val="1200"/>
              <a:buFont typeface="Arial"/>
              <a:buChar char="●"/>
            </a:pPr>
            <a:r>
              <a:rPr lang="en" sz="1900"/>
              <a:t>About 550,000 images in 648 folders</a:t>
            </a:r>
            <a:endParaRPr sz="1900"/>
          </a:p>
          <a:p>
            <a:pPr indent="-304800" lvl="0" marL="457200" rtl="0" algn="l">
              <a:lnSpc>
                <a:spcPct val="150000"/>
              </a:lnSpc>
              <a:spcBef>
                <a:spcPts val="0"/>
              </a:spcBef>
              <a:spcAft>
                <a:spcPts val="0"/>
              </a:spcAft>
              <a:buClr>
                <a:srgbClr val="000000"/>
              </a:buClr>
              <a:buSzPts val="1200"/>
              <a:buFont typeface="Arial"/>
              <a:buChar char="●"/>
            </a:pPr>
            <a:r>
              <a:rPr lang="en" sz="1900"/>
              <a:t>No consistent folder naming</a:t>
            </a:r>
            <a:endParaRPr sz="1900"/>
          </a:p>
          <a:p>
            <a:pPr indent="-304800" lvl="0" marL="457200" rtl="0" algn="l">
              <a:lnSpc>
                <a:spcPct val="150000"/>
              </a:lnSpc>
              <a:spcBef>
                <a:spcPts val="0"/>
              </a:spcBef>
              <a:spcAft>
                <a:spcPts val="0"/>
              </a:spcAft>
              <a:buClr>
                <a:srgbClr val="000000"/>
              </a:buClr>
              <a:buSzPts val="1200"/>
              <a:buFont typeface="Arial"/>
              <a:buChar char="●"/>
            </a:pPr>
            <a:r>
              <a:rPr lang="en" sz="1900"/>
              <a:t>Could not search by site, date or magnification</a:t>
            </a:r>
            <a:endParaRPr sz="1900"/>
          </a:p>
          <a:p>
            <a:pPr indent="-304800" lvl="0" marL="457200" rtl="0" algn="l">
              <a:lnSpc>
                <a:spcPct val="150000"/>
              </a:lnSpc>
              <a:spcBef>
                <a:spcPts val="0"/>
              </a:spcBef>
              <a:spcAft>
                <a:spcPts val="0"/>
              </a:spcAft>
              <a:buClr>
                <a:srgbClr val="000000"/>
              </a:buClr>
              <a:buSzPts val="1200"/>
              <a:buFont typeface="Arial"/>
              <a:buChar char="●"/>
            </a:pPr>
            <a:r>
              <a:rPr lang="en" sz="1900"/>
              <a:t>Nothing labeled, so nothing a model could learn from</a:t>
            </a:r>
            <a:endParaRPr sz="1900"/>
          </a:p>
        </p:txBody>
      </p:sp>
      <p:pic>
        <p:nvPicPr>
          <p:cNvPr id="262" name="Google Shape;262;p29" title="Bell Pond_6.12.2023_10x_TM no dilution-pp_00002.png"/>
          <p:cNvPicPr preferRelativeResize="0"/>
          <p:nvPr/>
        </p:nvPicPr>
        <p:blipFill>
          <a:blip r:embed="rId3">
            <a:alphaModFix/>
          </a:blip>
          <a:stretch>
            <a:fillRect/>
          </a:stretch>
        </p:blipFill>
        <p:spPr>
          <a:xfrm>
            <a:off x="5135663" y="3600450"/>
            <a:ext cx="885825" cy="1304925"/>
          </a:xfrm>
          <a:prstGeom prst="rect">
            <a:avLst/>
          </a:prstGeom>
          <a:noFill/>
          <a:ln>
            <a:noFill/>
          </a:ln>
        </p:spPr>
      </p:pic>
      <p:pic>
        <p:nvPicPr>
          <p:cNvPr id="263" name="Google Shape;263;p29" title="Bell Pond_6.12.2023_10x_TM no dilution-pp_00000.png"/>
          <p:cNvPicPr preferRelativeResize="0"/>
          <p:nvPr/>
        </p:nvPicPr>
        <p:blipFill>
          <a:blip r:embed="rId4">
            <a:alphaModFix/>
          </a:blip>
          <a:stretch>
            <a:fillRect/>
          </a:stretch>
        </p:blipFill>
        <p:spPr>
          <a:xfrm>
            <a:off x="569125" y="4231174"/>
            <a:ext cx="323850" cy="323850"/>
          </a:xfrm>
          <a:prstGeom prst="rect">
            <a:avLst/>
          </a:prstGeom>
          <a:noFill/>
          <a:ln>
            <a:noFill/>
          </a:ln>
        </p:spPr>
      </p:pic>
      <p:pic>
        <p:nvPicPr>
          <p:cNvPr id="264" name="Google Shape;264;p29" title="Bell Pond_6.12.2023_10x_TM no dilution-pp_00003.png"/>
          <p:cNvPicPr preferRelativeResize="0"/>
          <p:nvPr/>
        </p:nvPicPr>
        <p:blipFill>
          <a:blip r:embed="rId5">
            <a:alphaModFix/>
          </a:blip>
          <a:stretch>
            <a:fillRect/>
          </a:stretch>
        </p:blipFill>
        <p:spPr>
          <a:xfrm>
            <a:off x="1171575" y="4090999"/>
            <a:ext cx="962025" cy="752475"/>
          </a:xfrm>
          <a:prstGeom prst="rect">
            <a:avLst/>
          </a:prstGeom>
          <a:noFill/>
          <a:ln>
            <a:noFill/>
          </a:ln>
        </p:spPr>
      </p:pic>
      <p:pic>
        <p:nvPicPr>
          <p:cNvPr id="265" name="Google Shape;265;p29" title="Bell Pond_6.12.2023_10x_TM no dilution-pp_00007.png"/>
          <p:cNvPicPr preferRelativeResize="0"/>
          <p:nvPr/>
        </p:nvPicPr>
        <p:blipFill>
          <a:blip r:embed="rId6">
            <a:alphaModFix/>
          </a:blip>
          <a:stretch>
            <a:fillRect/>
          </a:stretch>
        </p:blipFill>
        <p:spPr>
          <a:xfrm>
            <a:off x="2286000" y="4090999"/>
            <a:ext cx="1230414" cy="900101"/>
          </a:xfrm>
          <a:prstGeom prst="rect">
            <a:avLst/>
          </a:prstGeom>
          <a:noFill/>
          <a:ln>
            <a:noFill/>
          </a:ln>
        </p:spPr>
      </p:pic>
      <p:pic>
        <p:nvPicPr>
          <p:cNvPr id="266" name="Google Shape;266;p29" title="Bell Pond_6.12.2023_10x_TM no dilution-pp_00009.png"/>
          <p:cNvPicPr preferRelativeResize="0"/>
          <p:nvPr/>
        </p:nvPicPr>
        <p:blipFill>
          <a:blip r:embed="rId7">
            <a:alphaModFix/>
          </a:blip>
          <a:stretch>
            <a:fillRect/>
          </a:stretch>
        </p:blipFill>
        <p:spPr>
          <a:xfrm>
            <a:off x="3668825" y="3519488"/>
            <a:ext cx="1314450" cy="1323975"/>
          </a:xfrm>
          <a:prstGeom prst="rect">
            <a:avLst/>
          </a:prstGeom>
          <a:noFill/>
          <a:ln>
            <a:noFill/>
          </a:ln>
        </p:spPr>
      </p:pic>
      <p:pic>
        <p:nvPicPr>
          <p:cNvPr id="267" name="Google Shape;267;p29" title="Bell Pond_8.7.2023_10x_TM 0.5 dilution-pp_00065.png"/>
          <p:cNvPicPr preferRelativeResize="0"/>
          <p:nvPr/>
        </p:nvPicPr>
        <p:blipFill>
          <a:blip r:embed="rId8">
            <a:alphaModFix/>
          </a:blip>
          <a:stretch>
            <a:fillRect/>
          </a:stretch>
        </p:blipFill>
        <p:spPr>
          <a:xfrm>
            <a:off x="7090900" y="3600450"/>
            <a:ext cx="193283" cy="140225"/>
          </a:xfrm>
          <a:prstGeom prst="rect">
            <a:avLst/>
          </a:prstGeom>
          <a:noFill/>
          <a:ln>
            <a:noFill/>
          </a:ln>
        </p:spPr>
      </p:pic>
      <p:pic>
        <p:nvPicPr>
          <p:cNvPr id="268" name="Google Shape;268;p29" title="Bell Pond_8.7.2023_10x_TM 0.5 dilution-pp_00068.png"/>
          <p:cNvPicPr preferRelativeResize="0"/>
          <p:nvPr/>
        </p:nvPicPr>
        <p:blipFill>
          <a:blip r:embed="rId9">
            <a:alphaModFix/>
          </a:blip>
          <a:stretch>
            <a:fillRect/>
          </a:stretch>
        </p:blipFill>
        <p:spPr>
          <a:xfrm>
            <a:off x="7436583" y="3600450"/>
            <a:ext cx="140225" cy="140225"/>
          </a:xfrm>
          <a:prstGeom prst="rect">
            <a:avLst/>
          </a:prstGeom>
          <a:noFill/>
          <a:ln>
            <a:noFill/>
          </a:ln>
        </p:spPr>
      </p:pic>
      <p:pic>
        <p:nvPicPr>
          <p:cNvPr id="269" name="Google Shape;269;p29" title="Bell Pond_8.7.2023_10x_TM 0.5 dilution-pp_00072.png"/>
          <p:cNvPicPr preferRelativeResize="0"/>
          <p:nvPr/>
        </p:nvPicPr>
        <p:blipFill>
          <a:blip r:embed="rId10">
            <a:alphaModFix/>
          </a:blip>
          <a:stretch>
            <a:fillRect/>
          </a:stretch>
        </p:blipFill>
        <p:spPr>
          <a:xfrm>
            <a:off x="6173888" y="4090999"/>
            <a:ext cx="828675" cy="752475"/>
          </a:xfrm>
          <a:prstGeom prst="rect">
            <a:avLst/>
          </a:prstGeom>
          <a:noFill/>
          <a:ln>
            <a:noFill/>
          </a:ln>
        </p:spPr>
      </p:pic>
      <p:pic>
        <p:nvPicPr>
          <p:cNvPr id="270" name="Google Shape;270;p29" title="Bell Pond_8.7.2023_10x_TM 0.5 dilution-pp_00076.png"/>
          <p:cNvPicPr preferRelativeResize="0"/>
          <p:nvPr/>
        </p:nvPicPr>
        <p:blipFill>
          <a:blip r:embed="rId11">
            <a:alphaModFix/>
          </a:blip>
          <a:stretch>
            <a:fillRect/>
          </a:stretch>
        </p:blipFill>
        <p:spPr>
          <a:xfrm>
            <a:off x="7729208" y="3600450"/>
            <a:ext cx="136535" cy="140225"/>
          </a:xfrm>
          <a:prstGeom prst="rect">
            <a:avLst/>
          </a:prstGeom>
          <a:noFill/>
          <a:ln>
            <a:noFill/>
          </a:ln>
        </p:spPr>
      </p:pic>
      <p:pic>
        <p:nvPicPr>
          <p:cNvPr id="271" name="Google Shape;271;p29" title="Bell Pond_8.7.2023_10x_TM 0.5 dilution-pp_00080.png"/>
          <p:cNvPicPr preferRelativeResize="0"/>
          <p:nvPr/>
        </p:nvPicPr>
        <p:blipFill>
          <a:blip r:embed="rId12">
            <a:alphaModFix/>
          </a:blip>
          <a:stretch>
            <a:fillRect/>
          </a:stretch>
        </p:blipFill>
        <p:spPr>
          <a:xfrm>
            <a:off x="6492800" y="3519500"/>
            <a:ext cx="323850" cy="447675"/>
          </a:xfrm>
          <a:prstGeom prst="rect">
            <a:avLst/>
          </a:prstGeom>
          <a:noFill/>
          <a:ln>
            <a:noFill/>
          </a:ln>
        </p:spPr>
      </p:pic>
      <p:pic>
        <p:nvPicPr>
          <p:cNvPr id="272" name="Google Shape;272;p29" title="Bell Pond_8.7.2023_10x_TM 0.5 dilution-pp_00087.png"/>
          <p:cNvPicPr preferRelativeResize="0"/>
          <p:nvPr/>
        </p:nvPicPr>
        <p:blipFill>
          <a:blip r:embed="rId13">
            <a:alphaModFix/>
          </a:blip>
          <a:stretch>
            <a:fillRect/>
          </a:stretch>
        </p:blipFill>
        <p:spPr>
          <a:xfrm>
            <a:off x="8018143" y="3600450"/>
            <a:ext cx="117917" cy="140225"/>
          </a:xfrm>
          <a:prstGeom prst="rect">
            <a:avLst/>
          </a:prstGeom>
          <a:noFill/>
          <a:ln>
            <a:noFill/>
          </a:ln>
        </p:spPr>
      </p:pic>
      <p:pic>
        <p:nvPicPr>
          <p:cNvPr id="273" name="Google Shape;273;p29" title="Bell Pond_8.7.2023_10x_TM 0.5 dilution-pp_00093.png"/>
          <p:cNvPicPr preferRelativeResize="0"/>
          <p:nvPr/>
        </p:nvPicPr>
        <p:blipFill>
          <a:blip r:embed="rId14">
            <a:alphaModFix/>
          </a:blip>
          <a:stretch>
            <a:fillRect/>
          </a:stretch>
        </p:blipFill>
        <p:spPr>
          <a:xfrm>
            <a:off x="8288460" y="3600450"/>
            <a:ext cx="135551" cy="140225"/>
          </a:xfrm>
          <a:prstGeom prst="rect">
            <a:avLst/>
          </a:prstGeom>
          <a:noFill/>
          <a:ln>
            <a:noFill/>
          </a:ln>
        </p:spPr>
      </p:pic>
      <p:pic>
        <p:nvPicPr>
          <p:cNvPr id="274" name="Google Shape;274;p29" title="Bell Pond_8.7.2023_10x_TM 0.5 dilution-pp_00018.png"/>
          <p:cNvPicPr preferRelativeResize="0"/>
          <p:nvPr/>
        </p:nvPicPr>
        <p:blipFill>
          <a:blip r:embed="rId15">
            <a:alphaModFix/>
          </a:blip>
          <a:stretch>
            <a:fillRect/>
          </a:stretch>
        </p:blipFill>
        <p:spPr>
          <a:xfrm>
            <a:off x="152400" y="152400"/>
            <a:ext cx="129155" cy="140225"/>
          </a:xfrm>
          <a:prstGeom prst="rect">
            <a:avLst/>
          </a:prstGeom>
          <a:noFill/>
          <a:ln>
            <a:noFill/>
          </a:ln>
        </p:spPr>
      </p:pic>
      <p:pic>
        <p:nvPicPr>
          <p:cNvPr id="275" name="Google Shape;275;p29" title="Bell Pond_8.7.2023_10x_TM 0.5 dilution-pp_00028.png"/>
          <p:cNvPicPr preferRelativeResize="0"/>
          <p:nvPr/>
        </p:nvPicPr>
        <p:blipFill>
          <a:blip r:embed="rId16">
            <a:alphaModFix/>
          </a:blip>
          <a:stretch>
            <a:fillRect/>
          </a:stretch>
        </p:blipFill>
        <p:spPr>
          <a:xfrm>
            <a:off x="8576400" y="152400"/>
            <a:ext cx="415200" cy="540419"/>
          </a:xfrm>
          <a:prstGeom prst="rect">
            <a:avLst/>
          </a:prstGeom>
          <a:noFill/>
          <a:ln>
            <a:noFill/>
          </a:ln>
        </p:spPr>
      </p:pic>
      <p:pic>
        <p:nvPicPr>
          <p:cNvPr id="276" name="Google Shape;276;p29" title="Bell Pond_8.7.2023_10x_TM 0.5 dilution-pp_00030.png"/>
          <p:cNvPicPr preferRelativeResize="0"/>
          <p:nvPr/>
        </p:nvPicPr>
        <p:blipFill>
          <a:blip r:embed="rId17">
            <a:alphaModFix/>
          </a:blip>
          <a:stretch>
            <a:fillRect/>
          </a:stretch>
        </p:blipFill>
        <p:spPr>
          <a:xfrm>
            <a:off x="8576400" y="845219"/>
            <a:ext cx="415200" cy="498240"/>
          </a:xfrm>
          <a:prstGeom prst="rect">
            <a:avLst/>
          </a:prstGeom>
          <a:noFill/>
          <a:ln>
            <a:noFill/>
          </a:ln>
        </p:spPr>
      </p:pic>
      <p:pic>
        <p:nvPicPr>
          <p:cNvPr id="277" name="Google Shape;277;p29" title="Bell Pond_8.7.2023_10x_TM 0.5 dilution-pp_00034.png"/>
          <p:cNvPicPr preferRelativeResize="0"/>
          <p:nvPr/>
        </p:nvPicPr>
        <p:blipFill>
          <a:blip r:embed="rId18">
            <a:alphaModFix/>
          </a:blip>
          <a:stretch>
            <a:fillRect/>
          </a:stretch>
        </p:blipFill>
        <p:spPr>
          <a:xfrm>
            <a:off x="7154963" y="4090999"/>
            <a:ext cx="800100" cy="590550"/>
          </a:xfrm>
          <a:prstGeom prst="rect">
            <a:avLst/>
          </a:prstGeom>
          <a:noFill/>
          <a:ln>
            <a:noFill/>
          </a:ln>
        </p:spPr>
      </p:pic>
      <p:pic>
        <p:nvPicPr>
          <p:cNvPr id="278" name="Google Shape;278;p29" title="Bell Pond_8.7.2023_10x_TM 0.5 dilution-pp_00039.png"/>
          <p:cNvPicPr preferRelativeResize="0"/>
          <p:nvPr/>
        </p:nvPicPr>
        <p:blipFill>
          <a:blip r:embed="rId19">
            <a:alphaModFix/>
          </a:blip>
          <a:stretch>
            <a:fillRect/>
          </a:stretch>
        </p:blipFill>
        <p:spPr>
          <a:xfrm>
            <a:off x="433955" y="152400"/>
            <a:ext cx="115296" cy="140225"/>
          </a:xfrm>
          <a:prstGeom prst="rect">
            <a:avLst/>
          </a:prstGeom>
          <a:noFill/>
          <a:ln>
            <a:noFill/>
          </a:ln>
        </p:spPr>
      </p:pic>
      <p:pic>
        <p:nvPicPr>
          <p:cNvPr id="279" name="Google Shape;279;p29" title="Bell Pond_8.7.2023_10x_TM 0.5 dilution-pp_00040.png"/>
          <p:cNvPicPr preferRelativeResize="0"/>
          <p:nvPr/>
        </p:nvPicPr>
        <p:blipFill>
          <a:blip r:embed="rId20">
            <a:alphaModFix/>
          </a:blip>
          <a:stretch>
            <a:fillRect/>
          </a:stretch>
        </p:blipFill>
        <p:spPr>
          <a:xfrm>
            <a:off x="152400" y="445025"/>
            <a:ext cx="381000" cy="514350"/>
          </a:xfrm>
          <a:prstGeom prst="rect">
            <a:avLst/>
          </a:prstGeom>
          <a:noFill/>
          <a:ln>
            <a:noFill/>
          </a:ln>
        </p:spPr>
      </p:pic>
      <p:pic>
        <p:nvPicPr>
          <p:cNvPr id="280" name="Google Shape;280;p29" title="Bell Pond_8.7.2023_10x_TM 0.5 dilution-pp_00043.png"/>
          <p:cNvPicPr preferRelativeResize="0"/>
          <p:nvPr/>
        </p:nvPicPr>
        <p:blipFill>
          <a:blip r:embed="rId21">
            <a:alphaModFix/>
          </a:blip>
          <a:stretch>
            <a:fillRect/>
          </a:stretch>
        </p:blipFill>
        <p:spPr>
          <a:xfrm>
            <a:off x="701651" y="152400"/>
            <a:ext cx="165154" cy="140225"/>
          </a:xfrm>
          <a:prstGeom prst="rect">
            <a:avLst/>
          </a:prstGeom>
          <a:noFill/>
          <a:ln>
            <a:noFill/>
          </a:ln>
        </p:spPr>
      </p:pic>
      <p:pic>
        <p:nvPicPr>
          <p:cNvPr id="281" name="Google Shape;281;p29" title="Bell Pond_8.7.2023_10x_TM 0.5 dilution-pp_00044.png"/>
          <p:cNvPicPr preferRelativeResize="0"/>
          <p:nvPr/>
        </p:nvPicPr>
        <p:blipFill>
          <a:blip r:embed="rId22">
            <a:alphaModFix/>
          </a:blip>
          <a:stretch>
            <a:fillRect/>
          </a:stretch>
        </p:blipFill>
        <p:spPr>
          <a:xfrm>
            <a:off x="8576400" y="1495859"/>
            <a:ext cx="415200" cy="408041"/>
          </a:xfrm>
          <a:prstGeom prst="rect">
            <a:avLst/>
          </a:prstGeom>
          <a:noFill/>
          <a:ln>
            <a:noFill/>
          </a:ln>
        </p:spPr>
      </p:pic>
      <p:pic>
        <p:nvPicPr>
          <p:cNvPr id="282" name="Google Shape;282;p29" title="Bell Pond_8.7.2023_10x_TM 0.5 dilution-pp_00050.png"/>
          <p:cNvPicPr preferRelativeResize="0"/>
          <p:nvPr/>
        </p:nvPicPr>
        <p:blipFill>
          <a:blip r:embed="rId23">
            <a:alphaModFix/>
          </a:blip>
          <a:stretch>
            <a:fillRect/>
          </a:stretch>
        </p:blipFill>
        <p:spPr>
          <a:xfrm>
            <a:off x="152400" y="1111775"/>
            <a:ext cx="264325" cy="254535"/>
          </a:xfrm>
          <a:prstGeom prst="rect">
            <a:avLst/>
          </a:prstGeom>
          <a:noFill/>
          <a:ln>
            <a:noFill/>
          </a:ln>
        </p:spPr>
      </p:pic>
      <p:pic>
        <p:nvPicPr>
          <p:cNvPr id="283" name="Google Shape;283;p29" title="Bell Pond_8.7.2023_10x_TM 0.5 dilution-pp_00051.png"/>
          <p:cNvPicPr preferRelativeResize="0"/>
          <p:nvPr/>
        </p:nvPicPr>
        <p:blipFill>
          <a:blip r:embed="rId24">
            <a:alphaModFix/>
          </a:blip>
          <a:stretch>
            <a:fillRect/>
          </a:stretch>
        </p:blipFill>
        <p:spPr>
          <a:xfrm>
            <a:off x="1019205" y="152400"/>
            <a:ext cx="160846" cy="140225"/>
          </a:xfrm>
          <a:prstGeom prst="rect">
            <a:avLst/>
          </a:prstGeom>
          <a:noFill/>
          <a:ln>
            <a:noFill/>
          </a:ln>
        </p:spPr>
      </p:pic>
      <p:pic>
        <p:nvPicPr>
          <p:cNvPr id="284" name="Google Shape;284;p29" title="Bell Pond_8.7.2023_10x_TM 0.5 dilution-pp_00053.png"/>
          <p:cNvPicPr preferRelativeResize="0"/>
          <p:nvPr/>
        </p:nvPicPr>
        <p:blipFill>
          <a:blip r:embed="rId25">
            <a:alphaModFix/>
          </a:blip>
          <a:stretch>
            <a:fillRect/>
          </a:stretch>
        </p:blipFill>
        <p:spPr>
          <a:xfrm>
            <a:off x="1332451" y="152400"/>
            <a:ext cx="191216" cy="140225"/>
          </a:xfrm>
          <a:prstGeom prst="rect">
            <a:avLst/>
          </a:prstGeom>
          <a:noFill/>
          <a:ln>
            <a:noFill/>
          </a:ln>
        </p:spPr>
      </p:pic>
      <p:pic>
        <p:nvPicPr>
          <p:cNvPr id="285" name="Google Shape;285;p29" title="Bell Pond_8.7.2023_10x_TM 0.5 dilution-pp_00058.png"/>
          <p:cNvPicPr preferRelativeResize="0"/>
          <p:nvPr/>
        </p:nvPicPr>
        <p:blipFill>
          <a:blip r:embed="rId26">
            <a:alphaModFix/>
          </a:blip>
          <a:stretch>
            <a:fillRect/>
          </a:stretch>
        </p:blipFill>
        <p:spPr>
          <a:xfrm>
            <a:off x="1676067" y="152400"/>
            <a:ext cx="137109" cy="140225"/>
          </a:xfrm>
          <a:prstGeom prst="rect">
            <a:avLst/>
          </a:prstGeom>
          <a:noFill/>
          <a:ln>
            <a:noFill/>
          </a:ln>
        </p:spPr>
      </p:pic>
      <p:pic>
        <p:nvPicPr>
          <p:cNvPr id="286" name="Google Shape;286;p29" title="Bell_CR5.2.22_10x_TR1-pp_00040.png"/>
          <p:cNvPicPr preferRelativeResize="0"/>
          <p:nvPr/>
        </p:nvPicPr>
        <p:blipFill>
          <a:blip r:embed="rId27">
            <a:alphaModFix/>
          </a:blip>
          <a:stretch>
            <a:fillRect/>
          </a:stretch>
        </p:blipFill>
        <p:spPr>
          <a:xfrm>
            <a:off x="1965576" y="152400"/>
            <a:ext cx="159791" cy="140225"/>
          </a:xfrm>
          <a:prstGeom prst="rect">
            <a:avLst/>
          </a:prstGeom>
          <a:noFill/>
          <a:ln>
            <a:noFill/>
          </a:ln>
        </p:spPr>
      </p:pic>
      <p:pic>
        <p:nvPicPr>
          <p:cNvPr id="287" name="Google Shape;287;p29" title="Bell_CR5.2.22_10x_TR1-pp_00041.png"/>
          <p:cNvPicPr preferRelativeResize="0"/>
          <p:nvPr/>
        </p:nvPicPr>
        <p:blipFill>
          <a:blip r:embed="rId28">
            <a:alphaModFix/>
          </a:blip>
          <a:stretch>
            <a:fillRect/>
          </a:stretch>
        </p:blipFill>
        <p:spPr>
          <a:xfrm>
            <a:off x="8576400" y="2056300"/>
            <a:ext cx="333375" cy="628650"/>
          </a:xfrm>
          <a:prstGeom prst="rect">
            <a:avLst/>
          </a:prstGeom>
          <a:noFill/>
          <a:ln>
            <a:noFill/>
          </a:ln>
        </p:spPr>
      </p:pic>
      <p:pic>
        <p:nvPicPr>
          <p:cNvPr id="288" name="Google Shape;288;p29" title="Bell_CR5.2.22_10x_TR1-pp_00042.png"/>
          <p:cNvPicPr preferRelativeResize="0"/>
          <p:nvPr/>
        </p:nvPicPr>
        <p:blipFill>
          <a:blip r:embed="rId29">
            <a:alphaModFix/>
          </a:blip>
          <a:stretch>
            <a:fillRect/>
          </a:stretch>
        </p:blipFill>
        <p:spPr>
          <a:xfrm>
            <a:off x="2277767" y="152400"/>
            <a:ext cx="166193" cy="140225"/>
          </a:xfrm>
          <a:prstGeom prst="rect">
            <a:avLst/>
          </a:prstGeom>
          <a:noFill/>
          <a:ln>
            <a:noFill/>
          </a:ln>
        </p:spPr>
      </p:pic>
      <p:pic>
        <p:nvPicPr>
          <p:cNvPr id="289" name="Google Shape;289;p29" title="Bell_CR5.2.22_10x_TR1-pp_00048.png"/>
          <p:cNvPicPr preferRelativeResize="0"/>
          <p:nvPr/>
        </p:nvPicPr>
        <p:blipFill>
          <a:blip r:embed="rId30">
            <a:alphaModFix/>
          </a:blip>
          <a:stretch>
            <a:fillRect/>
          </a:stretch>
        </p:blipFill>
        <p:spPr>
          <a:xfrm>
            <a:off x="6710225" y="133338"/>
            <a:ext cx="304800" cy="352425"/>
          </a:xfrm>
          <a:prstGeom prst="rect">
            <a:avLst/>
          </a:prstGeom>
          <a:noFill/>
          <a:ln>
            <a:noFill/>
          </a:ln>
        </p:spPr>
      </p:pic>
      <p:pic>
        <p:nvPicPr>
          <p:cNvPr id="290" name="Google Shape;290;p29" title="Bell_CR5.2.22_10x_TR1-pp_00049.png"/>
          <p:cNvPicPr preferRelativeResize="0"/>
          <p:nvPr/>
        </p:nvPicPr>
        <p:blipFill>
          <a:blip r:embed="rId31">
            <a:alphaModFix/>
          </a:blip>
          <a:stretch>
            <a:fillRect/>
          </a:stretch>
        </p:blipFill>
        <p:spPr>
          <a:xfrm>
            <a:off x="7226763" y="157175"/>
            <a:ext cx="257175" cy="304800"/>
          </a:xfrm>
          <a:prstGeom prst="rect">
            <a:avLst/>
          </a:prstGeom>
          <a:noFill/>
          <a:ln>
            <a:noFill/>
          </a:ln>
        </p:spPr>
      </p:pic>
      <p:pic>
        <p:nvPicPr>
          <p:cNvPr id="291" name="Google Shape;291;p29" title="Bell_CR5.2.22_10x_TR1-pp_00050.png"/>
          <p:cNvPicPr preferRelativeResize="0"/>
          <p:nvPr/>
        </p:nvPicPr>
        <p:blipFill>
          <a:blip r:embed="rId32">
            <a:alphaModFix/>
          </a:blip>
          <a:stretch>
            <a:fillRect/>
          </a:stretch>
        </p:blipFill>
        <p:spPr>
          <a:xfrm>
            <a:off x="45525" y="1931713"/>
            <a:ext cx="342900" cy="323850"/>
          </a:xfrm>
          <a:prstGeom prst="rect">
            <a:avLst/>
          </a:prstGeom>
          <a:noFill/>
          <a:ln>
            <a:noFill/>
          </a:ln>
        </p:spPr>
      </p:pic>
      <p:pic>
        <p:nvPicPr>
          <p:cNvPr id="292" name="Google Shape;292;p29" title="Bell_CR5.2.22_10x_TR1-pp_00051.png"/>
          <p:cNvPicPr preferRelativeResize="0"/>
          <p:nvPr/>
        </p:nvPicPr>
        <p:blipFill>
          <a:blip r:embed="rId33">
            <a:alphaModFix/>
          </a:blip>
          <a:stretch>
            <a:fillRect/>
          </a:stretch>
        </p:blipFill>
        <p:spPr>
          <a:xfrm>
            <a:off x="177063" y="2373288"/>
            <a:ext cx="390525" cy="314325"/>
          </a:xfrm>
          <a:prstGeom prst="rect">
            <a:avLst/>
          </a:prstGeom>
          <a:noFill/>
          <a:ln>
            <a:noFill/>
          </a:ln>
        </p:spPr>
      </p:pic>
      <p:pic>
        <p:nvPicPr>
          <p:cNvPr id="293" name="Google Shape;293;p29" title="Bell_CR5.2.22_10x_TR1-pp_00052.png"/>
          <p:cNvPicPr preferRelativeResize="0"/>
          <p:nvPr/>
        </p:nvPicPr>
        <p:blipFill>
          <a:blip r:embed="rId34">
            <a:alphaModFix/>
          </a:blip>
          <a:stretch>
            <a:fillRect/>
          </a:stretch>
        </p:blipFill>
        <p:spPr>
          <a:xfrm>
            <a:off x="305850" y="2846350"/>
            <a:ext cx="371475" cy="352425"/>
          </a:xfrm>
          <a:prstGeom prst="rect">
            <a:avLst/>
          </a:prstGeom>
          <a:noFill/>
          <a:ln>
            <a:noFill/>
          </a:ln>
        </p:spPr>
      </p:pic>
      <p:pic>
        <p:nvPicPr>
          <p:cNvPr id="294" name="Google Shape;294;p29" title="Bell_CR5.2.22_10x_TR1-pp_00053.png"/>
          <p:cNvPicPr preferRelativeResize="0"/>
          <p:nvPr/>
        </p:nvPicPr>
        <p:blipFill>
          <a:blip r:embed="rId35">
            <a:alphaModFix/>
          </a:blip>
          <a:stretch>
            <a:fillRect/>
          </a:stretch>
        </p:blipFill>
        <p:spPr>
          <a:xfrm>
            <a:off x="8577400" y="3471588"/>
            <a:ext cx="342900" cy="419100"/>
          </a:xfrm>
          <a:prstGeom prst="rect">
            <a:avLst/>
          </a:prstGeom>
          <a:noFill/>
          <a:ln>
            <a:noFill/>
          </a:ln>
        </p:spPr>
      </p:pic>
      <p:pic>
        <p:nvPicPr>
          <p:cNvPr id="295" name="Google Shape;295;p29" title="Bell_CR5.2.22_10x_TR1-pp_00054.png"/>
          <p:cNvPicPr preferRelativeResize="0"/>
          <p:nvPr/>
        </p:nvPicPr>
        <p:blipFill>
          <a:blip r:embed="rId36">
            <a:alphaModFix/>
          </a:blip>
          <a:stretch>
            <a:fillRect/>
          </a:stretch>
        </p:blipFill>
        <p:spPr>
          <a:xfrm>
            <a:off x="7629013" y="128588"/>
            <a:ext cx="333375" cy="361950"/>
          </a:xfrm>
          <a:prstGeom prst="rect">
            <a:avLst/>
          </a:prstGeom>
          <a:noFill/>
          <a:ln>
            <a:noFill/>
          </a:ln>
        </p:spPr>
      </p:pic>
      <p:pic>
        <p:nvPicPr>
          <p:cNvPr id="296" name="Google Shape;296;p29" title="Bell_CR5.2.22_10x_TR1-pp_00055.png"/>
          <p:cNvPicPr preferRelativeResize="0"/>
          <p:nvPr/>
        </p:nvPicPr>
        <p:blipFill>
          <a:blip r:embed="rId37">
            <a:alphaModFix/>
          </a:blip>
          <a:stretch>
            <a:fillRect/>
          </a:stretch>
        </p:blipFill>
        <p:spPr>
          <a:xfrm>
            <a:off x="8107475" y="152388"/>
            <a:ext cx="323850" cy="314325"/>
          </a:xfrm>
          <a:prstGeom prst="rect">
            <a:avLst/>
          </a:prstGeom>
          <a:noFill/>
          <a:ln>
            <a:noFill/>
          </a:ln>
        </p:spPr>
      </p:pic>
      <p:pic>
        <p:nvPicPr>
          <p:cNvPr id="297" name="Google Shape;297;p29" title="Bell_CR5.2.22_10x_TR1-pp_00056.png"/>
          <p:cNvPicPr preferRelativeResize="0"/>
          <p:nvPr/>
        </p:nvPicPr>
        <p:blipFill>
          <a:blip r:embed="rId38">
            <a:alphaModFix/>
          </a:blip>
          <a:stretch>
            <a:fillRect/>
          </a:stretch>
        </p:blipFill>
        <p:spPr>
          <a:xfrm>
            <a:off x="8650650" y="2866463"/>
            <a:ext cx="266700" cy="333375"/>
          </a:xfrm>
          <a:prstGeom prst="rect">
            <a:avLst/>
          </a:prstGeom>
          <a:noFill/>
          <a:ln>
            <a:noFill/>
          </a:ln>
        </p:spPr>
      </p:pic>
      <p:pic>
        <p:nvPicPr>
          <p:cNvPr id="298" name="Google Shape;298;p29" title="Bell_CR5.2.22_10x_TR1-pp_00057.png"/>
          <p:cNvPicPr preferRelativeResize="0"/>
          <p:nvPr/>
        </p:nvPicPr>
        <p:blipFill>
          <a:blip r:embed="rId39">
            <a:alphaModFix/>
          </a:blip>
          <a:stretch>
            <a:fillRect/>
          </a:stretch>
        </p:blipFill>
        <p:spPr>
          <a:xfrm>
            <a:off x="98813" y="1518688"/>
            <a:ext cx="371475" cy="295275"/>
          </a:xfrm>
          <a:prstGeom prst="rect">
            <a:avLst/>
          </a:prstGeom>
          <a:noFill/>
          <a:ln>
            <a:noFill/>
          </a:ln>
        </p:spPr>
      </p:pic>
      <p:pic>
        <p:nvPicPr>
          <p:cNvPr id="299" name="Google Shape;299;p29" title="Bell_CR5.2.22_10x_TR1-pp_00058.png"/>
          <p:cNvPicPr preferRelativeResize="0"/>
          <p:nvPr/>
        </p:nvPicPr>
        <p:blipFill>
          <a:blip r:embed="rId40">
            <a:alphaModFix/>
          </a:blip>
          <a:stretch>
            <a:fillRect/>
          </a:stretch>
        </p:blipFill>
        <p:spPr>
          <a:xfrm>
            <a:off x="824988" y="3519488"/>
            <a:ext cx="390525" cy="447675"/>
          </a:xfrm>
          <a:prstGeom prst="rect">
            <a:avLst/>
          </a:prstGeom>
          <a:noFill/>
          <a:ln>
            <a:noFill/>
          </a:ln>
        </p:spPr>
      </p:pic>
      <p:pic>
        <p:nvPicPr>
          <p:cNvPr id="300" name="Google Shape;300;p29" title="Bell_CR5.2.22_10x_TR1-pp_00059.png"/>
          <p:cNvPicPr preferRelativeResize="0"/>
          <p:nvPr/>
        </p:nvPicPr>
        <p:blipFill>
          <a:blip r:embed="rId41">
            <a:alphaModFix/>
          </a:blip>
          <a:stretch>
            <a:fillRect/>
          </a:stretch>
        </p:blipFill>
        <p:spPr>
          <a:xfrm>
            <a:off x="386300" y="3457588"/>
            <a:ext cx="247650" cy="571500"/>
          </a:xfrm>
          <a:prstGeom prst="rect">
            <a:avLst/>
          </a:prstGeom>
          <a:noFill/>
          <a:ln>
            <a:noFill/>
          </a:ln>
        </p:spPr>
      </p:pic>
      <p:pic>
        <p:nvPicPr>
          <p:cNvPr id="301" name="Google Shape;301;p29" title="Bell_CR5.2.22_10x_TR1-pp_00060.png"/>
          <p:cNvPicPr preferRelativeResize="0"/>
          <p:nvPr/>
        </p:nvPicPr>
        <p:blipFill>
          <a:blip r:embed="rId42">
            <a:alphaModFix/>
          </a:blip>
          <a:stretch>
            <a:fillRect/>
          </a:stretch>
        </p:blipFill>
        <p:spPr>
          <a:xfrm>
            <a:off x="8107475" y="4162425"/>
            <a:ext cx="723900" cy="447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Plan</a:t>
            </a:r>
            <a:endParaRPr/>
          </a:p>
        </p:txBody>
      </p:sp>
      <p:sp>
        <p:nvSpPr>
          <p:cNvPr id="307" name="Google Shape;307;p30"/>
          <p:cNvSpPr txBox="1"/>
          <p:nvPr>
            <p:ph idx="1" type="body"/>
          </p:nvPr>
        </p:nvSpPr>
        <p:spPr>
          <a:xfrm>
            <a:off x="3243200" y="1310300"/>
            <a:ext cx="5181000" cy="2628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900"/>
              <a:t>Goal: turn raw FlowCam folders into a clean, searchable, labelable dataset</a:t>
            </a:r>
            <a:endParaRPr sz="1900"/>
          </a:p>
          <a:p>
            <a:pPr indent="-349250" lvl="0" marL="457200" rtl="0" algn="l">
              <a:lnSpc>
                <a:spcPct val="150000"/>
              </a:lnSpc>
              <a:spcBef>
                <a:spcPts val="0"/>
              </a:spcBef>
              <a:spcAft>
                <a:spcPts val="0"/>
              </a:spcAft>
              <a:buSzPts val="1900"/>
              <a:buChar char="●"/>
            </a:pPr>
            <a:r>
              <a:rPr lang="en" sz="1900"/>
              <a:t>Step 1: organize it with a Python script</a:t>
            </a:r>
            <a:endParaRPr sz="1900"/>
          </a:p>
          <a:p>
            <a:pPr indent="-349250" lvl="0" marL="457200" rtl="0" algn="l">
              <a:lnSpc>
                <a:spcPct val="150000"/>
              </a:lnSpc>
              <a:spcBef>
                <a:spcPts val="0"/>
              </a:spcBef>
              <a:spcAft>
                <a:spcPts val="0"/>
              </a:spcAft>
              <a:buSzPts val="1900"/>
              <a:buChar char="●"/>
            </a:pPr>
            <a:r>
              <a:rPr lang="en" sz="1900"/>
              <a:t>Step 2: put it in a database and dashboard</a:t>
            </a:r>
            <a:endParaRPr sz="1900"/>
          </a:p>
          <a:p>
            <a:pPr indent="-349250" lvl="0" marL="457200" rtl="0" algn="l">
              <a:lnSpc>
                <a:spcPct val="150000"/>
              </a:lnSpc>
              <a:spcBef>
                <a:spcPts val="0"/>
              </a:spcBef>
              <a:spcAft>
                <a:spcPts val="0"/>
              </a:spcAft>
              <a:buSzPts val="1900"/>
              <a:buChar char="●"/>
            </a:pPr>
            <a:r>
              <a:rPr lang="en" sz="1900"/>
              <a:t>Step 3: build a tool for people to label images</a:t>
            </a:r>
            <a:endParaRPr sz="1900"/>
          </a:p>
        </p:txBody>
      </p:sp>
      <p:pic>
        <p:nvPicPr>
          <p:cNvPr id="308" name="Google Shape;308;p30"/>
          <p:cNvPicPr preferRelativeResize="0"/>
          <p:nvPr/>
        </p:nvPicPr>
        <p:blipFill>
          <a:blip r:embed="rId3">
            <a:alphaModFix/>
          </a:blip>
          <a:stretch>
            <a:fillRect/>
          </a:stretch>
        </p:blipFill>
        <p:spPr>
          <a:xfrm>
            <a:off x="570850" y="1414963"/>
            <a:ext cx="2418975" cy="2418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Methodology: Learning the data</a:t>
            </a:r>
            <a:endParaRPr/>
          </a:p>
        </p:txBody>
      </p:sp>
      <p:sp>
        <p:nvSpPr>
          <p:cNvPr id="314" name="Google Shape;314;p31"/>
          <p:cNvSpPr txBox="1"/>
          <p:nvPr>
            <p:ph idx="1" type="body"/>
          </p:nvPr>
        </p:nvSpPr>
        <p:spPr>
          <a:xfrm>
            <a:off x="720000" y="1174647"/>
            <a:ext cx="7704000" cy="2794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900"/>
              <a:t>Met with Prof. Ahlgren to learn how the data is made</a:t>
            </a:r>
            <a:endParaRPr sz="1900"/>
          </a:p>
          <a:p>
            <a:pPr indent="0" lvl="0" marL="0" rtl="0" algn="l">
              <a:lnSpc>
                <a:spcPct val="150000"/>
              </a:lnSpc>
              <a:spcBef>
                <a:spcPts val="0"/>
              </a:spcBef>
              <a:spcAft>
                <a:spcPts val="0"/>
              </a:spcAft>
              <a:buNone/>
            </a:pPr>
            <a:r>
              <a:rPr lang="en" sz="1900"/>
              <a:t>-pp means post-processed, the city’s standard</a:t>
            </a:r>
            <a:endParaRPr sz="1900"/>
          </a:p>
          <a:p>
            <a:pPr indent="0" lvl="0" marL="0" rtl="0" algn="l">
              <a:lnSpc>
                <a:spcPct val="150000"/>
              </a:lnSpc>
              <a:spcBef>
                <a:spcPts val="0"/>
              </a:spcBef>
              <a:spcAft>
                <a:spcPts val="0"/>
              </a:spcAft>
              <a:buNone/>
            </a:pPr>
            <a:r>
              <a:rPr lang="en" sz="1900"/>
              <a:t>TR/TM = trigger mode and AI = autoimage mode</a:t>
            </a:r>
            <a:endParaRPr sz="1900"/>
          </a:p>
          <a:p>
            <a:pPr indent="0" lvl="0" marL="0" rtl="0" algn="l">
              <a:lnSpc>
                <a:spcPct val="150000"/>
              </a:lnSpc>
              <a:spcBef>
                <a:spcPts val="0"/>
              </a:spcBef>
              <a:spcAft>
                <a:spcPts val="0"/>
              </a:spcAft>
              <a:buNone/>
            </a:pPr>
            <a:r>
              <a:rPr lang="en" sz="1900"/>
              <a:t>Dilution is in the name, and magnification is 10x unless noted</a:t>
            </a:r>
            <a:endParaRPr sz="1900"/>
          </a:p>
          <a:p>
            <a:pPr indent="0" lvl="0" marL="0" rtl="0" algn="l">
              <a:lnSpc>
                <a:spcPct val="150000"/>
              </a:lnSpc>
              <a:spcBef>
                <a:spcPts val="0"/>
              </a:spcBef>
              <a:spcAft>
                <a:spcPts val="0"/>
              </a:spcAft>
              <a:buNone/>
            </a:pPr>
            <a:r>
              <a:rPr lang="en" sz="1900"/>
              <a:t>Also learned from a paper on a FlowCam image pipeline</a:t>
            </a: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1: Python Script</a:t>
            </a:r>
            <a:endParaRPr/>
          </a:p>
        </p:txBody>
      </p:sp>
      <p:sp>
        <p:nvSpPr>
          <p:cNvPr id="320" name="Google Shape;320;p32"/>
          <p:cNvSpPr txBox="1"/>
          <p:nvPr>
            <p:ph idx="1" type="body"/>
          </p:nvPr>
        </p:nvSpPr>
        <p:spPr>
          <a:xfrm>
            <a:off x="720000" y="1174652"/>
            <a:ext cx="7704000" cy="43119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900"/>
              <a:t>Reads each folder name and extracts site, date, magnification, dilution and capture mode</a:t>
            </a:r>
            <a:endParaRPr sz="1900"/>
          </a:p>
          <a:p>
            <a:pPr indent="0" lvl="0" marL="0" rtl="0" algn="l">
              <a:lnSpc>
                <a:spcPct val="150000"/>
              </a:lnSpc>
              <a:spcBef>
                <a:spcPts val="0"/>
              </a:spcBef>
              <a:spcAft>
                <a:spcPts val="0"/>
              </a:spcAft>
              <a:buNone/>
            </a:pPr>
            <a:r>
              <a:rPr lang="en" sz="1900"/>
              <a:t>Cleans up site names</a:t>
            </a:r>
            <a:endParaRPr sz="1900"/>
          </a:p>
          <a:p>
            <a:pPr indent="0" lvl="0" marL="0" rtl="0" algn="l">
              <a:lnSpc>
                <a:spcPct val="150000"/>
              </a:lnSpc>
              <a:spcBef>
                <a:spcPts val="0"/>
              </a:spcBef>
              <a:spcAft>
                <a:spcPts val="0"/>
              </a:spcAft>
              <a:buNone/>
            </a:pPr>
            <a:r>
              <a:rPr lang="en" sz="1900"/>
              <a:t>Uses the -pp folder when both versions exist</a:t>
            </a:r>
            <a:endParaRPr sz="1900"/>
          </a:p>
          <a:p>
            <a:pPr indent="0" lvl="0" marL="0" rtl="0" algn="l">
              <a:lnSpc>
                <a:spcPct val="150000"/>
              </a:lnSpc>
              <a:spcBef>
                <a:spcPts val="0"/>
              </a:spcBef>
              <a:spcAft>
                <a:spcPts val="0"/>
              </a:spcAft>
              <a:buNone/>
            </a:pPr>
            <a:r>
              <a:rPr lang="en" sz="1900"/>
              <a:t>Checks that every image opens (Pillow)</a:t>
            </a:r>
            <a:endParaRPr sz="1900"/>
          </a:p>
          <a:p>
            <a:pPr indent="0" lvl="0" marL="0" rtl="0" algn="l">
              <a:lnSpc>
                <a:spcPct val="150000"/>
              </a:lnSpc>
              <a:spcBef>
                <a:spcPts val="0"/>
              </a:spcBef>
              <a:spcAft>
                <a:spcPts val="0"/>
              </a:spcAft>
              <a:buNone/>
            </a:pPr>
            <a:r>
              <a:rPr lang="en" sz="1900"/>
              <a:t>Output: one spreadsheet row per image (folder_name	site_raw	site_normalized, water_body_type, date, magnification, sample_code, capture_mode, dilution, is_pp, image_count, unreadable_count)</a:t>
            </a:r>
            <a:endParaRPr sz="1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1: Script Results</a:t>
            </a:r>
            <a:endParaRPr/>
          </a:p>
        </p:txBody>
      </p:sp>
      <p:sp>
        <p:nvSpPr>
          <p:cNvPr id="326" name="Google Shape;326;p33"/>
          <p:cNvSpPr txBox="1"/>
          <p:nvPr>
            <p:ph idx="1" type="body"/>
          </p:nvPr>
        </p:nvSpPr>
        <p:spPr>
          <a:xfrm>
            <a:off x="720000" y="1174647"/>
            <a:ext cx="7704000" cy="27942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511,765 images</a:t>
            </a:r>
            <a:endParaRPr sz="1900"/>
          </a:p>
          <a:p>
            <a:pPr indent="-349250" lvl="0" marL="457200" rtl="0" algn="l">
              <a:lnSpc>
                <a:spcPct val="150000"/>
              </a:lnSpc>
              <a:spcBef>
                <a:spcPts val="0"/>
              </a:spcBef>
              <a:spcAft>
                <a:spcPts val="0"/>
              </a:spcAft>
              <a:buSzPts val="1900"/>
              <a:buChar char="❖"/>
            </a:pPr>
            <a:r>
              <a:rPr lang="en" sz="1900"/>
              <a:t>613 folders, 45 sites, 36 sampling dates</a:t>
            </a:r>
            <a:endParaRPr sz="1900"/>
          </a:p>
          <a:p>
            <a:pPr indent="-349250" lvl="0" marL="457200" rtl="0" algn="l">
              <a:lnSpc>
                <a:spcPct val="150000"/>
              </a:lnSpc>
              <a:spcBef>
                <a:spcPts val="0"/>
              </a:spcBef>
              <a:spcAft>
                <a:spcPts val="0"/>
              </a:spcAft>
              <a:buSzPts val="1900"/>
              <a:buChar char="❖"/>
            </a:pPr>
            <a:r>
              <a:rPr lang="en" sz="1900"/>
              <a:t>0 unreadable files</a:t>
            </a:r>
            <a:endParaRPr sz="1900"/>
          </a:p>
          <a:p>
            <a:pPr indent="-349250" lvl="0" marL="457200" rtl="0" algn="l">
              <a:lnSpc>
                <a:spcPct val="150000"/>
              </a:lnSpc>
              <a:spcBef>
                <a:spcPts val="0"/>
              </a:spcBef>
              <a:spcAft>
                <a:spcPts val="0"/>
              </a:spcAft>
              <a:buSzPts val="1900"/>
              <a:buChar char="❖"/>
            </a:pPr>
            <a:r>
              <a:rPr lang="en" sz="1900"/>
              <a:t>31,605 duplicate images removed by using -pp folders</a:t>
            </a:r>
            <a:endParaRPr sz="1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Choosing a database</a:t>
            </a:r>
            <a:endParaRPr/>
          </a:p>
        </p:txBody>
      </p:sp>
      <p:pic>
        <p:nvPicPr>
          <p:cNvPr id="332" name="Google Shape;332;p34" title="cloudflare-logo-png_seeklogo-294312.png"/>
          <p:cNvPicPr preferRelativeResize="0"/>
          <p:nvPr/>
        </p:nvPicPr>
        <p:blipFill>
          <a:blip r:embed="rId3">
            <a:alphaModFix/>
          </a:blip>
          <a:stretch>
            <a:fillRect/>
          </a:stretch>
        </p:blipFill>
        <p:spPr>
          <a:xfrm>
            <a:off x="939273" y="1168177"/>
            <a:ext cx="1464475" cy="1464475"/>
          </a:xfrm>
          <a:prstGeom prst="rect">
            <a:avLst/>
          </a:prstGeom>
          <a:noFill/>
          <a:ln>
            <a:noFill/>
          </a:ln>
        </p:spPr>
      </p:pic>
      <p:pic>
        <p:nvPicPr>
          <p:cNvPr id="333" name="Google Shape;333;p34" title="Frame (4).png"/>
          <p:cNvPicPr preferRelativeResize="0"/>
          <p:nvPr/>
        </p:nvPicPr>
        <p:blipFill>
          <a:blip r:embed="rId4">
            <a:alphaModFix/>
          </a:blip>
          <a:stretch>
            <a:fillRect/>
          </a:stretch>
        </p:blipFill>
        <p:spPr>
          <a:xfrm>
            <a:off x="1585675" y="2903675"/>
            <a:ext cx="1609101" cy="1609101"/>
          </a:xfrm>
          <a:prstGeom prst="rect">
            <a:avLst/>
          </a:prstGeom>
          <a:noFill/>
          <a:ln>
            <a:noFill/>
          </a:ln>
        </p:spPr>
      </p:pic>
      <p:pic>
        <p:nvPicPr>
          <p:cNvPr id="334" name="Google Shape;334;p34" title="images.png"/>
          <p:cNvPicPr preferRelativeResize="0"/>
          <p:nvPr/>
        </p:nvPicPr>
        <p:blipFill>
          <a:blip r:embed="rId5">
            <a:alphaModFix/>
          </a:blip>
          <a:stretch>
            <a:fillRect/>
          </a:stretch>
        </p:blipFill>
        <p:spPr>
          <a:xfrm>
            <a:off x="3233100" y="1069800"/>
            <a:ext cx="2187275" cy="2187275"/>
          </a:xfrm>
          <a:prstGeom prst="rect">
            <a:avLst/>
          </a:prstGeom>
          <a:noFill/>
          <a:ln>
            <a:noFill/>
          </a:ln>
        </p:spPr>
      </p:pic>
      <p:pic>
        <p:nvPicPr>
          <p:cNvPr id="335" name="Google Shape;335;p34" title="images.png"/>
          <p:cNvPicPr preferRelativeResize="0"/>
          <p:nvPr/>
        </p:nvPicPr>
        <p:blipFill>
          <a:blip r:embed="rId6">
            <a:alphaModFix/>
          </a:blip>
          <a:stretch>
            <a:fillRect/>
          </a:stretch>
        </p:blipFill>
        <p:spPr>
          <a:xfrm>
            <a:off x="6785400" y="1314375"/>
            <a:ext cx="1152200" cy="1152200"/>
          </a:xfrm>
          <a:prstGeom prst="rect">
            <a:avLst/>
          </a:prstGeom>
          <a:noFill/>
          <a:ln>
            <a:noFill/>
          </a:ln>
        </p:spPr>
      </p:pic>
      <p:pic>
        <p:nvPicPr>
          <p:cNvPr id="336" name="Google Shape;336;p34" title="download.png"/>
          <p:cNvPicPr preferRelativeResize="0"/>
          <p:nvPr/>
        </p:nvPicPr>
        <p:blipFill>
          <a:blip r:embed="rId7">
            <a:alphaModFix/>
          </a:blip>
          <a:stretch>
            <a:fillRect/>
          </a:stretch>
        </p:blipFill>
        <p:spPr>
          <a:xfrm>
            <a:off x="4780951" y="2845600"/>
            <a:ext cx="2085325" cy="1336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Cloudflare &amp; Supabase work so well</a:t>
            </a:r>
            <a:endParaRPr/>
          </a:p>
        </p:txBody>
      </p:sp>
      <p:graphicFrame>
        <p:nvGraphicFramePr>
          <p:cNvPr id="342" name="Google Shape;342;p35"/>
          <p:cNvGraphicFramePr/>
          <p:nvPr/>
        </p:nvGraphicFramePr>
        <p:xfrm>
          <a:off x="1332875" y="1164250"/>
          <a:ext cx="3000000" cy="3000000"/>
        </p:xfrm>
        <a:graphic>
          <a:graphicData uri="http://schemas.openxmlformats.org/drawingml/2006/table">
            <a:tbl>
              <a:tblPr>
                <a:noFill/>
                <a:tableStyleId>{92FA6214-F1D8-4D9F-8613-095F0ADC8461}</a:tableStyleId>
              </a:tblPr>
              <a:tblGrid>
                <a:gridCol w="2181225"/>
                <a:gridCol w="1914525"/>
                <a:gridCol w="2124075"/>
              </a:tblGrid>
              <a:tr h="209550">
                <a:tc>
                  <a:txBody>
                    <a:bodyPr/>
                    <a:lstStyle/>
                    <a:p>
                      <a:pPr indent="0" lvl="0" marL="0" rtl="0" algn="ctr">
                        <a:lnSpc>
                          <a:spcPct val="115000"/>
                        </a:lnSpc>
                        <a:spcBef>
                          <a:spcPts val="0"/>
                        </a:spcBef>
                        <a:spcAft>
                          <a:spcPts val="0"/>
                        </a:spcAft>
                        <a:buNone/>
                      </a:pPr>
                      <a:r>
                        <a:rPr lang="en" sz="1100">
                          <a:latin typeface="Cairo"/>
                          <a:ea typeface="Cairo"/>
                          <a:cs typeface="Cairo"/>
                          <a:sym typeface="Cairo"/>
                        </a:rPr>
                        <a:t>What</a:t>
                      </a:r>
                      <a:endParaRPr sz="1100">
                        <a:latin typeface="Cairo"/>
                        <a:ea typeface="Cairo"/>
                        <a:cs typeface="Cairo"/>
                        <a:sym typeface="Cairo"/>
                      </a:endParaRPr>
                    </a:p>
                  </a:txBody>
                  <a:tcPr marT="91425" marB="91425" marR="91425" marL="91425"/>
                </a:tc>
                <a:tc>
                  <a:txBody>
                    <a:bodyPr/>
                    <a:lstStyle/>
                    <a:p>
                      <a:pPr indent="0" lvl="0" marL="0" rtl="0" algn="ctr">
                        <a:lnSpc>
                          <a:spcPct val="115000"/>
                        </a:lnSpc>
                        <a:spcBef>
                          <a:spcPts val="0"/>
                        </a:spcBef>
                        <a:spcAft>
                          <a:spcPts val="0"/>
                        </a:spcAft>
                        <a:buNone/>
                      </a:pPr>
                      <a:r>
                        <a:rPr lang="en" sz="1100">
                          <a:latin typeface="Cairo"/>
                          <a:ea typeface="Cairo"/>
                          <a:cs typeface="Cairo"/>
                          <a:sym typeface="Cairo"/>
                        </a:rPr>
                        <a:t>Free limit</a:t>
                      </a:r>
                      <a:endParaRPr sz="1100">
                        <a:latin typeface="Cairo"/>
                        <a:ea typeface="Cairo"/>
                        <a:cs typeface="Cairo"/>
                        <a:sym typeface="Cairo"/>
                      </a:endParaRPr>
                    </a:p>
                  </a:txBody>
                  <a:tcPr marT="91425" marB="91425" marR="91425" marL="91425"/>
                </a:tc>
                <a:tc>
                  <a:txBody>
                    <a:bodyPr/>
                    <a:lstStyle/>
                    <a:p>
                      <a:pPr indent="0" lvl="0" marL="0" rtl="0" algn="ctr">
                        <a:lnSpc>
                          <a:spcPct val="115000"/>
                        </a:lnSpc>
                        <a:spcBef>
                          <a:spcPts val="0"/>
                        </a:spcBef>
                        <a:spcAft>
                          <a:spcPts val="0"/>
                        </a:spcAft>
                        <a:buNone/>
                      </a:pPr>
                      <a:r>
                        <a:rPr lang="en" sz="1100">
                          <a:latin typeface="Cairo"/>
                          <a:ea typeface="Cairo"/>
                          <a:cs typeface="Cairo"/>
                          <a:sym typeface="Cairo"/>
                        </a:rPr>
                        <a:t>Our usage</a:t>
                      </a:r>
                      <a:endParaRPr sz="1100">
                        <a:latin typeface="Cairo"/>
                        <a:ea typeface="Cairo"/>
                        <a:cs typeface="Cairo"/>
                        <a:sym typeface="Cairo"/>
                      </a:endParaRPr>
                    </a:p>
                  </a:txBody>
                  <a:tcPr marT="91425" marB="91425" marR="91425" marL="91425"/>
                </a:tc>
              </a:tr>
              <a:tr h="209550">
                <a:tc>
                  <a:txBody>
                    <a:bodyPr/>
                    <a:lstStyle/>
                    <a:p>
                      <a:pPr indent="0" lvl="0" marL="0" rtl="0" algn="l">
                        <a:spcBef>
                          <a:spcPts val="0"/>
                        </a:spcBef>
                        <a:spcAft>
                          <a:spcPts val="0"/>
                        </a:spcAft>
                        <a:buNone/>
                      </a:pPr>
                      <a:r>
                        <a:rPr lang="en">
                          <a:latin typeface="Cairo"/>
                          <a:ea typeface="Cairo"/>
                          <a:cs typeface="Cairo"/>
                          <a:sym typeface="Cairo"/>
                        </a:rPr>
                        <a:t>Postgres database (Supabase)</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500 MB</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a:t>
                      </a:r>
                      <a:r>
                        <a:rPr lang="en">
                          <a:latin typeface="Cairo"/>
                          <a:ea typeface="Cairo"/>
                          <a:cs typeface="Cairo"/>
                          <a:sym typeface="Cairo"/>
                        </a:rPr>
                        <a:t>168 MB</a:t>
                      </a:r>
                      <a:endParaRPr>
                        <a:latin typeface="Cairo"/>
                        <a:ea typeface="Cairo"/>
                        <a:cs typeface="Cairo"/>
                        <a:sym typeface="Cairo"/>
                      </a:endParaRPr>
                    </a:p>
                  </a:txBody>
                  <a:tcPr marT="91425" marB="91425" marR="91425" marL="91425"/>
                </a:tc>
              </a:tr>
              <a:tr h="209550">
                <a:tc>
                  <a:txBody>
                    <a:bodyPr/>
                    <a:lstStyle/>
                    <a:p>
                      <a:pPr indent="0" lvl="0" marL="0" rtl="0" algn="l">
                        <a:spcBef>
                          <a:spcPts val="0"/>
                        </a:spcBef>
                        <a:spcAft>
                          <a:spcPts val="0"/>
                        </a:spcAft>
                        <a:buNone/>
                      </a:pPr>
                      <a:r>
                        <a:rPr lang="en">
                          <a:latin typeface="Cairo"/>
                          <a:ea typeface="Cairo"/>
                          <a:cs typeface="Cairo"/>
                          <a:sym typeface="Cairo"/>
                        </a:rPr>
                        <a:t>Image storage (Cloudflare R2)</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10 GB</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a:t>
                      </a:r>
                      <a:r>
                        <a:rPr lang="en">
                          <a:latin typeface="Cairo"/>
                          <a:ea typeface="Cairo"/>
                          <a:cs typeface="Cairo"/>
                          <a:sym typeface="Cairo"/>
                        </a:rPr>
                        <a:t>3.65 GB (511,765 images)</a:t>
                      </a:r>
                      <a:endParaRPr>
                        <a:latin typeface="Cairo"/>
                        <a:ea typeface="Cairo"/>
                        <a:cs typeface="Cairo"/>
                        <a:sym typeface="Cairo"/>
                      </a:endParaRPr>
                    </a:p>
                  </a:txBody>
                  <a:tcPr marT="91425" marB="91425" marR="91425" marL="91425"/>
                </a:tc>
              </a:tr>
              <a:tr h="209550">
                <a:tc>
                  <a:txBody>
                    <a:bodyPr/>
                    <a:lstStyle/>
                    <a:p>
                      <a:pPr indent="0" lvl="0" marL="0" rtl="0" algn="l">
                        <a:spcBef>
                          <a:spcPts val="0"/>
                        </a:spcBef>
                        <a:spcAft>
                          <a:spcPts val="0"/>
                        </a:spcAft>
                        <a:buNone/>
                      </a:pPr>
                      <a:r>
                        <a:rPr lang="en">
                          <a:latin typeface="Cairo"/>
                          <a:ea typeface="Cairo"/>
                          <a:cs typeface="Cairo"/>
                          <a:sym typeface="Cairo"/>
                        </a:rPr>
                        <a:t>Image downloads from R2</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free, with no bandwidth charge</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a:t>
                      </a:r>
                      <a:endParaRPr>
                        <a:latin typeface="Cairo"/>
                        <a:ea typeface="Cairo"/>
                        <a:cs typeface="Cairo"/>
                        <a:sym typeface="Cairo"/>
                      </a:endParaRPr>
                    </a:p>
                  </a:txBody>
                  <a:tcPr marT="91425" marB="91425" marR="91425" marL="91425"/>
                </a:tc>
              </a:tr>
              <a:tr h="693300">
                <a:tc>
                  <a:txBody>
                    <a:bodyPr/>
                    <a:lstStyle/>
                    <a:p>
                      <a:pPr indent="0" lvl="0" marL="0" rtl="0" algn="l">
                        <a:spcBef>
                          <a:spcPts val="0"/>
                        </a:spcBef>
                        <a:spcAft>
                          <a:spcPts val="0"/>
                        </a:spcAft>
                        <a:buNone/>
                      </a:pPr>
                      <a:r>
                        <a:rPr lang="en">
                          <a:latin typeface="Cairo"/>
                          <a:ea typeface="Cairo"/>
                          <a:cs typeface="Cairo"/>
                          <a:sym typeface="Cairo"/>
                        </a:rPr>
                        <a:t>Image server (Cloudflare Worker)</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100,000 requests per day</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No more than 10,000 a day</a:t>
                      </a:r>
                      <a:endParaRPr>
                        <a:latin typeface="Cairo"/>
                        <a:ea typeface="Cairo"/>
                        <a:cs typeface="Cairo"/>
                        <a:sym typeface="Cairo"/>
                      </a:endParaRPr>
                    </a:p>
                  </a:txBody>
                  <a:tcPr marT="91425" marB="91425" marR="91425" marL="91425"/>
                </a:tc>
              </a:tr>
              <a:tr h="209550">
                <a:tc>
                  <a:txBody>
                    <a:bodyPr/>
                    <a:lstStyle/>
                    <a:p>
                      <a:pPr indent="0" lvl="0" marL="0" rtl="0" algn="l">
                        <a:spcBef>
                          <a:spcPts val="0"/>
                        </a:spcBef>
                        <a:spcAft>
                          <a:spcPts val="0"/>
                        </a:spcAft>
                        <a:buNone/>
                      </a:pPr>
                      <a:r>
                        <a:rPr lang="en">
                          <a:latin typeface="Cairo"/>
                          <a:ea typeface="Cairo"/>
                          <a:cs typeface="Cairo"/>
                          <a:sym typeface="Cairo"/>
                        </a:rPr>
                        <a:t>Website hosting (Cloudflare Pages)</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no traffic charge</a:t>
                      </a:r>
                      <a:endParaRPr>
                        <a:latin typeface="Cairo"/>
                        <a:ea typeface="Cairo"/>
                        <a:cs typeface="Cairo"/>
                        <a:sym typeface="Cairo"/>
                      </a:endParaRPr>
                    </a:p>
                  </a:txBody>
                  <a:tcPr marT="91425" marB="91425" marR="91425" marL="91425"/>
                </a:tc>
                <a:tc>
                  <a:txBody>
                    <a:bodyPr/>
                    <a:lstStyle/>
                    <a:p>
                      <a:pPr indent="0" lvl="0" marL="0" rtl="0" algn="l">
                        <a:spcBef>
                          <a:spcPts val="0"/>
                        </a:spcBef>
                        <a:spcAft>
                          <a:spcPts val="0"/>
                        </a:spcAft>
                        <a:buNone/>
                      </a:pPr>
                      <a:r>
                        <a:rPr lang="en">
                          <a:latin typeface="Cairo"/>
                          <a:ea typeface="Cairo"/>
                          <a:cs typeface="Cairo"/>
                          <a:sym typeface="Cairo"/>
                        </a:rPr>
                        <a:t>—</a:t>
                      </a:r>
                      <a:endParaRPr>
                        <a:latin typeface="Cairo"/>
                        <a:ea typeface="Cairo"/>
                        <a:cs typeface="Cairo"/>
                        <a:sym typeface="Cairo"/>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id="347" name="Google Shape;347;p36" title="plan_a_architecture.png"/>
          <p:cNvPicPr preferRelativeResize="0"/>
          <p:nvPr/>
        </p:nvPicPr>
        <p:blipFill rotWithShape="1">
          <a:blip r:embed="rId3">
            <a:alphaModFix/>
          </a:blip>
          <a:srcRect b="-9" l="0" r="0" t="10073"/>
          <a:stretch/>
        </p:blipFill>
        <p:spPr>
          <a:xfrm>
            <a:off x="700350" y="528700"/>
            <a:ext cx="7607852" cy="3785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3: The Dashboard</a:t>
            </a:r>
            <a:endParaRPr/>
          </a:p>
        </p:txBody>
      </p:sp>
      <p:sp>
        <p:nvSpPr>
          <p:cNvPr id="353" name="Google Shape;353;p37"/>
          <p:cNvSpPr txBox="1"/>
          <p:nvPr>
            <p:ph idx="1" type="body"/>
          </p:nvPr>
        </p:nvSpPr>
        <p:spPr>
          <a:xfrm>
            <a:off x="720000" y="1174647"/>
            <a:ext cx="7704000" cy="27942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Anyone can browse, filter and download images</a:t>
            </a:r>
            <a:endParaRPr sz="1900"/>
          </a:p>
          <a:p>
            <a:pPr indent="-349250" lvl="0" marL="457200" rtl="0" algn="l">
              <a:lnSpc>
                <a:spcPct val="150000"/>
              </a:lnSpc>
              <a:spcBef>
                <a:spcPts val="0"/>
              </a:spcBef>
              <a:spcAft>
                <a:spcPts val="0"/>
              </a:spcAft>
              <a:buSzPts val="1900"/>
              <a:buChar char="●"/>
            </a:pPr>
            <a:r>
              <a:rPr lang="en" sz="1900"/>
              <a:t>Filters: site, date, water body, magnification</a:t>
            </a:r>
            <a:endParaRPr sz="1900"/>
          </a:p>
          <a:p>
            <a:pPr indent="-349250" lvl="0" marL="457200" rtl="0" algn="l">
              <a:lnSpc>
                <a:spcPct val="150000"/>
              </a:lnSpc>
              <a:spcBef>
                <a:spcPts val="0"/>
              </a:spcBef>
              <a:spcAft>
                <a:spcPts val="0"/>
              </a:spcAft>
              <a:buSzPts val="1900"/>
              <a:buChar char="●"/>
            </a:pPr>
            <a:r>
              <a:rPr lang="en" sz="1900"/>
              <a:t>Charts and a detail view for each folder</a:t>
            </a:r>
            <a:endParaRPr sz="1900"/>
          </a:p>
          <a:p>
            <a:pPr indent="-349250" lvl="0" marL="457200" rtl="0" algn="l">
              <a:lnSpc>
                <a:spcPct val="150000"/>
              </a:lnSpc>
              <a:spcBef>
                <a:spcPts val="0"/>
              </a:spcBef>
              <a:spcAft>
                <a:spcPts val="0"/>
              </a:spcAft>
              <a:buSzPts val="1900"/>
              <a:buChar char="●"/>
            </a:pPr>
            <a:r>
              <a:rPr lang="en" sz="1900"/>
              <a:t>Light and dark mode, works on phones</a:t>
            </a:r>
            <a:endParaRPr sz="1900"/>
          </a:p>
          <a:p>
            <a:pPr indent="-349250" lvl="0" marL="457200" rtl="0" algn="l">
              <a:lnSpc>
                <a:spcPct val="150000"/>
              </a:lnSpc>
              <a:spcBef>
                <a:spcPts val="0"/>
              </a:spcBef>
              <a:spcAft>
                <a:spcPts val="0"/>
              </a:spcAft>
              <a:buSzPts val="1900"/>
              <a:buChar char="●"/>
            </a:pPr>
            <a:r>
              <a:rPr lang="en" sz="1900"/>
              <a:t>Admin page that allows authorized users to change users access level</a:t>
            </a:r>
            <a:endParaRPr sz="1900"/>
          </a:p>
          <a:p>
            <a:pPr indent="-349250" lvl="0" marL="457200" rtl="0" algn="l">
              <a:lnSpc>
                <a:spcPct val="150000"/>
              </a:lnSpc>
              <a:spcBef>
                <a:spcPts val="0"/>
              </a:spcBef>
              <a:spcAft>
                <a:spcPts val="0"/>
              </a:spcAft>
              <a:buSzPts val="1900"/>
              <a:buChar char="●"/>
            </a:pPr>
            <a:r>
              <a:rPr lang="en" sz="1900"/>
              <a:t>Available at: </a:t>
            </a:r>
            <a:r>
              <a:rPr lang="en" sz="1900" u="sng">
                <a:solidFill>
                  <a:schemeClr val="hlink"/>
                </a:solidFill>
                <a:hlinkClick r:id="rId3"/>
              </a:rPr>
              <a:t>https://water-sample-dashboard.pages.dev/</a:t>
            </a:r>
            <a:endParaRPr sz="1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38" title="Screenshot 2026-10-08 122310.png"/>
          <p:cNvPicPr preferRelativeResize="0"/>
          <p:nvPr/>
        </p:nvPicPr>
        <p:blipFill rotWithShape="1">
          <a:blip r:embed="rId3">
            <a:alphaModFix/>
          </a:blip>
          <a:srcRect b="0" l="12014" r="12143" t="8584"/>
          <a:stretch/>
        </p:blipFill>
        <p:spPr>
          <a:xfrm>
            <a:off x="3154225" y="615383"/>
            <a:ext cx="2212200" cy="1433100"/>
          </a:xfrm>
          <a:prstGeom prst="rect">
            <a:avLst/>
          </a:prstGeom>
          <a:noFill/>
          <a:ln>
            <a:noFill/>
          </a:ln>
        </p:spPr>
      </p:pic>
      <p:pic>
        <p:nvPicPr>
          <p:cNvPr id="359" name="Google Shape;359;p38" title="Screenshot 2026-10-08 121932.png"/>
          <p:cNvPicPr preferRelativeResize="0"/>
          <p:nvPr/>
        </p:nvPicPr>
        <p:blipFill>
          <a:blip r:embed="rId4">
            <a:alphaModFix/>
          </a:blip>
          <a:stretch>
            <a:fillRect/>
          </a:stretch>
        </p:blipFill>
        <p:spPr>
          <a:xfrm>
            <a:off x="231125" y="633975"/>
            <a:ext cx="2558400" cy="1395900"/>
          </a:xfrm>
          <a:prstGeom prst="rect">
            <a:avLst/>
          </a:prstGeom>
          <a:noFill/>
          <a:ln>
            <a:noFill/>
          </a:ln>
        </p:spPr>
      </p:pic>
      <p:pic>
        <p:nvPicPr>
          <p:cNvPr id="360" name="Google Shape;360;p38" title="Screenshot 2026-10-08 122055.png"/>
          <p:cNvPicPr preferRelativeResize="0"/>
          <p:nvPr/>
        </p:nvPicPr>
        <p:blipFill>
          <a:blip r:embed="rId5">
            <a:alphaModFix/>
          </a:blip>
          <a:stretch>
            <a:fillRect/>
          </a:stretch>
        </p:blipFill>
        <p:spPr>
          <a:xfrm>
            <a:off x="5820300" y="592425"/>
            <a:ext cx="2496906" cy="1479000"/>
          </a:xfrm>
          <a:prstGeom prst="rect">
            <a:avLst/>
          </a:prstGeom>
          <a:noFill/>
          <a:ln>
            <a:noFill/>
          </a:ln>
        </p:spPr>
      </p:pic>
      <p:pic>
        <p:nvPicPr>
          <p:cNvPr id="361" name="Google Shape;361;p38" title="Screenshot 2026-10-08 122234.png"/>
          <p:cNvPicPr preferRelativeResize="0"/>
          <p:nvPr/>
        </p:nvPicPr>
        <p:blipFill rotWithShape="1">
          <a:blip r:embed="rId6">
            <a:alphaModFix/>
          </a:blip>
          <a:srcRect b="0" l="10477" r="11684" t="9107"/>
          <a:stretch/>
        </p:blipFill>
        <p:spPr>
          <a:xfrm>
            <a:off x="3081925" y="2509363"/>
            <a:ext cx="2356800" cy="1479000"/>
          </a:xfrm>
          <a:prstGeom prst="rect">
            <a:avLst/>
          </a:prstGeom>
          <a:noFill/>
          <a:ln>
            <a:noFill/>
          </a:ln>
        </p:spPr>
      </p:pic>
      <p:pic>
        <p:nvPicPr>
          <p:cNvPr id="362" name="Google Shape;362;p38" title="Screenshot 2026-10-08 122356.png"/>
          <p:cNvPicPr preferRelativeResize="0"/>
          <p:nvPr/>
        </p:nvPicPr>
        <p:blipFill rotWithShape="1">
          <a:blip r:embed="rId7">
            <a:alphaModFix/>
          </a:blip>
          <a:srcRect b="0" l="16066" r="16598" t="9107"/>
          <a:stretch/>
        </p:blipFill>
        <p:spPr>
          <a:xfrm>
            <a:off x="5997287" y="2446375"/>
            <a:ext cx="2212200" cy="1605000"/>
          </a:xfrm>
          <a:prstGeom prst="rect">
            <a:avLst/>
          </a:prstGeom>
          <a:noFill/>
          <a:ln>
            <a:noFill/>
          </a:ln>
        </p:spPr>
      </p:pic>
      <p:pic>
        <p:nvPicPr>
          <p:cNvPr id="363" name="Google Shape;363;p38" title="Screenshot 2026-10-08 122832.png"/>
          <p:cNvPicPr preferRelativeResize="0"/>
          <p:nvPr/>
        </p:nvPicPr>
        <p:blipFill rotWithShape="1">
          <a:blip r:embed="rId8">
            <a:alphaModFix/>
          </a:blip>
          <a:srcRect b="0" l="13863" r="14938" t="8458"/>
          <a:stretch/>
        </p:blipFill>
        <p:spPr>
          <a:xfrm>
            <a:off x="422975" y="2497375"/>
            <a:ext cx="2174700" cy="1503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4: Labeling</a:t>
            </a:r>
            <a:endParaRPr/>
          </a:p>
        </p:txBody>
      </p:sp>
      <p:sp>
        <p:nvSpPr>
          <p:cNvPr id="369" name="Google Shape;369;p39"/>
          <p:cNvSpPr txBox="1"/>
          <p:nvPr>
            <p:ph idx="1" type="body"/>
          </p:nvPr>
        </p:nvSpPr>
        <p:spPr>
          <a:xfrm>
            <a:off x="720000" y="1174647"/>
            <a:ext cx="7704000" cy="27942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Select many images at once, or press number keys to label</a:t>
            </a:r>
            <a:endParaRPr sz="1900"/>
          </a:p>
          <a:p>
            <a:pPr indent="-349250" lvl="0" marL="457200" rtl="0" algn="l">
              <a:lnSpc>
                <a:spcPct val="150000"/>
              </a:lnSpc>
              <a:spcBef>
                <a:spcPts val="0"/>
              </a:spcBef>
              <a:spcAft>
                <a:spcPts val="0"/>
              </a:spcAft>
              <a:buSzPts val="1900"/>
              <a:buChar char="●"/>
            </a:pPr>
            <a:r>
              <a:rPr lang="en" sz="1900"/>
              <a:t>Image viewer, undo, and progress tracking</a:t>
            </a:r>
            <a:endParaRPr sz="1900"/>
          </a:p>
          <a:p>
            <a:pPr indent="-349250" lvl="0" marL="457200" rtl="0" algn="l">
              <a:lnSpc>
                <a:spcPct val="150000"/>
              </a:lnSpc>
              <a:spcBef>
                <a:spcPts val="0"/>
              </a:spcBef>
              <a:spcAft>
                <a:spcPts val="0"/>
              </a:spcAft>
              <a:buSzPts val="1900"/>
              <a:buChar char="●"/>
            </a:pPr>
            <a:r>
              <a:rPr lang="en" sz="1900"/>
              <a:t>Records who labeled each image and when</a:t>
            </a:r>
            <a:endParaRPr sz="1900"/>
          </a:p>
          <a:p>
            <a:pPr indent="-349250" lvl="0" marL="457200" rtl="0" algn="l">
              <a:lnSpc>
                <a:spcPct val="150000"/>
              </a:lnSpc>
              <a:spcBef>
                <a:spcPts val="0"/>
              </a:spcBef>
              <a:spcAft>
                <a:spcPts val="0"/>
              </a:spcAft>
              <a:buSzPts val="1900"/>
              <a:buChar char="●"/>
            </a:pPr>
            <a:r>
              <a:rPr lang="en" sz="1900"/>
              <a:t>Export labels to CSV</a:t>
            </a:r>
            <a:endParaRPr sz="1900"/>
          </a:p>
          <a:p>
            <a:pPr indent="-349250" lvl="0" marL="457200" rtl="0" algn="l">
              <a:lnSpc>
                <a:spcPct val="150000"/>
              </a:lnSpc>
              <a:spcBef>
                <a:spcPts val="0"/>
              </a:spcBef>
              <a:spcAft>
                <a:spcPts val="0"/>
              </a:spcAft>
              <a:buSzPts val="1900"/>
              <a:buChar char="●"/>
            </a:pPr>
            <a:r>
              <a:rPr lang="en" sz="1900"/>
              <a:t>Only approved users can label</a:t>
            </a:r>
            <a:endParaRPr sz="1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Limitations</a:t>
            </a:r>
            <a:endParaRPr/>
          </a:p>
        </p:txBody>
      </p:sp>
      <p:sp>
        <p:nvSpPr>
          <p:cNvPr id="375" name="Google Shape;375;p40"/>
          <p:cNvSpPr txBox="1"/>
          <p:nvPr>
            <p:ph idx="1" type="body"/>
          </p:nvPr>
        </p:nvSpPr>
        <p:spPr>
          <a:xfrm>
            <a:off x="720000" y="1090189"/>
            <a:ext cx="7704000" cy="35235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648 folders, no consistent naming</a:t>
            </a:r>
            <a:endParaRPr sz="1900"/>
          </a:p>
          <a:p>
            <a:pPr indent="-349250" lvl="0" marL="457200" rtl="0" algn="l">
              <a:lnSpc>
                <a:spcPct val="150000"/>
              </a:lnSpc>
              <a:spcBef>
                <a:spcPts val="0"/>
              </a:spcBef>
              <a:spcAft>
                <a:spcPts val="0"/>
              </a:spcAft>
              <a:buSzPts val="1900"/>
              <a:buChar char="➔"/>
            </a:pPr>
            <a:r>
              <a:rPr lang="en" sz="1900"/>
              <a:t>43 raw folders that didn’t match the rest</a:t>
            </a:r>
            <a:endParaRPr sz="1900"/>
          </a:p>
          <a:p>
            <a:pPr indent="-349250" lvl="0" marL="457200" rtl="0" algn="l">
              <a:lnSpc>
                <a:spcPct val="150000"/>
              </a:lnSpc>
              <a:spcBef>
                <a:spcPts val="0"/>
              </a:spcBef>
              <a:spcAft>
                <a:spcPts val="0"/>
              </a:spcAft>
              <a:buSzPts val="1900"/>
              <a:buChar char="➔"/>
            </a:pPr>
            <a:r>
              <a:rPr lang="en" sz="1900"/>
              <a:t>37 folders missing magnification</a:t>
            </a:r>
            <a:endParaRPr sz="1900"/>
          </a:p>
          <a:p>
            <a:pPr indent="-349250" lvl="0" marL="457200" rtl="0" algn="l">
              <a:lnSpc>
                <a:spcPct val="150000"/>
              </a:lnSpc>
              <a:spcBef>
                <a:spcPts val="0"/>
              </a:spcBef>
              <a:spcAft>
                <a:spcPts val="0"/>
              </a:spcAft>
              <a:buSzPts val="1900"/>
              <a:buChar char="➔"/>
            </a:pPr>
            <a:r>
              <a:rPr lang="en" sz="1900"/>
              <a:t>-pp wasn’t a clean filter, and some -pp folders duplicated their raw versions</a:t>
            </a:r>
            <a:endParaRPr sz="1900"/>
          </a:p>
          <a:p>
            <a:pPr indent="-349250" lvl="0" marL="457200" rtl="0" algn="l">
              <a:lnSpc>
                <a:spcPct val="150000"/>
              </a:lnSpc>
              <a:spcBef>
                <a:spcPts val="0"/>
              </a:spcBef>
              <a:spcAft>
                <a:spcPts val="0"/>
              </a:spcAft>
              <a:buSzPts val="1900"/>
              <a:buChar char="➔"/>
            </a:pPr>
            <a:r>
              <a:rPr lang="en" sz="1900"/>
              <a:t>Site names didn’t match: Patch Pond vs. Patch Reservoir, Chauncey vs. Chauncy</a:t>
            </a:r>
            <a:endParaRPr sz="1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
            </a:r>
            <a:r>
              <a:rPr lang="en"/>
              <a:t>iscussion</a:t>
            </a:r>
            <a:endParaRPr/>
          </a:p>
        </p:txBody>
      </p:sp>
      <p:sp>
        <p:nvSpPr>
          <p:cNvPr id="381" name="Google Shape;381;p41"/>
          <p:cNvSpPr/>
          <p:nvPr/>
        </p:nvSpPr>
        <p:spPr>
          <a:xfrm>
            <a:off x="923200" y="1196050"/>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WCMC</a:t>
            </a:r>
            <a:endParaRPr>
              <a:latin typeface="Cairo"/>
              <a:ea typeface="Cairo"/>
              <a:cs typeface="Cairo"/>
              <a:sym typeface="Cairo"/>
            </a:endParaRPr>
          </a:p>
        </p:txBody>
      </p:sp>
      <p:sp>
        <p:nvSpPr>
          <p:cNvPr id="382" name="Google Shape;382;p41"/>
          <p:cNvSpPr/>
          <p:nvPr/>
        </p:nvSpPr>
        <p:spPr>
          <a:xfrm>
            <a:off x="3583275" y="1196050"/>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Clark University Biology Department</a:t>
            </a:r>
            <a:endParaRPr>
              <a:latin typeface="Cairo"/>
              <a:ea typeface="Cairo"/>
              <a:cs typeface="Cairo"/>
              <a:sym typeface="Cairo"/>
            </a:endParaRPr>
          </a:p>
        </p:txBody>
      </p:sp>
      <p:cxnSp>
        <p:nvCxnSpPr>
          <p:cNvPr id="383" name="Google Shape;383;p41"/>
          <p:cNvCxnSpPr>
            <a:stCxn id="381" idx="3"/>
            <a:endCxn id="382" idx="1"/>
          </p:cNvCxnSpPr>
          <p:nvPr/>
        </p:nvCxnSpPr>
        <p:spPr>
          <a:xfrm>
            <a:off x="2550400" y="1739500"/>
            <a:ext cx="1032900" cy="0"/>
          </a:xfrm>
          <a:prstGeom prst="straightConnector1">
            <a:avLst/>
          </a:prstGeom>
          <a:noFill/>
          <a:ln cap="flat" cmpd="sng" w="9525">
            <a:solidFill>
              <a:schemeClr val="dk1"/>
            </a:solidFill>
            <a:prstDash val="solid"/>
            <a:round/>
            <a:headEnd len="med" w="med" type="none"/>
            <a:tailEnd len="med" w="med" type="triangle"/>
          </a:ln>
        </p:spPr>
      </p:cxnSp>
      <p:sp>
        <p:nvSpPr>
          <p:cNvPr id="384" name="Google Shape;384;p41"/>
          <p:cNvSpPr/>
          <p:nvPr/>
        </p:nvSpPr>
        <p:spPr>
          <a:xfrm>
            <a:off x="6243375" y="1196050"/>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Over 500 Thousand PNG files</a:t>
            </a:r>
            <a:endParaRPr>
              <a:latin typeface="Cairo"/>
              <a:ea typeface="Cairo"/>
              <a:cs typeface="Cairo"/>
              <a:sym typeface="Cairo"/>
            </a:endParaRPr>
          </a:p>
        </p:txBody>
      </p:sp>
      <p:cxnSp>
        <p:nvCxnSpPr>
          <p:cNvPr id="385" name="Google Shape;385;p41"/>
          <p:cNvCxnSpPr>
            <a:endCxn id="384" idx="1"/>
          </p:cNvCxnSpPr>
          <p:nvPr/>
        </p:nvCxnSpPr>
        <p:spPr>
          <a:xfrm>
            <a:off x="5210475" y="1739500"/>
            <a:ext cx="1032900" cy="0"/>
          </a:xfrm>
          <a:prstGeom prst="straightConnector1">
            <a:avLst/>
          </a:prstGeom>
          <a:noFill/>
          <a:ln cap="flat" cmpd="sng" w="9525">
            <a:solidFill>
              <a:schemeClr val="dk1"/>
            </a:solidFill>
            <a:prstDash val="solid"/>
            <a:round/>
            <a:headEnd len="med" w="med" type="none"/>
            <a:tailEnd len="med" w="med" type="triangle"/>
          </a:ln>
        </p:spPr>
      </p:cxnSp>
      <p:cxnSp>
        <p:nvCxnSpPr>
          <p:cNvPr id="386" name="Google Shape;386;p41"/>
          <p:cNvCxnSpPr>
            <a:stCxn id="384" idx="2"/>
          </p:cNvCxnSpPr>
          <p:nvPr/>
        </p:nvCxnSpPr>
        <p:spPr>
          <a:xfrm flipH="1">
            <a:off x="2539275" y="2282950"/>
            <a:ext cx="4517700" cy="507000"/>
          </a:xfrm>
          <a:prstGeom prst="straightConnector1">
            <a:avLst/>
          </a:prstGeom>
          <a:noFill/>
          <a:ln cap="flat" cmpd="sng" w="9525">
            <a:solidFill>
              <a:schemeClr val="dk1"/>
            </a:solidFill>
            <a:prstDash val="solid"/>
            <a:round/>
            <a:headEnd len="med" w="med" type="none"/>
            <a:tailEnd len="med" w="med" type="triangle"/>
          </a:ln>
        </p:spPr>
      </p:cxnSp>
      <p:sp>
        <p:nvSpPr>
          <p:cNvPr id="387" name="Google Shape;387;p41"/>
          <p:cNvSpPr/>
          <p:nvPr/>
        </p:nvSpPr>
        <p:spPr>
          <a:xfrm>
            <a:off x="923200" y="2724875"/>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a:t>
            </a:r>
            <a:endParaRPr>
              <a:latin typeface="Cairo"/>
              <a:ea typeface="Cairo"/>
              <a:cs typeface="Cairo"/>
              <a:sym typeface="Cairo"/>
            </a:endParaRPr>
          </a:p>
        </p:txBody>
      </p:sp>
      <p:sp>
        <p:nvSpPr>
          <p:cNvPr id="388" name="Google Shape;388;p41"/>
          <p:cNvSpPr/>
          <p:nvPr/>
        </p:nvSpPr>
        <p:spPr>
          <a:xfrm>
            <a:off x="3594375" y="2724875"/>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Clark University Biology Department</a:t>
            </a:r>
            <a:endParaRPr>
              <a:latin typeface="Cairo"/>
              <a:ea typeface="Cairo"/>
              <a:cs typeface="Cairo"/>
              <a:sym typeface="Cairo"/>
            </a:endParaRPr>
          </a:p>
        </p:txBody>
      </p:sp>
      <p:cxnSp>
        <p:nvCxnSpPr>
          <p:cNvPr id="389" name="Google Shape;389;p41"/>
          <p:cNvCxnSpPr>
            <a:endCxn id="388" idx="1"/>
          </p:cNvCxnSpPr>
          <p:nvPr/>
        </p:nvCxnSpPr>
        <p:spPr>
          <a:xfrm>
            <a:off x="2561475" y="3268325"/>
            <a:ext cx="1032900" cy="0"/>
          </a:xfrm>
          <a:prstGeom prst="straightConnector1">
            <a:avLst/>
          </a:prstGeom>
          <a:noFill/>
          <a:ln cap="flat" cmpd="sng" w="9525">
            <a:solidFill>
              <a:schemeClr val="dk1"/>
            </a:solidFill>
            <a:prstDash val="solid"/>
            <a:round/>
            <a:headEnd len="med" w="med" type="none"/>
            <a:tailEnd len="med" w="med" type="triangle"/>
          </a:ln>
        </p:spPr>
      </p:cxnSp>
      <p:sp>
        <p:nvSpPr>
          <p:cNvPr id="390" name="Google Shape;390;p41"/>
          <p:cNvSpPr/>
          <p:nvPr/>
        </p:nvSpPr>
        <p:spPr>
          <a:xfrm>
            <a:off x="6254475" y="2724875"/>
            <a:ext cx="1627200" cy="1086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WCMC</a:t>
            </a:r>
            <a:endParaRPr>
              <a:latin typeface="Cairo"/>
              <a:ea typeface="Cairo"/>
              <a:cs typeface="Cairo"/>
              <a:sym typeface="Cairo"/>
            </a:endParaRPr>
          </a:p>
        </p:txBody>
      </p:sp>
      <p:cxnSp>
        <p:nvCxnSpPr>
          <p:cNvPr id="391" name="Google Shape;391;p41"/>
          <p:cNvCxnSpPr>
            <a:endCxn id="390" idx="1"/>
          </p:cNvCxnSpPr>
          <p:nvPr/>
        </p:nvCxnSpPr>
        <p:spPr>
          <a:xfrm>
            <a:off x="5221575" y="3268325"/>
            <a:ext cx="10329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t>
            </a:r>
            <a:r>
              <a:rPr lang="en"/>
              <a:t>uture work</a:t>
            </a:r>
            <a:endParaRPr/>
          </a:p>
        </p:txBody>
      </p:sp>
      <p:sp>
        <p:nvSpPr>
          <p:cNvPr id="397" name="Google Shape;397;p42"/>
          <p:cNvSpPr txBox="1"/>
          <p:nvPr>
            <p:ph idx="1" type="body"/>
          </p:nvPr>
        </p:nvSpPr>
        <p:spPr>
          <a:xfrm>
            <a:off x="720000" y="1174647"/>
            <a:ext cx="7704000" cy="27942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Determine label </a:t>
            </a:r>
            <a:r>
              <a:rPr lang="en" sz="1900"/>
              <a:t>categories</a:t>
            </a:r>
            <a:endParaRPr sz="1900"/>
          </a:p>
          <a:p>
            <a:pPr indent="-349250" lvl="0" marL="457200" rtl="0" algn="l">
              <a:lnSpc>
                <a:spcPct val="150000"/>
              </a:lnSpc>
              <a:spcBef>
                <a:spcPts val="0"/>
              </a:spcBef>
              <a:spcAft>
                <a:spcPts val="0"/>
              </a:spcAft>
              <a:buSzPts val="1900"/>
              <a:buChar char="●"/>
            </a:pPr>
            <a:r>
              <a:rPr lang="en" sz="1900"/>
              <a:t>Labelling system</a:t>
            </a:r>
            <a:endParaRPr sz="1900"/>
          </a:p>
          <a:p>
            <a:pPr indent="-349250" lvl="0" marL="457200" rtl="0" algn="l">
              <a:lnSpc>
                <a:spcPct val="150000"/>
              </a:lnSpc>
              <a:spcBef>
                <a:spcPts val="0"/>
              </a:spcBef>
              <a:spcAft>
                <a:spcPts val="0"/>
              </a:spcAft>
              <a:buSzPts val="1900"/>
              <a:buChar char="●"/>
            </a:pPr>
            <a:r>
              <a:rPr lang="en" sz="1900"/>
              <a:t>Merge Chloe’s work</a:t>
            </a:r>
            <a:endParaRPr sz="1900"/>
          </a:p>
          <a:p>
            <a:pPr indent="-349250" lvl="0" marL="457200" rtl="0" algn="l">
              <a:lnSpc>
                <a:spcPct val="150000"/>
              </a:lnSpc>
              <a:spcBef>
                <a:spcPts val="0"/>
              </a:spcBef>
              <a:spcAft>
                <a:spcPts val="0"/>
              </a:spcAft>
              <a:buSzPts val="1900"/>
              <a:buChar char="●"/>
            </a:pPr>
            <a:r>
              <a:rPr lang="en" sz="1900"/>
              <a:t>Perfect the admin page</a:t>
            </a:r>
            <a:endParaRPr sz="1900"/>
          </a:p>
          <a:p>
            <a:pPr indent="-349250" lvl="0" marL="457200" rtl="0" algn="l">
              <a:lnSpc>
                <a:spcPct val="150000"/>
              </a:lnSpc>
              <a:spcBef>
                <a:spcPts val="0"/>
              </a:spcBef>
              <a:spcAft>
                <a:spcPts val="0"/>
              </a:spcAft>
              <a:buSzPts val="1900"/>
              <a:buChar char="●"/>
            </a:pPr>
            <a:r>
              <a:rPr lang="en" sz="1900"/>
              <a:t>Produce an ML classifier</a:t>
            </a:r>
            <a:endParaRPr sz="1900"/>
          </a:p>
          <a:p>
            <a:pPr indent="-349250" lvl="0" marL="457200" rtl="0" algn="l">
              <a:lnSpc>
                <a:spcPct val="150000"/>
              </a:lnSpc>
              <a:spcBef>
                <a:spcPts val="0"/>
              </a:spcBef>
              <a:spcAft>
                <a:spcPts val="0"/>
              </a:spcAft>
              <a:buSzPts val="1900"/>
              <a:buChar char="●"/>
            </a:pPr>
            <a:r>
              <a:rPr lang="en" sz="1900"/>
              <a:t>Meet with users</a:t>
            </a:r>
            <a:endParaRPr sz="1900"/>
          </a:p>
        </p:txBody>
      </p:sp>
      <p:pic>
        <p:nvPicPr>
          <p:cNvPr descr="a man wearing sunglasses and a red beanie holds a microphone (Provided by Tenor)" id="398" name="Google Shape;398;p42"/>
          <p:cNvPicPr preferRelativeResize="0"/>
          <p:nvPr/>
        </p:nvPicPr>
        <p:blipFill>
          <a:blip r:embed="rId3">
            <a:alphaModFix/>
          </a:blip>
          <a:stretch>
            <a:fillRect/>
          </a:stretch>
        </p:blipFill>
        <p:spPr>
          <a:xfrm>
            <a:off x="5147075" y="847850"/>
            <a:ext cx="3121000" cy="312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Thoughts: What we built</a:t>
            </a:r>
            <a:endParaRPr/>
          </a:p>
        </p:txBody>
      </p:sp>
      <p:sp>
        <p:nvSpPr>
          <p:cNvPr id="404" name="Google Shape;404;p43"/>
          <p:cNvSpPr txBox="1"/>
          <p:nvPr>
            <p:ph idx="1" type="body"/>
          </p:nvPr>
        </p:nvSpPr>
        <p:spPr>
          <a:xfrm>
            <a:off x="720000" y="1090194"/>
            <a:ext cx="7704000" cy="30174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A Python script that organized 511,765 images from 613 folders, 45 sites and 36 sampling dates</a:t>
            </a:r>
            <a:endParaRPr sz="1900"/>
          </a:p>
          <a:p>
            <a:pPr indent="-349250" lvl="0" marL="457200" rtl="0" algn="l">
              <a:lnSpc>
                <a:spcPct val="150000"/>
              </a:lnSpc>
              <a:spcBef>
                <a:spcPts val="0"/>
              </a:spcBef>
              <a:spcAft>
                <a:spcPts val="0"/>
              </a:spcAft>
              <a:buSzPts val="1900"/>
              <a:buChar char="➔"/>
            </a:pPr>
            <a:r>
              <a:rPr lang="en" sz="1900"/>
              <a:t>A free database and website: Cloudflare for images and hosting, Supabase for data and logins</a:t>
            </a:r>
            <a:endParaRPr sz="1900"/>
          </a:p>
          <a:p>
            <a:pPr indent="-349250" lvl="0" marL="457200" rtl="0" algn="l">
              <a:lnSpc>
                <a:spcPct val="150000"/>
              </a:lnSpc>
              <a:spcBef>
                <a:spcPts val="0"/>
              </a:spcBef>
              <a:spcAft>
                <a:spcPts val="0"/>
              </a:spcAft>
              <a:buSzPts val="1900"/>
              <a:buChar char="➔"/>
            </a:pPr>
            <a:r>
              <a:rPr lang="en" sz="1900"/>
              <a:t>A dashboard anyone can use to browse, filter and download images</a:t>
            </a:r>
            <a:endParaRPr sz="1900"/>
          </a:p>
          <a:p>
            <a:pPr indent="-349250" lvl="0" marL="457200" rtl="0" algn="l">
              <a:lnSpc>
                <a:spcPct val="150000"/>
              </a:lnSpc>
              <a:spcBef>
                <a:spcPts val="0"/>
              </a:spcBef>
              <a:spcAft>
                <a:spcPts val="0"/>
              </a:spcAft>
              <a:buSzPts val="1900"/>
              <a:buChar char="➔"/>
            </a:pPr>
            <a:r>
              <a:rPr lang="en" sz="1900"/>
              <a:t>A labeling tool with bulk labeling, undo, progress tracking and who/when records</a:t>
            </a:r>
            <a:endParaRPr sz="1900"/>
          </a:p>
          <a:p>
            <a:pPr indent="-349250" lvl="0" marL="457200" rtl="0" algn="l">
              <a:lnSpc>
                <a:spcPct val="150000"/>
              </a:lnSpc>
              <a:spcBef>
                <a:spcPts val="0"/>
              </a:spcBef>
              <a:spcAft>
                <a:spcPts val="0"/>
              </a:spcAft>
              <a:buSzPts val="1900"/>
              <a:buChar char="➔"/>
            </a:pPr>
            <a:r>
              <a:rPr lang="en" sz="1900"/>
              <a:t>Accessible design</a:t>
            </a:r>
            <a:endParaRPr sz="19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Thoughts: What we learned</a:t>
            </a:r>
            <a:endParaRPr/>
          </a:p>
        </p:txBody>
      </p:sp>
      <p:sp>
        <p:nvSpPr>
          <p:cNvPr id="410" name="Google Shape;410;p44"/>
          <p:cNvSpPr txBox="1"/>
          <p:nvPr>
            <p:ph idx="1" type="body"/>
          </p:nvPr>
        </p:nvSpPr>
        <p:spPr>
          <a:xfrm>
            <a:off x="720000" y="1090201"/>
            <a:ext cx="7704000" cy="3523500"/>
          </a:xfrm>
          <a:prstGeom prst="rect">
            <a:avLst/>
          </a:prstGeom>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SzPts val="1900"/>
              <a:buChar char="➔"/>
            </a:pPr>
            <a:r>
              <a:rPr lang="en" sz="1900"/>
              <a:t>Data is messy, most of the work was understanding the data, not coding</a:t>
            </a:r>
            <a:endParaRPr sz="1900"/>
          </a:p>
          <a:p>
            <a:pPr indent="-349250" lvl="0" marL="457200" rtl="0" algn="l">
              <a:lnSpc>
                <a:spcPct val="115000"/>
              </a:lnSpc>
              <a:spcBef>
                <a:spcPts val="0"/>
              </a:spcBef>
              <a:spcAft>
                <a:spcPts val="0"/>
              </a:spcAft>
              <a:buSzPts val="1900"/>
              <a:buChar char="➔"/>
            </a:pPr>
            <a:r>
              <a:rPr lang="en" sz="1900"/>
              <a:t>Ask early: Prof. Ahlgren’s answers (like what -pp means) helped us from wrong assumptions</a:t>
            </a:r>
            <a:endParaRPr sz="1900"/>
          </a:p>
          <a:p>
            <a:pPr indent="-349250" lvl="0" marL="457200" rtl="0" algn="l">
              <a:lnSpc>
                <a:spcPct val="115000"/>
              </a:lnSpc>
              <a:spcBef>
                <a:spcPts val="0"/>
              </a:spcBef>
              <a:spcAft>
                <a:spcPts val="0"/>
              </a:spcAft>
              <a:buSzPts val="1900"/>
              <a:buChar char="➔"/>
            </a:pPr>
            <a:r>
              <a:rPr lang="en" sz="1900"/>
              <a:t>Check your assumptions: -pp wasn’t a great filter, and we found 31,605 duplicates</a:t>
            </a:r>
            <a:endParaRPr sz="1900"/>
          </a:p>
          <a:p>
            <a:pPr indent="-349250" lvl="0" marL="457200" rtl="0" algn="l">
              <a:lnSpc>
                <a:spcPct val="115000"/>
              </a:lnSpc>
              <a:spcBef>
                <a:spcPts val="0"/>
              </a:spcBef>
              <a:spcAft>
                <a:spcPts val="0"/>
              </a:spcAft>
              <a:buSzPts val="1900"/>
              <a:buChar char="➔"/>
            </a:pPr>
            <a:r>
              <a:rPr lang="en" sz="1900"/>
              <a:t>Plan for the future: choosing a free setup keeps the project alive after the semester</a:t>
            </a:r>
            <a:endParaRPr sz="1900"/>
          </a:p>
          <a:p>
            <a:pPr indent="-349250" lvl="0" marL="457200" rtl="0" algn="l">
              <a:lnSpc>
                <a:spcPct val="115000"/>
              </a:lnSpc>
              <a:spcBef>
                <a:spcPts val="0"/>
              </a:spcBef>
              <a:spcAft>
                <a:spcPts val="0"/>
              </a:spcAft>
              <a:buSzPts val="1900"/>
              <a:buChar char="➔"/>
            </a:pPr>
            <a:r>
              <a:rPr lang="en" sz="1900"/>
              <a:t>Teamwork: the script, database, dashboard and labeling tool each came from a different part of the team</a:t>
            </a:r>
            <a:endParaRPr sz="19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Vs After</a:t>
            </a:r>
            <a:endParaRPr/>
          </a:p>
        </p:txBody>
      </p:sp>
      <p:sp>
        <p:nvSpPr>
          <p:cNvPr id="416" name="Google Shape;416;p45"/>
          <p:cNvSpPr txBox="1"/>
          <p:nvPr>
            <p:ph idx="1" type="body"/>
          </p:nvPr>
        </p:nvSpPr>
        <p:spPr>
          <a:xfrm>
            <a:off x="720000" y="1090201"/>
            <a:ext cx="7704000" cy="3523500"/>
          </a:xfrm>
          <a:prstGeom prst="rect">
            <a:avLst/>
          </a:prstGeom>
        </p:spPr>
        <p:txBody>
          <a:bodyPr anchorCtr="0" anchor="t" bIns="91425" lIns="91425" spcFirstLastPara="1" rIns="91425" wrap="square" tIns="91425">
            <a:noAutofit/>
          </a:bodyPr>
          <a:lstStyle/>
          <a:p>
            <a:pPr indent="-349250" lvl="0" marL="457200" rtl="0" algn="l">
              <a:lnSpc>
                <a:spcPct val="150000"/>
              </a:lnSpc>
              <a:spcBef>
                <a:spcPts val="0"/>
              </a:spcBef>
              <a:spcAft>
                <a:spcPts val="0"/>
              </a:spcAft>
              <a:buSzPts val="1900"/>
              <a:buChar char="➔"/>
            </a:pPr>
            <a:r>
              <a:rPr lang="en" sz="1900"/>
              <a:t>Before: finding and comparing samples meant digging through folders by hand</a:t>
            </a:r>
            <a:endParaRPr sz="1900"/>
          </a:p>
          <a:p>
            <a:pPr indent="-349250" lvl="0" marL="457200" rtl="0" algn="l">
              <a:lnSpc>
                <a:spcPct val="150000"/>
              </a:lnSpc>
              <a:spcBef>
                <a:spcPts val="0"/>
              </a:spcBef>
              <a:spcAft>
                <a:spcPts val="0"/>
              </a:spcAft>
              <a:buSzPts val="1900"/>
              <a:buChar char="➔"/>
            </a:pPr>
            <a:r>
              <a:rPr lang="en" sz="1900"/>
              <a:t>Now: the data is searchable, documented and shared</a:t>
            </a:r>
            <a:endParaRPr sz="1900"/>
          </a:p>
          <a:p>
            <a:pPr indent="-349250" lvl="0" marL="457200" rtl="0" algn="l">
              <a:lnSpc>
                <a:spcPct val="150000"/>
              </a:lnSpc>
              <a:spcBef>
                <a:spcPts val="0"/>
              </a:spcBef>
              <a:spcAft>
                <a:spcPts val="0"/>
              </a:spcAft>
              <a:buSzPts val="1900"/>
              <a:buChar char="➔"/>
            </a:pPr>
            <a:r>
              <a:rPr lang="en" sz="1900"/>
              <a:t>It makes machine learning possible, because models need organized, labeled images</a:t>
            </a:r>
            <a:endParaRPr sz="1900"/>
          </a:p>
          <a:p>
            <a:pPr indent="0" lvl="0" marL="457200" rtl="0" algn="l">
              <a:lnSpc>
                <a:spcPct val="150000"/>
              </a:lnSpc>
              <a:spcBef>
                <a:spcPts val="0"/>
              </a:spcBef>
              <a:spcAft>
                <a:spcPts val="0"/>
              </a:spcAft>
              <a:buNone/>
            </a:pPr>
            <a:r>
              <a:t/>
            </a:r>
            <a:endParaRPr sz="19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6"/>
          <p:cNvSpPr txBox="1"/>
          <p:nvPr>
            <p:ph type="ctrTitle"/>
          </p:nvPr>
        </p:nvSpPr>
        <p:spPr>
          <a:xfrm>
            <a:off x="713225" y="520900"/>
            <a:ext cx="7026000" cy="329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Thank you, </a:t>
            </a:r>
            <a:r>
              <a:rPr lang="en">
                <a:solidFill>
                  <a:schemeClr val="dk1"/>
                </a:solidFill>
              </a:rPr>
              <a:t>Prof. Han, Prof. Potter, </a:t>
            </a:r>
            <a:r>
              <a:rPr lang="en"/>
              <a:t>Prof. Ahlgren, &amp; Prof. Catalin. </a:t>
            </a:r>
            <a:endParaRPr/>
          </a:p>
        </p:txBody>
      </p:sp>
      <p:sp>
        <p:nvSpPr>
          <p:cNvPr id="422" name="Google Shape;422;p46"/>
          <p:cNvSpPr txBox="1"/>
          <p:nvPr>
            <p:ph idx="1" type="subTitle"/>
          </p:nvPr>
        </p:nvSpPr>
        <p:spPr>
          <a:xfrm>
            <a:off x="713225" y="3885650"/>
            <a:ext cx="3690600" cy="4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Sarina and Nick</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