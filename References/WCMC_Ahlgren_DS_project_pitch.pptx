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78" r:id="rId4"/>
    <p:sldId id="258" r:id="rId5"/>
    <p:sldId id="275" r:id="rId6"/>
    <p:sldId id="261" r:id="rId7"/>
    <p:sldId id="279" r:id="rId8"/>
    <p:sldId id="280" r:id="rId9"/>
    <p:sldId id="260" r:id="rId10"/>
    <p:sldId id="262" r:id="rId11"/>
    <p:sldId id="276" r:id="rId12"/>
    <p:sldId id="259" r:id="rId13"/>
    <p:sldId id="277" r:id="rId14"/>
    <p:sldId id="265" r:id="rId15"/>
    <p:sldId id="266" r:id="rId16"/>
    <p:sldId id="267" r:id="rId17"/>
    <p:sldId id="268" r:id="rId18"/>
    <p:sldId id="269" r:id="rId19"/>
    <p:sldId id="271" r:id="rId20"/>
    <p:sldId id="274" r:id="rId21"/>
    <p:sldId id="270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8C3EE"/>
    <a:srgbClr val="EBB2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7065"/>
    <p:restoredTop sz="96327"/>
  </p:normalViewPr>
  <p:slideViewPr>
    <p:cSldViewPr snapToGrid="0">
      <p:cViewPr varScale="1">
        <p:scale>
          <a:sx n="87" d="100"/>
          <a:sy n="87" d="100"/>
        </p:scale>
        <p:origin x="200" y="9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74C65A-5C36-AC41-A7BB-D121F92A4A65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FC4FDB-2303-8345-8CBC-CF9BE751D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919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Harmonic mean of precession and recall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F1 Score = 2 * (Precision * Recall) / (Precision + Recall)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F1 score as low as 0.6 might be considered good.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B50B85-14E0-7C4B-A3F6-D02BA10CCE8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3560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(True Positive/(False Positive + True Positive) )/ (True Positive/(True Positive + False Negative))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B50B85-14E0-7C4B-A3F6-D02BA10CCE8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8426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True positive rat/false positive rate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B50B85-14E0-7C4B-A3F6-D02BA10CCE8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236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2000" dirty="0">
                    <a:solidFill>
                      <a:srgbClr val="303742"/>
                    </a:solidFill>
                  </a:rPr>
                  <a:t>Imbalance Controls</a:t>
                </a:r>
              </a:p>
              <a:p>
                <a:r>
                  <a:rPr lang="en-US" sz="2000" dirty="0" err="1">
                    <a:solidFill>
                      <a:srgbClr val="303742"/>
                    </a:solidFill>
                  </a:rPr>
                  <a:t>neg_ratio</a:t>
                </a:r>
                <a:r>
                  <a:rPr lang="en-US" sz="2000" dirty="0">
                    <a:solidFill>
                      <a:srgbClr val="303742"/>
                    </a:solidFill>
                  </a:rPr>
                  <a:t> = 3.0 → sample 3 negatives per positive</a:t>
                </a:r>
              </a:p>
              <a:p>
                <a:r>
                  <a:rPr lang="en-US" sz="2000" dirty="0" err="1">
                    <a:solidFill>
                      <a:srgbClr val="303742"/>
                    </a:solidFill>
                  </a:rPr>
                  <a:t>synthetic_ratio</a:t>
                </a:r>
                <a:r>
                  <a:rPr lang="en-US" sz="2000" dirty="0">
                    <a:solidFill>
                      <a:srgbClr val="303742"/>
                    </a:solidFill>
                  </a:rPr>
                  <a:t> = 0.30 → 30% blended synthetic positives</a:t>
                </a:r>
              </a:p>
              <a:p>
                <a:r>
                  <a:rPr lang="en-US" sz="2000" dirty="0">
                    <a:solidFill>
                      <a:srgbClr val="303742"/>
                    </a:solidFill>
                  </a:rPr>
                  <a:t>Hard Negative Mining → mine misclassified examples; </a:t>
                </a:r>
              </a:p>
              <a:p>
                <a:r>
                  <a:rPr lang="en-US" sz="2000" dirty="0">
                    <a:solidFill>
                      <a:srgbClr val="303742"/>
                    </a:solidFill>
                  </a:rPr>
                  <a:t>expand negative pool each round</a:t>
                </a:r>
              </a:p>
              <a:p>
                <a:r>
                  <a:rPr lang="en-US" sz="2000" dirty="0">
                    <a:solidFill>
                      <a:srgbClr val="303742"/>
                    </a:solidFill>
                  </a:rPr>
                  <a:t>Scheduler: Cosine learning rate</a:t>
                </a:r>
              </a:p>
              <a:p>
                <a:r>
                  <a:rPr lang="en-US" sz="2000" dirty="0">
                    <a:solidFill>
                      <a:srgbClr val="303742"/>
                    </a:solidFill>
                  </a:rPr>
                  <a:t>Warmup: 2 epochs</a:t>
                </a:r>
              </a:p>
              <a:p>
                <a:r>
                  <a:rPr lang="en-US" sz="2000" dirty="0">
                    <a:solidFill>
                      <a:srgbClr val="303742"/>
                    </a:solidFill>
                  </a:rPr>
                  <a:t>Total training: 60 epochs</a:t>
                </a:r>
              </a:p>
              <a:p>
                <a:r>
                  <a:rPr lang="en-US" sz="2000" dirty="0">
                    <a:solidFill>
                      <a:srgbClr val="303742"/>
                    </a:solidFill>
                  </a:rPr>
                  <a:t>Batch size: 32</a:t>
                </a:r>
              </a:p>
              <a:p>
                <a:r>
                  <a:rPr lang="en-US" sz="2000" dirty="0">
                    <a:solidFill>
                      <a:srgbClr val="303742"/>
                    </a:solidFill>
                  </a:rPr>
                  <a:t>Inference / Manifest</a:t>
                </a:r>
              </a:p>
              <a:p>
                <a:r>
                  <a:rPr lang="en-US" sz="2000" dirty="0">
                    <a:solidFill>
                      <a:srgbClr val="303742"/>
                    </a:solidFill>
                  </a:rPr>
                  <a:t>Manifest stores, per head/class:</a:t>
                </a:r>
              </a:p>
              <a:p>
                <a:pPr lvl="1"/>
                <a:r>
                  <a:rPr lang="en-US" sz="2000" dirty="0">
                    <a:solidFill>
                      <a:srgbClr val="303742"/>
                    </a:solidFill>
                  </a:rPr>
                  <a:t>Temperature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>
                            <a:solidFill>
                              <a:srgbClr val="30374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>
                            <a:solidFill>
                              <a:srgbClr val="303742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ar-AE" sz="2000">
                            <a:solidFill>
                              <a:srgbClr val="303742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endParaRPr lang="ar-AE" sz="2000" dirty="0">
                  <a:solidFill>
                    <a:srgbClr val="303742"/>
                  </a:solidFill>
                </a:endParaRPr>
              </a:p>
              <a:p>
                <a:pPr lvl="1"/>
                <a:r>
                  <a:rPr lang="en-US" sz="2000" dirty="0">
                    <a:solidFill>
                      <a:srgbClr val="303742"/>
                    </a:solidFill>
                  </a:rPr>
                  <a:t>Threshold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30374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000" i="0">
                            <a:solidFill>
                              <a:srgbClr val="303742"/>
                            </a:solidFill>
                          </a:rPr>
                          <m:t>thr</m:t>
                        </m:r>
                      </m:e>
                      <m:sub>
                        <m:r>
                          <a:rPr lang="ar-AE" sz="2000">
                            <a:solidFill>
                              <a:srgbClr val="303742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endParaRPr lang="ar-AE" sz="2000" dirty="0">
                  <a:solidFill>
                    <a:srgbClr val="303742"/>
                  </a:solidFill>
                </a:endParaRPr>
              </a:p>
              <a:p>
                <a:r>
                  <a:rPr lang="en-US" sz="2000" dirty="0">
                    <a:solidFill>
                      <a:srgbClr val="303742"/>
                    </a:solidFill>
                  </a:rPr>
                  <a:t>Test-Time Augmentation (TTA): ×5; combine = uniform average</a:t>
                </a:r>
              </a:p>
              <a:p>
                <a:r>
                  <a:rPr lang="en-US" sz="2000" dirty="0">
                    <a:solidFill>
                      <a:srgbClr val="303742"/>
                    </a:solidFill>
                  </a:rPr>
                  <a:t>Decision rule:</a:t>
                </a:r>
              </a:p>
              <a:p>
                <a:pPr lvl="1"/>
                <a:r>
                  <a:rPr lang="en-US" sz="2000" dirty="0">
                    <a:solidFill>
                      <a:srgbClr val="303742"/>
                    </a:solidFill>
                  </a:rPr>
                  <a:t>For class </a:t>
                </a:r>
                <a14:m>
                  <m:oMath xmlns:m="http://schemas.openxmlformats.org/officeDocument/2006/math">
                    <m:r>
                      <a:rPr lang="en-US" sz="2000">
                        <a:solidFill>
                          <a:srgbClr val="303742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000" dirty="0">
                    <a:solidFill>
                      <a:srgbClr val="303742"/>
                    </a:solidFill>
                  </a:rPr>
                  <a:t>: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>
                            <a:solidFill>
                              <a:srgbClr val="30374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>
                            <a:solidFill>
                              <a:srgbClr val="303742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ar-AE" sz="2000">
                            <a:solidFill>
                              <a:srgbClr val="303742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ar-AE" sz="2000">
                        <a:solidFill>
                          <a:srgbClr val="30374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000">
                        <a:solidFill>
                          <a:srgbClr val="303742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ar-AE" sz="2000" i="1">
                            <a:solidFill>
                              <a:srgbClr val="30374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rgbClr val="30374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000" i="0">
                                <a:solidFill>
                                  <a:srgbClr val="303742"/>
                                </a:solidFill>
                              </a:rPr>
                              <m:t>logit</m:t>
                            </m:r>
                          </m:e>
                          <m:sub>
                            <m:r>
                              <a:rPr lang="ar-AE" sz="2000">
                                <a:solidFill>
                                  <a:srgbClr val="303742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ar-AE" sz="2000">
                            <a:solidFill>
                              <a:srgbClr val="303742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sSub>
                          <m:sSubPr>
                            <m:ctrlPr>
                              <a:rPr lang="ar-AE" sz="2000" i="1">
                                <a:solidFill>
                                  <a:srgbClr val="30374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000">
                                <a:solidFill>
                                  <a:srgbClr val="303742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ar-AE" sz="2000">
                                <a:solidFill>
                                  <a:srgbClr val="303742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e>
                    </m:d>
                  </m:oMath>
                </a14:m>
                <a:endParaRPr lang="ar-AE" sz="2000" dirty="0">
                  <a:solidFill>
                    <a:srgbClr val="303742"/>
                  </a:solidFill>
                </a:endParaRPr>
              </a:p>
              <a:p>
                <a:pPr lvl="1"/>
                <a:r>
                  <a:rPr lang="en-US" sz="2000" dirty="0">
                    <a:solidFill>
                      <a:srgbClr val="303742"/>
                    </a:solidFill>
                  </a:rPr>
                  <a:t>Use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30374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000" i="0">
                            <a:solidFill>
                              <a:srgbClr val="303742"/>
                            </a:solidFill>
                          </a:rPr>
                          <m:t>thr</m:t>
                        </m:r>
                      </m:e>
                      <m:sub>
                        <m:r>
                          <a:rPr lang="ar-AE" sz="2000">
                            <a:solidFill>
                              <a:srgbClr val="303742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ar-AE" sz="2000" dirty="0">
                    <a:solidFill>
                      <a:srgbClr val="303742"/>
                    </a:solidFill>
                  </a:rPr>
                  <a:t> </a:t>
                </a:r>
                <a:r>
                  <a:rPr lang="en-US" sz="2000" dirty="0">
                    <a:solidFill>
                      <a:srgbClr val="303742"/>
                    </a:solidFill>
                  </a:rPr>
                  <a:t>and/or argmax across classes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2000" dirty="0">
                    <a:solidFill>
                      <a:srgbClr val="303742"/>
                    </a:solidFill>
                  </a:rPr>
                  <a:t>Imbalance Controls</a:t>
                </a:r>
              </a:p>
              <a:p>
                <a:r>
                  <a:rPr lang="en-US" sz="2000" dirty="0" err="1">
                    <a:solidFill>
                      <a:srgbClr val="303742"/>
                    </a:solidFill>
                  </a:rPr>
                  <a:t>neg_ratio</a:t>
                </a:r>
                <a:r>
                  <a:rPr lang="en-US" sz="2000" dirty="0">
                    <a:solidFill>
                      <a:srgbClr val="303742"/>
                    </a:solidFill>
                  </a:rPr>
                  <a:t> = 3.0 → sample 3 negatives per positive</a:t>
                </a:r>
              </a:p>
              <a:p>
                <a:r>
                  <a:rPr lang="en-US" sz="2000" dirty="0" err="1">
                    <a:solidFill>
                      <a:srgbClr val="303742"/>
                    </a:solidFill>
                  </a:rPr>
                  <a:t>synthetic_ratio</a:t>
                </a:r>
                <a:r>
                  <a:rPr lang="en-US" sz="2000" dirty="0">
                    <a:solidFill>
                      <a:srgbClr val="303742"/>
                    </a:solidFill>
                  </a:rPr>
                  <a:t> = 0.30 → 30% blended synthetic positives</a:t>
                </a:r>
              </a:p>
              <a:p>
                <a:r>
                  <a:rPr lang="en-US" sz="2000" dirty="0">
                    <a:solidFill>
                      <a:srgbClr val="303742"/>
                    </a:solidFill>
                  </a:rPr>
                  <a:t>Hard Negative Mining → mine misclassified examples; </a:t>
                </a:r>
              </a:p>
              <a:p>
                <a:r>
                  <a:rPr lang="en-US" sz="2000" dirty="0">
                    <a:solidFill>
                      <a:srgbClr val="303742"/>
                    </a:solidFill>
                  </a:rPr>
                  <a:t>expand negative pool each round</a:t>
                </a:r>
              </a:p>
              <a:p>
                <a:r>
                  <a:rPr lang="en-US" sz="2000" dirty="0">
                    <a:solidFill>
                      <a:srgbClr val="303742"/>
                    </a:solidFill>
                  </a:rPr>
                  <a:t>Scheduler: Cosine learning rate</a:t>
                </a:r>
              </a:p>
              <a:p>
                <a:r>
                  <a:rPr lang="en-US" sz="2000" dirty="0">
                    <a:solidFill>
                      <a:srgbClr val="303742"/>
                    </a:solidFill>
                  </a:rPr>
                  <a:t>Warmup: 2 epochs</a:t>
                </a:r>
              </a:p>
              <a:p>
                <a:r>
                  <a:rPr lang="en-US" sz="2000" dirty="0">
                    <a:solidFill>
                      <a:srgbClr val="303742"/>
                    </a:solidFill>
                  </a:rPr>
                  <a:t>Total training: 60 epochs</a:t>
                </a:r>
              </a:p>
              <a:p>
                <a:r>
                  <a:rPr lang="en-US" sz="2000" dirty="0">
                    <a:solidFill>
                      <a:srgbClr val="303742"/>
                    </a:solidFill>
                  </a:rPr>
                  <a:t>Batch size: 32</a:t>
                </a:r>
              </a:p>
              <a:p>
                <a:r>
                  <a:rPr lang="en-US" sz="2000" dirty="0">
                    <a:solidFill>
                      <a:srgbClr val="303742"/>
                    </a:solidFill>
                  </a:rPr>
                  <a:t>Inference / Manifest</a:t>
                </a:r>
              </a:p>
              <a:p>
                <a:r>
                  <a:rPr lang="en-US" sz="2000" dirty="0">
                    <a:solidFill>
                      <a:srgbClr val="303742"/>
                    </a:solidFill>
                  </a:rPr>
                  <a:t>Manifest stores, per head/class:</a:t>
                </a:r>
              </a:p>
              <a:p>
                <a:pPr lvl="1"/>
                <a:r>
                  <a:rPr lang="en-US" sz="2000" dirty="0">
                    <a:solidFill>
                      <a:srgbClr val="303742"/>
                    </a:solidFill>
                  </a:rPr>
                  <a:t>Temperature </a:t>
                </a:r>
                <a:r>
                  <a:rPr lang="ar-AE" sz="2000" i="0">
                    <a:solidFill>
                      <a:srgbClr val="303742"/>
                    </a:solidFill>
                    <a:latin typeface="Cambria Math" panose="02040503050406030204" pitchFamily="18" charset="0"/>
                  </a:rPr>
                  <a:t>𝑇_𝑐</a:t>
                </a:r>
                <a:endParaRPr lang="ar-AE" sz="2000" dirty="0">
                  <a:solidFill>
                    <a:srgbClr val="303742"/>
                  </a:solidFill>
                </a:endParaRPr>
              </a:p>
              <a:p>
                <a:pPr lvl="1"/>
                <a:r>
                  <a:rPr lang="en-US" sz="2000" dirty="0">
                    <a:solidFill>
                      <a:srgbClr val="303742"/>
                    </a:solidFill>
                  </a:rPr>
                  <a:t>Threshold </a:t>
                </a:r>
                <a:r>
                  <a:rPr lang="ar-AE" sz="2000" i="0">
                    <a:solidFill>
                      <a:srgbClr val="303742"/>
                    </a:solidFill>
                    <a:latin typeface="Cambria Math" panose="02040503050406030204" pitchFamily="18" charset="0"/>
                  </a:rPr>
                  <a:t>〖</a:t>
                </a:r>
                <a:r>
                  <a:rPr lang="en-US" sz="2000" i="0">
                    <a:solidFill>
                      <a:srgbClr val="303742"/>
                    </a:solidFill>
                    <a:latin typeface="Cambria Math" panose="02040503050406030204" pitchFamily="18" charset="0"/>
                  </a:rPr>
                  <a:t>"</a:t>
                </a:r>
                <a:r>
                  <a:rPr lang="en-US" sz="2000" i="0">
                    <a:solidFill>
                      <a:srgbClr val="303742"/>
                    </a:solidFill>
                  </a:rPr>
                  <a:t>thr</a:t>
                </a:r>
                <a:r>
                  <a:rPr lang="en-US" sz="2000" i="0">
                    <a:solidFill>
                      <a:srgbClr val="303742"/>
                    </a:solidFill>
                    <a:latin typeface="Cambria Math" panose="02040503050406030204" pitchFamily="18" charset="0"/>
                  </a:rPr>
                  <a:t>" </a:t>
                </a:r>
                <a:r>
                  <a:rPr lang="ar-AE" sz="2000" i="0">
                    <a:solidFill>
                      <a:srgbClr val="303742"/>
                    </a:solidFill>
                    <a:latin typeface="Cambria Math" panose="02040503050406030204" pitchFamily="18" charset="0"/>
                  </a:rPr>
                  <a:t>〗_𝑐</a:t>
                </a:r>
                <a:endParaRPr lang="ar-AE" sz="2000" dirty="0">
                  <a:solidFill>
                    <a:srgbClr val="303742"/>
                  </a:solidFill>
                </a:endParaRPr>
              </a:p>
              <a:p>
                <a:r>
                  <a:rPr lang="en-US" sz="2000" dirty="0">
                    <a:solidFill>
                      <a:srgbClr val="303742"/>
                    </a:solidFill>
                  </a:rPr>
                  <a:t>Test-Time Augmentation (TTA): ×5; combine = uniform average</a:t>
                </a:r>
              </a:p>
              <a:p>
                <a:r>
                  <a:rPr lang="en-US" sz="2000" dirty="0">
                    <a:solidFill>
                      <a:srgbClr val="303742"/>
                    </a:solidFill>
                  </a:rPr>
                  <a:t>Decision rule:</a:t>
                </a:r>
              </a:p>
              <a:p>
                <a:pPr lvl="1"/>
                <a:r>
                  <a:rPr lang="en-US" sz="2000" dirty="0">
                    <a:solidFill>
                      <a:srgbClr val="303742"/>
                    </a:solidFill>
                  </a:rPr>
                  <a:t>For class </a:t>
                </a:r>
                <a:r>
                  <a:rPr lang="en-US" sz="2000" i="0">
                    <a:solidFill>
                      <a:srgbClr val="303742"/>
                    </a:solidFill>
                    <a:latin typeface="Cambria Math" panose="02040503050406030204" pitchFamily="18" charset="0"/>
                  </a:rPr>
                  <a:t>𝑐</a:t>
                </a:r>
                <a:r>
                  <a:rPr lang="en-US" sz="2000" dirty="0">
                    <a:solidFill>
                      <a:srgbClr val="303742"/>
                    </a:solidFill>
                  </a:rPr>
                  <a:t>: </a:t>
                </a:r>
                <a:r>
                  <a:rPr lang="ar-AE" sz="2000" i="0">
                    <a:solidFill>
                      <a:srgbClr val="303742"/>
                    </a:solidFill>
                    <a:latin typeface="Cambria Math" panose="02040503050406030204" pitchFamily="18" charset="0"/>
                  </a:rPr>
                  <a:t>𝑝_𝑐=𝜎(〖</a:t>
                </a:r>
                <a:r>
                  <a:rPr lang="en-US" sz="2000" i="0">
                    <a:solidFill>
                      <a:srgbClr val="303742"/>
                    </a:solidFill>
                    <a:latin typeface="Cambria Math" panose="02040503050406030204" pitchFamily="18" charset="0"/>
                  </a:rPr>
                  <a:t>"</a:t>
                </a:r>
                <a:r>
                  <a:rPr lang="en-US" sz="2000" i="0">
                    <a:solidFill>
                      <a:srgbClr val="303742"/>
                    </a:solidFill>
                  </a:rPr>
                  <a:t>logit</a:t>
                </a:r>
                <a:r>
                  <a:rPr lang="en-US" sz="2000" i="0">
                    <a:solidFill>
                      <a:srgbClr val="303742"/>
                    </a:solidFill>
                    <a:latin typeface="Cambria Math" panose="02040503050406030204" pitchFamily="18" charset="0"/>
                  </a:rPr>
                  <a:t>" </a:t>
                </a:r>
                <a:r>
                  <a:rPr lang="ar-AE" sz="2000" i="0">
                    <a:solidFill>
                      <a:srgbClr val="303742"/>
                    </a:solidFill>
                    <a:latin typeface="Cambria Math" panose="02040503050406030204" pitchFamily="18" charset="0"/>
                  </a:rPr>
                  <a:t>〗_𝑐/𝑇_𝑐 )</a:t>
                </a:r>
                <a:endParaRPr lang="ar-AE" sz="2000" dirty="0">
                  <a:solidFill>
                    <a:srgbClr val="303742"/>
                  </a:solidFill>
                </a:endParaRPr>
              </a:p>
              <a:p>
                <a:pPr lvl="1"/>
                <a:r>
                  <a:rPr lang="en-US" sz="2000" dirty="0">
                    <a:solidFill>
                      <a:srgbClr val="303742"/>
                    </a:solidFill>
                  </a:rPr>
                  <a:t>Use </a:t>
                </a:r>
                <a:r>
                  <a:rPr lang="ar-AE" sz="2000" i="0">
                    <a:solidFill>
                      <a:srgbClr val="303742"/>
                    </a:solidFill>
                    <a:latin typeface="Cambria Math" panose="02040503050406030204" pitchFamily="18" charset="0"/>
                  </a:rPr>
                  <a:t>〖</a:t>
                </a:r>
                <a:r>
                  <a:rPr lang="en-US" sz="2000" i="0">
                    <a:solidFill>
                      <a:srgbClr val="303742"/>
                    </a:solidFill>
                    <a:latin typeface="Cambria Math" panose="02040503050406030204" pitchFamily="18" charset="0"/>
                  </a:rPr>
                  <a:t>"</a:t>
                </a:r>
                <a:r>
                  <a:rPr lang="en-US" sz="2000" i="0">
                    <a:solidFill>
                      <a:srgbClr val="303742"/>
                    </a:solidFill>
                  </a:rPr>
                  <a:t>thr</a:t>
                </a:r>
                <a:r>
                  <a:rPr lang="en-US" sz="2000" i="0">
                    <a:solidFill>
                      <a:srgbClr val="303742"/>
                    </a:solidFill>
                    <a:latin typeface="Cambria Math" panose="02040503050406030204" pitchFamily="18" charset="0"/>
                  </a:rPr>
                  <a:t>" </a:t>
                </a:r>
                <a:r>
                  <a:rPr lang="ar-AE" sz="2000" i="0">
                    <a:solidFill>
                      <a:srgbClr val="303742"/>
                    </a:solidFill>
                    <a:latin typeface="Cambria Math" panose="02040503050406030204" pitchFamily="18" charset="0"/>
                  </a:rPr>
                  <a:t>〗_𝑐</a:t>
                </a:r>
                <a:r>
                  <a:rPr lang="ar-AE" sz="2000" dirty="0">
                    <a:solidFill>
                      <a:srgbClr val="303742"/>
                    </a:solidFill>
                  </a:rPr>
                  <a:t> </a:t>
                </a:r>
                <a:r>
                  <a:rPr lang="en-US" sz="2000" dirty="0">
                    <a:solidFill>
                      <a:srgbClr val="303742"/>
                    </a:solidFill>
                  </a:rPr>
                  <a:t>and/or argmax across classes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B50B85-14E0-7C4B-A3F6-D02BA10CCE8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9096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A2D78-6FA4-2DF9-A2DE-82C8BBA7A5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840653-7464-605A-2C16-67918C8130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CC0B9-B8C3-94BE-5C09-4B865F03F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6BF37-68F6-5947-8F59-CA2066F6D117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60E4A-54A3-81AB-521C-C4C7C58DC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8786EB-B9AC-37AD-FCDD-C1918A036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3683A-35F9-484F-AD2A-0E7F8E83B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602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9F2F9-2F71-C1F5-2A32-0751996C0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592463-6F9F-6B4C-B6EC-78C94588DF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E3ADC5-7624-9E5B-6F1E-A80FD5C1C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6BF37-68F6-5947-8F59-CA2066F6D117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6BE65A-5C24-CD62-BD68-136950037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432587-F3A1-C4EF-0C6F-98718C488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3683A-35F9-484F-AD2A-0E7F8E83B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622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4CBA6-26B6-C44A-50F2-2D934E653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74A0D3-9A4D-18A9-4762-FAAA23AEF6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2AC779-F7B2-D701-7C4F-B442A2355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6BF37-68F6-5947-8F59-CA2066F6D117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AFC5E1-C204-9660-253D-2DB708170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A8F6F-22EF-DFDE-BBF5-8DC371B2E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3683A-35F9-484F-AD2A-0E7F8E83B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807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0334A-F724-2D0C-200D-2792EB332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7351D-059C-7EE4-B195-C48FD91DBE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62ADD0-BA30-F742-6F88-130E74C5AE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5542D6-BC6C-3320-BF4B-A43A9C90B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6BF37-68F6-5947-8F59-CA2066F6D117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8C0936-4005-2C29-3126-96E3A14CF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F3D363-EC94-2681-810D-CF77BD114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3683A-35F9-484F-AD2A-0E7F8E83B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866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8F94B-2341-6231-146D-3BDF3CC70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4047D6-4A1C-7B95-BE9F-2638173770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AF2A22-BF54-AD87-CD7E-73E83DE7CC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281CA4-BBA3-6B9D-3B3F-5A0C3055EB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A28484-5880-D6FF-E5C9-A1142707B8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A154B2-1416-9F82-0D48-63F0F5792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6BF37-68F6-5947-8F59-CA2066F6D117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B3ABF9-6908-F3DE-5584-DA3869C6D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9EA275-97FA-3739-D860-4AA3FAB68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3683A-35F9-484F-AD2A-0E7F8E83B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303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4FDF8-C2D5-1043-4055-68B80C254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1E68E9-0608-2C3D-AA9C-276FD0C94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6BF37-68F6-5947-8F59-CA2066F6D117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1F7819-5211-385B-4497-0FB4D948C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0A317E-6DA0-44F1-672D-B82300836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3683A-35F9-484F-AD2A-0E7F8E83B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003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57A121-6466-6CC9-A961-8A5B8B6E5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6BF37-68F6-5947-8F59-CA2066F6D117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311353-A0E2-AA13-9BDF-B92443FD9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0BC4FA-8788-2E72-5E66-A68B6A3F8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3683A-35F9-484F-AD2A-0E7F8E83B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777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1A03F-0E70-55EE-B53F-0C0C9DAC4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5D9FDB-CC8D-23EC-907F-259DFB2907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91EB8B-5E8E-4F1B-8937-64B173C4A8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DBAB84-2BB3-F7F1-CCE7-DB9F2B655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6BF37-68F6-5947-8F59-CA2066F6D117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B6F58E-BE19-292C-6437-2BA59DF67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A95B15-252D-D7FD-EF4B-2DD4EC389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3683A-35F9-484F-AD2A-0E7F8E83B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568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A5F57-B8F7-4E4A-749A-85F3249A1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137FDD-EFEA-FEA7-344A-CCBCD137B2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DF8AC8-B611-3269-2A0C-F23ED6A592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646713-6988-ED8C-61CF-33DC25085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6BF37-68F6-5947-8F59-CA2066F6D117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A21D5E-7CB7-80C5-E671-DD976C548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A453C9-7F71-8416-9618-29175AB48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3683A-35F9-484F-AD2A-0E7F8E83B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589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C7B0C-6E90-2BF3-7EDC-A5545093B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B665F4-DE96-6450-9D06-91514C9A1D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4B7E9D-B8B3-B3FA-F546-510FFFFE1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6BF37-68F6-5947-8F59-CA2066F6D117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3CC7A-C99D-6441-D9DF-1B35532DD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5ADF8E-B78B-9687-CF01-063628200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3683A-35F9-484F-AD2A-0E7F8E83B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869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AE6D14-7124-214B-44FF-EDE40464E8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97A26F-449F-7BC5-D478-CAF47D88B3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26DA18-17EA-FEBC-D26D-F2146D563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6BF37-68F6-5947-8F59-CA2066F6D117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03AB0F-1E19-7CCB-4BBA-717BEAD89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A1682-3EA5-8558-9766-59BA08DA3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3683A-35F9-484F-AD2A-0E7F8E83B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600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CD9235-370C-F354-8A41-780B60DD0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2E9E2A-BA36-4385-11C5-B645A67FB7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DB714-C4C5-B598-3BF9-DEF3CF5C76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6BF37-68F6-5947-8F59-CA2066F6D117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2D1EDA-26F3-4D86-E2A5-2AC4681D2A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B98E2-17A1-D164-96F6-5BE526B5F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F3683A-35F9-484F-AD2A-0E7F8E83B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583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1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2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19.png"/><Relationship Id="rId5" Type="http://schemas.openxmlformats.org/officeDocument/2006/relationships/image" Target="../media/image26.png"/><Relationship Id="rId10" Type="http://schemas.openxmlformats.org/officeDocument/2006/relationships/image" Target="../media/image18.png"/><Relationship Id="rId4" Type="http://schemas.openxmlformats.org/officeDocument/2006/relationships/image" Target="../media/image25.png"/><Relationship Id="rId9" Type="http://schemas.openxmlformats.org/officeDocument/2006/relationships/image" Target="../media/image17.png"/><Relationship Id="rId1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1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2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19.png"/><Relationship Id="rId5" Type="http://schemas.openxmlformats.org/officeDocument/2006/relationships/image" Target="../media/image26.png"/><Relationship Id="rId10" Type="http://schemas.openxmlformats.org/officeDocument/2006/relationships/image" Target="../media/image18.png"/><Relationship Id="rId4" Type="http://schemas.openxmlformats.org/officeDocument/2006/relationships/image" Target="../media/image25.png"/><Relationship Id="rId9" Type="http://schemas.openxmlformats.org/officeDocument/2006/relationships/image" Target="../media/image17.png"/><Relationship Id="rId1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enviromicro-journals.onlinelibrary.wiley.com/doi/10.1111/j.1758-2229.2008.00004.x#b67" TargetMode="External"/><Relationship Id="rId2" Type="http://schemas.openxmlformats.org/officeDocument/2006/relationships/image" Target="../media/image37.gif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enviromicro-journals.onlinelibrary.wiley.com/doi/10.1111/j.1758-2229.2008.00004.x#b8" TargetMode="External"/><Relationship Id="rId5" Type="http://schemas.openxmlformats.org/officeDocument/2006/relationships/hyperlink" Target="https://enviromicro-journals.onlinelibrary.wiley.com/doi/10.1111/j.1758-2229.2008.00004.x#b3" TargetMode="External"/><Relationship Id="rId4" Type="http://schemas.openxmlformats.org/officeDocument/2006/relationships/hyperlink" Target="https://enviromicro-journals.onlinelibrary.wiley.com/doi/10.1111/j.1758-2229.2008.00004.x#b23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creen Shot 2017-02-14 at 11.37.23 PM.png">
            <a:extLst>
              <a:ext uri="{FF2B5EF4-FFF2-40B4-BE49-F238E27FC236}">
                <a16:creationId xmlns:a16="http://schemas.microsoft.com/office/drawing/2014/main" id="{0389459C-3A01-FDA6-EEEC-A6DF34A49C5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l="18713" t="45392" r="8934" b="8581"/>
          <a:stretch/>
        </p:blipFill>
        <p:spPr>
          <a:xfrm>
            <a:off x="-1" y="-109164"/>
            <a:ext cx="12192000" cy="795453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A9E8A0B-EB92-E847-6D65-2ED1C298EF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9639" y="15078"/>
            <a:ext cx="11192719" cy="2387600"/>
          </a:xfrm>
        </p:spPr>
        <p:txBody>
          <a:bodyPr>
            <a:normAutofit/>
          </a:bodyPr>
          <a:lstStyle/>
          <a:p>
            <a:r>
              <a:rPr lang="en-US" sz="5000" b="1" dirty="0">
                <a:latin typeface="Arial" panose="020B0604020202020204" pitchFamily="34" charset="0"/>
                <a:cs typeface="Arial" panose="020B0604020202020204" pitchFamily="34" charset="0"/>
              </a:rPr>
              <a:t>Using data science and machine learning address cyanobacteria </a:t>
            </a:r>
            <a:r>
              <a:rPr lang="en-US" sz="5000" b="1" dirty="0" err="1">
                <a:latin typeface="Arial" panose="020B0604020202020204" pitchFamily="34" charset="0"/>
                <a:cs typeface="Arial" panose="020B0604020202020204" pitchFamily="34" charset="0"/>
              </a:rPr>
              <a:t>bloms</a:t>
            </a:r>
            <a:r>
              <a:rPr lang="en-US" sz="5000" b="1" dirty="0"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en-US" sz="5000" b="1" dirty="0" err="1">
                <a:latin typeface="Arial" panose="020B0604020202020204" pitchFamily="34" charset="0"/>
                <a:cs typeface="Arial" panose="020B0604020202020204" pitchFamily="34" charset="0"/>
              </a:rPr>
              <a:t>Wrocester</a:t>
            </a:r>
            <a:endParaRPr lang="en-US" sz="5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131A8B-B5E0-61C9-CA5B-D2BA42992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58004" y="2571097"/>
            <a:ext cx="7075990" cy="1468120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Nathan Ahlgren </a:t>
            </a:r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Clark University, Biology Department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 descr="_CU_Horiz_Red_60-75_Tag_LG_v4.png">
            <a:extLst>
              <a:ext uri="{FF2B5EF4-FFF2-40B4-BE49-F238E27FC236}">
                <a16:creationId xmlns:a16="http://schemas.microsoft.com/office/drawing/2014/main" id="{0586B58F-7746-40FC-09E1-507CBFAB25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277" y="4764354"/>
            <a:ext cx="4858704" cy="194348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A66D68D-565D-741E-7454-544425287FBF}"/>
              </a:ext>
            </a:extLst>
          </p:cNvPr>
          <p:cNvSpPr txBox="1"/>
          <p:nvPr/>
        </p:nvSpPr>
        <p:spPr>
          <a:xfrm>
            <a:off x="9028025" y="6538558"/>
            <a:ext cx="31639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Photo: Peter </a:t>
            </a:r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Essick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 // Lake Erie</a:t>
            </a:r>
          </a:p>
        </p:txBody>
      </p:sp>
    </p:spTree>
    <p:extLst>
      <p:ext uri="{BB962C8B-B14F-4D97-AF65-F5344CB8AC3E}">
        <p14:creationId xmlns:p14="http://schemas.microsoft.com/office/powerpoint/2010/main" val="36267376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2FC2B-04A9-484A-F8AF-E1FA2CF6B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064" y="90488"/>
            <a:ext cx="7214036" cy="1497012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The growing threat of cyanobacterial blooms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D4777-6621-23FB-A1DB-0B2E56785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408" y="1682307"/>
            <a:ext cx="5668563" cy="376395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Some cyanobacteria can produce toxic compounds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Threat to humans and pets when cyanobacteria reach high levels (blooms)</a:t>
            </a:r>
            <a:br>
              <a:rPr lang="en-US" dirty="0"/>
            </a:br>
            <a:endParaRPr lang="en-US" dirty="0"/>
          </a:p>
          <a:p>
            <a:r>
              <a:rPr lang="en-US" dirty="0"/>
              <a:t>Bloom events are increasing</a:t>
            </a:r>
          </a:p>
          <a:p>
            <a:pPr lvl="1"/>
            <a:r>
              <a:rPr lang="en-US" dirty="0"/>
              <a:t>Climate change (</a:t>
            </a:r>
            <a:r>
              <a:rPr lang="en-US" dirty="0" err="1"/>
              <a:t>Paerl</a:t>
            </a:r>
            <a:r>
              <a:rPr lang="en-US" dirty="0"/>
              <a:t> and Huisman 2009)</a:t>
            </a:r>
          </a:p>
          <a:p>
            <a:pPr lvl="1"/>
            <a:r>
              <a:rPr lang="en-US" dirty="0"/>
              <a:t>Excess nutrients</a:t>
            </a:r>
          </a:p>
        </p:txBody>
      </p:sp>
      <p:pic>
        <p:nvPicPr>
          <p:cNvPr id="4" name="Picture 3" descr="A body of water with rocks and plants around it&#10;&#10;Description automatically generated with medium confidence">
            <a:extLst>
              <a:ext uri="{FF2B5EF4-FFF2-40B4-BE49-F238E27FC236}">
                <a16:creationId xmlns:a16="http://schemas.microsoft.com/office/drawing/2014/main" id="{06805472-23B9-70D0-8631-37A750C650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0813" y="90488"/>
            <a:ext cx="4229099" cy="5638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83DF056-BE53-8A3B-3BB4-643950364DF9}"/>
              </a:ext>
            </a:extLst>
          </p:cNvPr>
          <p:cNvSpPr txBox="1"/>
          <p:nvPr/>
        </p:nvSpPr>
        <p:spPr>
          <a:xfrm>
            <a:off x="7970813" y="5813405"/>
            <a:ext cx="422118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Cyanobacteria bloom in Patch Reservoir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E8796A-82E6-3ADB-69A5-042DEDAEC7C8}"/>
              </a:ext>
            </a:extLst>
          </p:cNvPr>
          <p:cNvSpPr txBox="1"/>
          <p:nvPr/>
        </p:nvSpPr>
        <p:spPr>
          <a:xfrm>
            <a:off x="1200002" y="5751849"/>
            <a:ext cx="544815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There is a need to easily </a:t>
            </a:r>
            <a:r>
              <a:rPr lang="en-US" sz="3000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detect</a:t>
            </a:r>
            <a:r>
              <a:rPr lang="en-US" sz="3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en-US" sz="3000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predict</a:t>
            </a:r>
            <a:r>
              <a:rPr lang="en-US" sz="3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blooms</a:t>
            </a:r>
          </a:p>
        </p:txBody>
      </p:sp>
    </p:spTree>
    <p:extLst>
      <p:ext uri="{BB962C8B-B14F-4D97-AF65-F5344CB8AC3E}">
        <p14:creationId xmlns:p14="http://schemas.microsoft.com/office/powerpoint/2010/main" val="3926746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BF885-4720-D789-DC14-EF8B241E5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17701-55EA-BAC0-12AB-72D0782915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765" y="936570"/>
            <a:ext cx="4137514" cy="568993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400" u="sng" dirty="0"/>
              <a:t>Sample collection</a:t>
            </a:r>
          </a:p>
          <a:p>
            <a:pPr marL="290513" lvl="2" indent="-280988"/>
            <a:r>
              <a:rPr lang="en-US" sz="2800" dirty="0"/>
              <a:t>12 days per year</a:t>
            </a:r>
          </a:p>
          <a:p>
            <a:pPr marL="290513" lvl="2" indent="-280988"/>
            <a:r>
              <a:rPr lang="en-US" sz="2800" dirty="0"/>
              <a:t>20 ponds</a:t>
            </a:r>
          </a:p>
          <a:p>
            <a:pPr marL="290513" lvl="2" indent="-280988"/>
            <a:r>
              <a:rPr lang="en-US" sz="2800" dirty="0"/>
              <a:t>240 samples per year</a:t>
            </a:r>
          </a:p>
          <a:p>
            <a:pPr marL="290513" lvl="2" indent="-280988"/>
            <a:endParaRPr lang="en-US" sz="2800" dirty="0"/>
          </a:p>
          <a:p>
            <a:pPr marL="9525" lvl="2" indent="0">
              <a:buNone/>
            </a:pPr>
            <a:r>
              <a:rPr lang="en-US" sz="2800" u="sng" dirty="0"/>
              <a:t>Measurements</a:t>
            </a:r>
          </a:p>
          <a:p>
            <a:pPr marL="290513" lvl="2" indent="-280988"/>
            <a:r>
              <a:rPr lang="en-US" sz="2800" dirty="0"/>
              <a:t>Cyanobacteria pigment: Phycocyanin</a:t>
            </a:r>
          </a:p>
          <a:p>
            <a:pPr marL="290513" lvl="2" indent="-280988"/>
            <a:r>
              <a:rPr lang="en-US" sz="2800" dirty="0"/>
              <a:t>Particle concentration</a:t>
            </a:r>
          </a:p>
          <a:p>
            <a:pPr marL="290513" lvl="2" indent="-280988"/>
            <a:r>
              <a:rPr lang="en-US" sz="2800" dirty="0"/>
              <a:t>Cyanobacterial density &amp; type</a:t>
            </a:r>
          </a:p>
          <a:p>
            <a:pPr marL="290513" lvl="2" indent="-280988"/>
            <a:r>
              <a:rPr lang="en-US" sz="2800" dirty="0"/>
              <a:t>Temperature</a:t>
            </a:r>
          </a:p>
          <a:p>
            <a:pPr marL="290513" lvl="2" indent="-280988"/>
            <a:r>
              <a:rPr lang="en-US" sz="2800" dirty="0"/>
              <a:t>Chlorophyll pigment</a:t>
            </a:r>
          </a:p>
          <a:p>
            <a:pPr marL="290513" lvl="2" indent="-280988"/>
            <a:r>
              <a:rPr lang="en-US" sz="2800" dirty="0"/>
              <a:t>Weather data?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1E3C66-A7AA-8A2D-3E59-EC870C786E9B}"/>
              </a:ext>
            </a:extLst>
          </p:cNvPr>
          <p:cNvSpPr txBox="1">
            <a:spLocks/>
          </p:cNvSpPr>
          <p:nvPr/>
        </p:nvSpPr>
        <p:spPr>
          <a:xfrm>
            <a:off x="317064" y="90488"/>
            <a:ext cx="11036736" cy="7350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Worcester monitors ~20 ponds biweekly</a:t>
            </a:r>
          </a:p>
        </p:txBody>
      </p:sp>
      <p:pic>
        <p:nvPicPr>
          <p:cNvPr id="1026" name="Picture 2" descr="Graphic that includes images of Worcester Cyanobacteria Monitoring Collaborative volunteers with text saying: “Worcester Cyanobacteria Monitoring Collaborative Annual Data Summit, Thursday, April 2 at 6:15 p.m., Worcester Senior Center, 128 Providence St.”">
            <a:extLst>
              <a:ext uri="{FF2B5EF4-FFF2-40B4-BE49-F238E27FC236}">
                <a16:creationId xmlns:a16="http://schemas.microsoft.com/office/drawing/2014/main" id="{9946E5CB-513E-8E94-15F4-FE50A8A4E9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667"/>
          <a:stretch/>
        </p:blipFill>
        <p:spPr bwMode="auto">
          <a:xfrm>
            <a:off x="8860212" y="1845250"/>
            <a:ext cx="3129023" cy="2281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6DFCEB8-974C-46ED-3007-A1095FA788F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567" t="33432" r="27662" b="39022"/>
          <a:stretch/>
        </p:blipFill>
        <p:spPr>
          <a:xfrm>
            <a:off x="8860212" y="936570"/>
            <a:ext cx="3001922" cy="755332"/>
          </a:xfrm>
          <a:prstGeom prst="rect">
            <a:avLst/>
          </a:prstGeom>
        </p:spPr>
      </p:pic>
      <p:pic>
        <p:nvPicPr>
          <p:cNvPr id="9" name="Picture 8" descr="A map of a city&#10;&#10;AI-generated content may be incorrect.">
            <a:extLst>
              <a:ext uri="{FF2B5EF4-FFF2-40B4-BE49-F238E27FC236}">
                <a16:creationId xmlns:a16="http://schemas.microsoft.com/office/drawing/2014/main" id="{448CE53D-2C73-2691-44E8-98AFC2E2FB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9471" y="936570"/>
            <a:ext cx="3481548" cy="21807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28100E7-AE55-9880-4645-2B1A36AFE11E}"/>
              </a:ext>
            </a:extLst>
          </p:cNvPr>
          <p:cNvSpPr txBox="1"/>
          <p:nvPr/>
        </p:nvSpPr>
        <p:spPr>
          <a:xfrm>
            <a:off x="5989313" y="3128768"/>
            <a:ext cx="23517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Map by Jackie Wallis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26C1856-2501-74F6-469B-92D267B2C208}"/>
              </a:ext>
            </a:extLst>
          </p:cNvPr>
          <p:cNvGrpSpPr/>
          <p:nvPr/>
        </p:nvGrpSpPr>
        <p:grpSpPr>
          <a:xfrm>
            <a:off x="5094515" y="4208073"/>
            <a:ext cx="6080125" cy="2418433"/>
            <a:chOff x="5749130" y="2913586"/>
            <a:chExt cx="6080125" cy="2418433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DF0461B2-CB70-6C37-3EE1-72237040DEF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774530" y="3622018"/>
              <a:ext cx="6054725" cy="1710001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6F1B8AC-E39D-78A7-B427-6EA1D252CD8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t="-7443" r="4952" b="4956"/>
            <a:stretch/>
          </p:blipFill>
          <p:spPr>
            <a:xfrm>
              <a:off x="5749130" y="2913586"/>
              <a:ext cx="6054725" cy="6407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65703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514AF-7E75-E2EB-38C0-40F4C6A5B9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765" y="936570"/>
            <a:ext cx="4137514" cy="5689936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3400" u="sng" dirty="0"/>
              <a:t>Gold standard: Microscope</a:t>
            </a:r>
          </a:p>
          <a:p>
            <a:pPr marL="122238" lvl="1" indent="-168275"/>
            <a:r>
              <a:rPr lang="en-US" sz="3200" dirty="0"/>
              <a:t>Low throughput</a:t>
            </a:r>
          </a:p>
          <a:p>
            <a:pPr marL="122238" lvl="1" indent="-168275"/>
            <a:r>
              <a:rPr lang="en-US" sz="3200" dirty="0"/>
              <a:t>Manual identification</a:t>
            </a:r>
          </a:p>
          <a:p>
            <a:pPr marL="122238" lvl="1" indent="-168275"/>
            <a:r>
              <a:rPr lang="en-US" sz="3200" dirty="0"/>
              <a:t>Expertise needed</a:t>
            </a:r>
          </a:p>
          <a:p>
            <a:pPr>
              <a:lnSpc>
                <a:spcPct val="120000"/>
              </a:lnSpc>
            </a:pPr>
            <a:r>
              <a:rPr lang="en-US" dirty="0"/>
              <a:t>Sample collection</a:t>
            </a:r>
            <a:br>
              <a:rPr lang="en-US" dirty="0"/>
            </a:br>
            <a:r>
              <a:rPr lang="en-US" dirty="0"/>
              <a:t>(12 days X 20 ponds = 240 samples!)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sz="3400" u="sng" dirty="0"/>
              <a:t>Newer approach: </a:t>
            </a:r>
            <a:r>
              <a:rPr lang="en-US" sz="3400" u="sng" dirty="0" err="1"/>
              <a:t>FlowCam</a:t>
            </a:r>
            <a:endParaRPr lang="en-US" sz="3400" dirty="0"/>
          </a:p>
          <a:p>
            <a:pPr marL="579438" lvl="2" indent="-168275"/>
            <a:r>
              <a:rPr lang="en-US" sz="2800" dirty="0"/>
              <a:t>Automated microscope</a:t>
            </a:r>
          </a:p>
          <a:p>
            <a:pPr marL="579438" lvl="2" indent="-168275"/>
            <a:r>
              <a:rPr lang="en-US" sz="2800" dirty="0"/>
              <a:t>1000s of images in a few minutes</a:t>
            </a:r>
          </a:p>
          <a:p>
            <a:pPr marL="579438" lvl="2" indent="-168275"/>
            <a:r>
              <a:rPr lang="en-US" sz="2800" dirty="0"/>
              <a:t>Still requires identification expertise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D0543A1-4B3C-D811-92CC-97A002B6F71D}"/>
              </a:ext>
            </a:extLst>
          </p:cNvPr>
          <p:cNvSpPr txBox="1">
            <a:spLocks/>
          </p:cNvSpPr>
          <p:nvPr/>
        </p:nvSpPr>
        <p:spPr>
          <a:xfrm>
            <a:off x="317064" y="90488"/>
            <a:ext cx="11036736" cy="7350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Monitoring cyanobacteria can be hard</a:t>
            </a:r>
          </a:p>
        </p:txBody>
      </p:sp>
      <p:pic>
        <p:nvPicPr>
          <p:cNvPr id="1026" name="Picture 2" descr="Graphic that includes images of Worcester Cyanobacteria Monitoring Collaborative volunteers with text saying: “Worcester Cyanobacteria Monitoring Collaborative Annual Data Summit, Thursday, April 2 at 6:15 p.m., Worcester Senior Center, 128 Providence St.”">
            <a:extLst>
              <a:ext uri="{FF2B5EF4-FFF2-40B4-BE49-F238E27FC236}">
                <a16:creationId xmlns:a16="http://schemas.microsoft.com/office/drawing/2014/main" id="{DE68AFE2-4C3B-C6B2-A674-AC52D79607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0678"/>
          <a:stretch>
            <a:fillRect/>
          </a:stretch>
        </p:blipFill>
        <p:spPr bwMode="auto">
          <a:xfrm>
            <a:off x="4812617" y="864200"/>
            <a:ext cx="5608705" cy="2055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286BE2-2963-9757-87A4-E5DD39BA549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567" t="33432" r="27662" b="39022"/>
          <a:stretch/>
        </p:blipFill>
        <p:spPr>
          <a:xfrm>
            <a:off x="5765995" y="2988892"/>
            <a:ext cx="3550715" cy="893417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C48E31B5-125E-C19E-96A3-10BFE279C330}"/>
              </a:ext>
            </a:extLst>
          </p:cNvPr>
          <p:cNvGrpSpPr/>
          <p:nvPr/>
        </p:nvGrpSpPr>
        <p:grpSpPr>
          <a:xfrm>
            <a:off x="3865607" y="3938058"/>
            <a:ext cx="3594100" cy="2337665"/>
            <a:chOff x="127001" y="672999"/>
            <a:chExt cx="5350106" cy="3479801"/>
          </a:xfrm>
        </p:grpSpPr>
        <p:pic>
          <p:nvPicPr>
            <p:cNvPr id="4" name="Picture 4" descr="Buy FlowCam LO Read Reviews">
              <a:extLst>
                <a:ext uri="{FF2B5EF4-FFF2-40B4-BE49-F238E27FC236}">
                  <a16:creationId xmlns:a16="http://schemas.microsoft.com/office/drawing/2014/main" id="{E67A53E9-3F2F-55AF-4970-E3246A3DCC6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538" r="50000" b="6837"/>
            <a:stretch/>
          </p:blipFill>
          <p:spPr bwMode="auto">
            <a:xfrm>
              <a:off x="127001" y="672999"/>
              <a:ext cx="2819400" cy="34798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2" descr="High-Resolution Flow Imaging Microscopy | Particle Analysis">
              <a:extLst>
                <a:ext uri="{FF2B5EF4-FFF2-40B4-BE49-F238E27FC236}">
                  <a16:creationId xmlns:a16="http://schemas.microsoft.com/office/drawing/2014/main" id="{B86053A6-F306-149E-457C-2E18B7FF176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82901" y="1330325"/>
              <a:ext cx="2594206" cy="19088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" name="Picture 4" descr="Buy FlowCam Cyano Read Reviews">
            <a:extLst>
              <a:ext uri="{FF2B5EF4-FFF2-40B4-BE49-F238E27FC236}">
                <a16:creationId xmlns:a16="http://schemas.microsoft.com/office/drawing/2014/main" id="{323193B0-826E-7E5F-ECC0-B55225EE35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459" b="20927"/>
          <a:stretch/>
        </p:blipFill>
        <p:spPr bwMode="auto">
          <a:xfrm>
            <a:off x="8326394" y="4228795"/>
            <a:ext cx="3786808" cy="1665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ight Arrow 11">
            <a:extLst>
              <a:ext uri="{FF2B5EF4-FFF2-40B4-BE49-F238E27FC236}">
                <a16:creationId xmlns:a16="http://schemas.microsoft.com/office/drawing/2014/main" id="{BE014824-2607-8763-EC61-C7F43777E7EB}"/>
              </a:ext>
            </a:extLst>
          </p:cNvPr>
          <p:cNvSpPr/>
          <p:nvPr/>
        </p:nvSpPr>
        <p:spPr>
          <a:xfrm>
            <a:off x="7626368" y="4838419"/>
            <a:ext cx="574186" cy="446679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8E0A3C8F-62F7-7164-402D-80297502BF1B}"/>
              </a:ext>
            </a:extLst>
          </p:cNvPr>
          <p:cNvSpPr/>
          <p:nvPr/>
        </p:nvSpPr>
        <p:spPr>
          <a:xfrm rot="5400000">
            <a:off x="10134229" y="5993800"/>
            <a:ext cx="574186" cy="446679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68A518-E2CF-ED55-4976-DBE89064C1B7}"/>
              </a:ext>
            </a:extLst>
          </p:cNvPr>
          <p:cNvSpPr txBox="1"/>
          <p:nvPr/>
        </p:nvSpPr>
        <p:spPr>
          <a:xfrm>
            <a:off x="8200554" y="6435948"/>
            <a:ext cx="41438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Phytoplankton species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E9E2B57-7FA8-EF62-D0C7-91D1778F7301}"/>
              </a:ext>
            </a:extLst>
          </p:cNvPr>
          <p:cNvSpPr txBox="1"/>
          <p:nvPr/>
        </p:nvSpPr>
        <p:spPr>
          <a:xfrm>
            <a:off x="10541794" y="5930046"/>
            <a:ext cx="11155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Nick</a:t>
            </a:r>
          </a:p>
        </p:txBody>
      </p:sp>
    </p:spTree>
    <p:extLst>
      <p:ext uri="{BB962C8B-B14F-4D97-AF65-F5344CB8AC3E}">
        <p14:creationId xmlns:p14="http://schemas.microsoft.com/office/powerpoint/2010/main" val="3338504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2" grpId="0" animBg="1"/>
      <p:bldP spid="14" grpId="0" animBg="1"/>
      <p:bldP spid="15" grpId="0"/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CA22BE8-9FE0-F3BA-73F4-537EB6A941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548" y="1130061"/>
            <a:ext cx="4377572" cy="2585412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87305D92-4269-2DA4-FB80-5E24AD64C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344" y="-3251"/>
            <a:ext cx="11466854" cy="996900"/>
          </a:xfrm>
        </p:spPr>
        <p:txBody>
          <a:bodyPr>
            <a:norm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Using machine learning for classification</a:t>
            </a:r>
          </a:p>
        </p:txBody>
      </p:sp>
      <p:pic>
        <p:nvPicPr>
          <p:cNvPr id="10" name="Picture 4" descr="Buy FlowCam Cyano Read Reviews">
            <a:extLst>
              <a:ext uri="{FF2B5EF4-FFF2-40B4-BE49-F238E27FC236}">
                <a16:creationId xmlns:a16="http://schemas.microsoft.com/office/drawing/2014/main" id="{4F23FA3E-CEB7-50F2-4E93-E8DDEF1E0D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459" b="20927"/>
          <a:stretch/>
        </p:blipFill>
        <p:spPr bwMode="auto">
          <a:xfrm>
            <a:off x="5518074" y="1508581"/>
            <a:ext cx="6174124" cy="2716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7916F74-F3EB-B2CC-F6D4-E572C53CA0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802" y="3851885"/>
            <a:ext cx="4917150" cy="2977992"/>
          </a:xfrm>
          <a:prstGeom prst="rect">
            <a:avLst/>
          </a:prstGeom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E4E570B3-49C8-5EE3-49F0-B5D64597E0BA}"/>
              </a:ext>
            </a:extLst>
          </p:cNvPr>
          <p:cNvSpPr txBox="1">
            <a:spLocks/>
          </p:cNvSpPr>
          <p:nvPr/>
        </p:nvSpPr>
        <p:spPr>
          <a:xfrm>
            <a:off x="5958771" y="4667758"/>
            <a:ext cx="5986302" cy="19689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570,000 images from 2021-2023</a:t>
            </a:r>
          </a:p>
          <a:p>
            <a:r>
              <a:rPr lang="en-US" dirty="0"/>
              <a:t>800 images per sample!</a:t>
            </a:r>
          </a:p>
          <a:p>
            <a:r>
              <a:rPr lang="en-US" dirty="0"/>
              <a:t>Subsample these to build groups of phytoplankton</a:t>
            </a:r>
          </a:p>
        </p:txBody>
      </p:sp>
    </p:spTree>
    <p:extLst>
      <p:ext uri="{BB962C8B-B14F-4D97-AF65-F5344CB8AC3E}">
        <p14:creationId xmlns:p14="http://schemas.microsoft.com/office/powerpoint/2010/main" val="1614387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71A6D71-C04E-9D39-9409-06BA41CC103A}"/>
              </a:ext>
            </a:extLst>
          </p:cNvPr>
          <p:cNvSpPr txBox="1">
            <a:spLocks/>
          </p:cNvSpPr>
          <p:nvPr/>
        </p:nvSpPr>
        <p:spPr>
          <a:xfrm>
            <a:off x="577850" y="159893"/>
            <a:ext cx="11036300" cy="866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500" b="1" dirty="0">
                <a:latin typeface="Arial" panose="020B0604020202020204" pitchFamily="34" charset="0"/>
                <a:cs typeface="Arial" panose="020B0604020202020204" pitchFamily="34" charset="0"/>
              </a:rPr>
              <a:t>Initial ML results: very high accuracy and precision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E6D0B5C-6EE9-30E7-215E-DEAB41FED8C0}"/>
              </a:ext>
            </a:extLst>
          </p:cNvPr>
          <p:cNvGrpSpPr/>
          <p:nvPr/>
        </p:nvGrpSpPr>
        <p:grpSpPr>
          <a:xfrm>
            <a:off x="3290677" y="1632764"/>
            <a:ext cx="5266944" cy="4380878"/>
            <a:chOff x="304801" y="1382196"/>
            <a:chExt cx="5266944" cy="4380878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3747651-F1A6-4509-2DAA-10E543BC8ED3}"/>
                </a:ext>
              </a:extLst>
            </p:cNvPr>
            <p:cNvSpPr txBox="1"/>
            <p:nvPr/>
          </p:nvSpPr>
          <p:spPr>
            <a:xfrm rot="17805323">
              <a:off x="896993" y="4635561"/>
              <a:ext cx="160869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>
                  <a:solidFill>
                    <a:schemeClr val="accent6"/>
                  </a:solidFill>
                </a:rPr>
                <a:t>Filamentous</a:t>
              </a:r>
              <a:br>
                <a:rPr lang="en-US" b="1" dirty="0">
                  <a:solidFill>
                    <a:schemeClr val="accent6"/>
                  </a:solidFill>
                </a:rPr>
              </a:br>
              <a:r>
                <a:rPr lang="en-US" b="1" dirty="0">
                  <a:solidFill>
                    <a:schemeClr val="accent6"/>
                  </a:solidFill>
                </a:rPr>
                <a:t>cyanobacteria</a:t>
              </a:r>
            </a:p>
          </p:txBody>
        </p:sp>
        <p:pic>
          <p:nvPicPr>
            <p:cNvPr id="9" name="Picture 8" descr="per_class_roc_auc.png">
              <a:extLst>
                <a:ext uri="{FF2B5EF4-FFF2-40B4-BE49-F238E27FC236}">
                  <a16:creationId xmlns:a16="http://schemas.microsoft.com/office/drawing/2014/main" id="{A3F0DC57-3250-07EB-5595-1C7A685DAE1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6981" b="17729"/>
            <a:stretch/>
          </p:blipFill>
          <p:spPr>
            <a:xfrm>
              <a:off x="304801" y="1382196"/>
              <a:ext cx="5266944" cy="2745309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AF775F3-82F5-5941-D155-0D181E205E4D}"/>
                </a:ext>
              </a:extLst>
            </p:cNvPr>
            <p:cNvSpPr txBox="1"/>
            <p:nvPr/>
          </p:nvSpPr>
          <p:spPr>
            <a:xfrm rot="17805323">
              <a:off x="720147" y="4370420"/>
              <a:ext cx="8442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Algae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D617688-5BAF-4885-7DA2-41789D898D8F}"/>
                </a:ext>
              </a:extLst>
            </p:cNvPr>
            <p:cNvSpPr txBox="1"/>
            <p:nvPr/>
          </p:nvSpPr>
          <p:spPr>
            <a:xfrm rot="17805323">
              <a:off x="1734741" y="4600742"/>
              <a:ext cx="13601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 err="1"/>
                <a:t>Asterionella</a:t>
              </a:r>
              <a:endParaRPr lang="en-US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2810F53-4F28-0D5D-F9F3-FCD54533082D}"/>
                </a:ext>
              </a:extLst>
            </p:cNvPr>
            <p:cNvSpPr txBox="1"/>
            <p:nvPr/>
          </p:nvSpPr>
          <p:spPr>
            <a:xfrm rot="17805323">
              <a:off x="2309716" y="4600742"/>
              <a:ext cx="13601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Debris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3D057A0-8FD6-78B6-C251-9392EFC70562}"/>
                </a:ext>
              </a:extLst>
            </p:cNvPr>
            <p:cNvSpPr txBox="1"/>
            <p:nvPr/>
          </p:nvSpPr>
          <p:spPr>
            <a:xfrm rot="17805323">
              <a:off x="2884691" y="4600742"/>
              <a:ext cx="13601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>
                  <a:solidFill>
                    <a:schemeClr val="accent6"/>
                  </a:solidFill>
                </a:rPr>
                <a:t>Microcystis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7C513DE-859B-D677-F52E-A8482547DAD9}"/>
                </a:ext>
              </a:extLst>
            </p:cNvPr>
            <p:cNvSpPr txBox="1"/>
            <p:nvPr/>
          </p:nvSpPr>
          <p:spPr>
            <a:xfrm rot="17805323">
              <a:off x="3459666" y="4600742"/>
              <a:ext cx="13601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Single cells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967BEB6-5B3D-0B2D-6A3D-F0DF0E88CFAC}"/>
                </a:ext>
              </a:extLst>
            </p:cNvPr>
            <p:cNvSpPr txBox="1"/>
            <p:nvPr/>
          </p:nvSpPr>
          <p:spPr>
            <a:xfrm rot="17805323">
              <a:off x="4034641" y="4600742"/>
              <a:ext cx="13601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Desmid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35E74B21-2FE6-57C8-ADB3-4A407FB0AED5}"/>
              </a:ext>
            </a:extLst>
          </p:cNvPr>
          <p:cNvSpPr txBox="1"/>
          <p:nvPr/>
        </p:nvSpPr>
        <p:spPr>
          <a:xfrm>
            <a:off x="3139518" y="910626"/>
            <a:ext cx="600303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Receiver operator curves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(1 = perfect results)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F138CF9-3A19-8E52-127B-B340025768D9}"/>
              </a:ext>
            </a:extLst>
          </p:cNvPr>
          <p:cNvGrpSpPr/>
          <p:nvPr/>
        </p:nvGrpSpPr>
        <p:grpSpPr>
          <a:xfrm>
            <a:off x="3615013" y="5879261"/>
            <a:ext cx="4516816" cy="946135"/>
            <a:chOff x="1405450" y="1881146"/>
            <a:chExt cx="5790458" cy="1212924"/>
          </a:xfrm>
        </p:grpSpPr>
        <p:pic>
          <p:nvPicPr>
            <p:cNvPr id="3" name="Picture 2" descr="A close up of a microscope&#10;&#10;AI-generated content may be incorrect.">
              <a:extLst>
                <a:ext uri="{FF2B5EF4-FFF2-40B4-BE49-F238E27FC236}">
                  <a16:creationId xmlns:a16="http://schemas.microsoft.com/office/drawing/2014/main" id="{A0BCAA65-9FA4-A000-A32D-980F23D05D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05450" y="1894317"/>
              <a:ext cx="844270" cy="1199753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9951300-0EC0-1C6B-46F9-326FB75F17F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17789" t="37526"/>
            <a:stretch/>
          </p:blipFill>
          <p:spPr>
            <a:xfrm rot="10800000">
              <a:off x="2469225" y="1900199"/>
              <a:ext cx="346069" cy="996576"/>
            </a:xfrm>
            <a:prstGeom prst="rect">
              <a:avLst/>
            </a:prstGeom>
          </p:spPr>
        </p:pic>
        <p:pic>
          <p:nvPicPr>
            <p:cNvPr id="5" name="Picture 4" descr="A close up of a snowflake&#10;&#10;AI-generated content may be incorrect.">
              <a:extLst>
                <a:ext uri="{FF2B5EF4-FFF2-40B4-BE49-F238E27FC236}">
                  <a16:creationId xmlns:a16="http://schemas.microsoft.com/office/drawing/2014/main" id="{08BFFB7D-0059-31B1-6B9E-0B3DA6193AD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051349" y="1894317"/>
              <a:ext cx="674656" cy="674656"/>
            </a:xfrm>
            <a:prstGeom prst="rect">
              <a:avLst/>
            </a:prstGeom>
          </p:spPr>
        </p:pic>
        <p:pic>
          <p:nvPicPr>
            <p:cNvPr id="6" name="Picture 5" descr="A black cloud of smoke&#10;&#10;AI-generated content may be incorrect.">
              <a:extLst>
                <a:ext uri="{FF2B5EF4-FFF2-40B4-BE49-F238E27FC236}">
                  <a16:creationId xmlns:a16="http://schemas.microsoft.com/office/drawing/2014/main" id="{BA42D44A-49FC-FEDE-0596-967CB0A7BE9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912319" y="1881146"/>
              <a:ext cx="643699" cy="992824"/>
            </a:xfrm>
            <a:prstGeom prst="rect">
              <a:avLst/>
            </a:prstGeom>
          </p:spPr>
        </p:pic>
        <p:pic>
          <p:nvPicPr>
            <p:cNvPr id="7" name="Picture 6" descr="A close-up of a small white object&#10;&#10;AI-generated content may be incorrect.">
              <a:extLst>
                <a:ext uri="{FF2B5EF4-FFF2-40B4-BE49-F238E27FC236}">
                  <a16:creationId xmlns:a16="http://schemas.microsoft.com/office/drawing/2014/main" id="{17110F30-C225-FA98-FF0B-153990A1AB2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654570" y="1881146"/>
              <a:ext cx="810674" cy="908515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722357C-C19D-401E-C50A-DC072301A61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563796" y="1881146"/>
              <a:ext cx="661007" cy="771175"/>
            </a:xfrm>
            <a:prstGeom prst="rect">
              <a:avLst/>
            </a:prstGeom>
          </p:spPr>
        </p:pic>
        <p:pic>
          <p:nvPicPr>
            <p:cNvPr id="18" name="Picture 17" descr="A close up of a green object&#10;&#10;AI-generated content may be incorrect.">
              <a:extLst>
                <a:ext uri="{FF2B5EF4-FFF2-40B4-BE49-F238E27FC236}">
                  <a16:creationId xmlns:a16="http://schemas.microsoft.com/office/drawing/2014/main" id="{D10D58FC-E887-4986-F77C-C812D2DEA47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357084" y="1881146"/>
              <a:ext cx="838824" cy="947561"/>
            </a:xfrm>
            <a:prstGeom prst="rect">
              <a:avLst/>
            </a:prstGeom>
          </p:spPr>
        </p:pic>
      </p:grpSp>
      <p:pic>
        <p:nvPicPr>
          <p:cNvPr id="30" name="Picture 29">
            <a:extLst>
              <a:ext uri="{FF2B5EF4-FFF2-40B4-BE49-F238E27FC236}">
                <a16:creationId xmlns:a16="http://schemas.microsoft.com/office/drawing/2014/main" id="{3D82E860-1115-507A-66B2-6DD995D8C59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41076" y="4607092"/>
            <a:ext cx="1173074" cy="1808705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216B24A6-F993-8C00-7C52-FCBB4F13A3FA}"/>
              </a:ext>
            </a:extLst>
          </p:cNvPr>
          <p:cNvSpPr txBox="1"/>
          <p:nvPr/>
        </p:nvSpPr>
        <p:spPr>
          <a:xfrm>
            <a:off x="10441076" y="6415797"/>
            <a:ext cx="1484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Kavi Francis</a:t>
            </a:r>
          </a:p>
        </p:txBody>
      </p:sp>
    </p:spTree>
    <p:extLst>
      <p:ext uri="{BB962C8B-B14F-4D97-AF65-F5344CB8AC3E}">
        <p14:creationId xmlns:p14="http://schemas.microsoft.com/office/powerpoint/2010/main" val="35117768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39513-E3CF-D0DC-1824-64AEC97AF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C5413E2-1C70-98B2-A156-B650717B6DEA}"/>
              </a:ext>
            </a:extLst>
          </p:cNvPr>
          <p:cNvCxnSpPr>
            <a:cxnSpLocks/>
          </p:cNvCxnSpPr>
          <p:nvPr/>
        </p:nvCxnSpPr>
        <p:spPr>
          <a:xfrm>
            <a:off x="11222186" y="1719135"/>
            <a:ext cx="333146" cy="103233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C77CDD5-37B5-C04F-7C78-C6E9ADB04824}"/>
              </a:ext>
            </a:extLst>
          </p:cNvPr>
          <p:cNvCxnSpPr>
            <a:cxnSpLocks/>
          </p:cNvCxnSpPr>
          <p:nvPr/>
        </p:nvCxnSpPr>
        <p:spPr>
          <a:xfrm flipH="1">
            <a:off x="7261395" y="1776792"/>
            <a:ext cx="3018168" cy="9111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7DAEE7CE-FC18-B400-229E-96AB2B274061}"/>
              </a:ext>
            </a:extLst>
          </p:cNvPr>
          <p:cNvSpPr txBox="1">
            <a:spLocks/>
          </p:cNvSpPr>
          <p:nvPr/>
        </p:nvSpPr>
        <p:spPr>
          <a:xfrm>
            <a:off x="172932" y="59199"/>
            <a:ext cx="11036300" cy="866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500" b="1" dirty="0">
                <a:latin typeface="Arial" panose="020B0604020202020204" pitchFamily="34" charset="0"/>
                <a:cs typeface="Arial" panose="020B0604020202020204" pitchFamily="34" charset="0"/>
              </a:rPr>
              <a:t>Project ideas and needs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530520F-E644-740D-33CC-FB68E58B03E9}"/>
              </a:ext>
            </a:extLst>
          </p:cNvPr>
          <p:cNvGrpSpPr/>
          <p:nvPr/>
        </p:nvGrpSpPr>
        <p:grpSpPr>
          <a:xfrm>
            <a:off x="7261395" y="2819572"/>
            <a:ext cx="4293937" cy="3192286"/>
            <a:chOff x="7172251" y="1794075"/>
            <a:chExt cx="4032595" cy="2997994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F84FC2E-BC7B-DE8D-DE96-B594EADD03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72251" y="1794075"/>
              <a:ext cx="1270000" cy="10795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36647B6-959A-562F-9B9E-DA4971FA11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607339" y="1794869"/>
              <a:ext cx="952500" cy="29972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063B4D8-EB3F-5352-6EEA-DCF54A288A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172251" y="2988669"/>
              <a:ext cx="723900" cy="11938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65224A0-5164-D75D-E2C0-F70F4DB80D3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967489" y="2988669"/>
              <a:ext cx="520700" cy="6096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FF0E334-A20C-2972-A06D-40BAC7F7363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724927" y="1794075"/>
              <a:ext cx="317500" cy="147320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72A3D421-A05F-E61F-A055-01DA4EEA9C5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214246" y="1794075"/>
              <a:ext cx="990600" cy="2273300"/>
            </a:xfrm>
            <a:prstGeom prst="rect">
              <a:avLst/>
            </a:prstGeom>
          </p:spPr>
        </p:pic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D3FD89B2-77C2-2002-0A28-6150F63BA4DB}"/>
              </a:ext>
            </a:extLst>
          </p:cNvPr>
          <p:cNvSpPr txBox="1"/>
          <p:nvPr/>
        </p:nvSpPr>
        <p:spPr>
          <a:xfrm>
            <a:off x="5633127" y="5724539"/>
            <a:ext cx="335474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you!</a:t>
            </a:r>
            <a:br>
              <a:rPr lang="en-US" sz="3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Questions?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6CB7515-D954-B94F-FAF6-FF340C97DB90}"/>
              </a:ext>
            </a:extLst>
          </p:cNvPr>
          <p:cNvGrpSpPr/>
          <p:nvPr/>
        </p:nvGrpSpPr>
        <p:grpSpPr>
          <a:xfrm>
            <a:off x="7350067" y="361648"/>
            <a:ext cx="3713222" cy="1443237"/>
            <a:chOff x="6380505" y="276713"/>
            <a:chExt cx="3713222" cy="1443237"/>
          </a:xfrm>
        </p:grpSpPr>
        <p:pic>
          <p:nvPicPr>
            <p:cNvPr id="15" name="Picture 14" descr="A close up of a microscope&#10;&#10;AI-generated content may be incorrect.">
              <a:extLst>
                <a:ext uri="{FF2B5EF4-FFF2-40B4-BE49-F238E27FC236}">
                  <a16:creationId xmlns:a16="http://schemas.microsoft.com/office/drawing/2014/main" id="{9D844FDB-AF99-355A-D5FA-158F6588942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380505" y="304766"/>
              <a:ext cx="844270" cy="1199753"/>
            </a:xfrm>
            <a:prstGeom prst="rect">
              <a:avLst/>
            </a:prstGeom>
          </p:spPr>
        </p:pic>
        <p:pic>
          <p:nvPicPr>
            <p:cNvPr id="16" name="Picture 15" descr="A close up of a snowflake&#10;&#10;AI-generated content may be incorrect.">
              <a:extLst>
                <a:ext uri="{FF2B5EF4-FFF2-40B4-BE49-F238E27FC236}">
                  <a16:creationId xmlns:a16="http://schemas.microsoft.com/office/drawing/2014/main" id="{00F40140-0DA2-C835-D90A-BCF3ACACF85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330161" y="304766"/>
              <a:ext cx="674656" cy="674656"/>
            </a:xfrm>
            <a:prstGeom prst="rect">
              <a:avLst/>
            </a:prstGeom>
          </p:spPr>
        </p:pic>
        <p:pic>
          <p:nvPicPr>
            <p:cNvPr id="17" name="Picture 16" descr="A black cloud of smoke&#10;&#10;AI-generated content may be incorrect.">
              <a:extLst>
                <a:ext uri="{FF2B5EF4-FFF2-40B4-BE49-F238E27FC236}">
                  <a16:creationId xmlns:a16="http://schemas.microsoft.com/office/drawing/2014/main" id="{9F8CC0D9-344A-A728-6459-DAB8AD6C4A5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5400000">
              <a:off x="7502021" y="873964"/>
              <a:ext cx="643699" cy="992824"/>
            </a:xfrm>
            <a:prstGeom prst="rect">
              <a:avLst/>
            </a:prstGeom>
          </p:spPr>
        </p:pic>
        <p:pic>
          <p:nvPicPr>
            <p:cNvPr id="18" name="Picture 17" descr="A close-up of a small white object&#10;&#10;AI-generated content may be incorrect.">
              <a:extLst>
                <a:ext uri="{FF2B5EF4-FFF2-40B4-BE49-F238E27FC236}">
                  <a16:creationId xmlns:a16="http://schemas.microsoft.com/office/drawing/2014/main" id="{63DE8297-1C52-40F0-8657-953A626621F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167511" y="276713"/>
              <a:ext cx="661007" cy="740784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52C7C77E-473E-FDBE-349B-0FE83975886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 rot="5400000">
              <a:off x="8478050" y="1003859"/>
              <a:ext cx="661007" cy="771175"/>
            </a:xfrm>
            <a:prstGeom prst="rect">
              <a:avLst/>
            </a:prstGeom>
          </p:spPr>
        </p:pic>
        <p:pic>
          <p:nvPicPr>
            <p:cNvPr id="20" name="Picture 19" descr="A close up of a green object&#10;&#10;AI-generated content may be incorrect.">
              <a:extLst>
                <a:ext uri="{FF2B5EF4-FFF2-40B4-BE49-F238E27FC236}">
                  <a16:creationId xmlns:a16="http://schemas.microsoft.com/office/drawing/2014/main" id="{5BAF6C58-DBB9-4CAF-74AD-49D2FD0E8A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9254903" y="316438"/>
              <a:ext cx="838824" cy="947561"/>
            </a:xfrm>
            <a:prstGeom prst="rect">
              <a:avLst/>
            </a:prstGeom>
          </p:spPr>
        </p:pic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19A46287-5FDF-284F-6287-94B98BF34E22}"/>
              </a:ext>
            </a:extLst>
          </p:cNvPr>
          <p:cNvSpPr txBox="1"/>
          <p:nvPr/>
        </p:nvSpPr>
        <p:spPr>
          <a:xfrm>
            <a:off x="7522716" y="2422599"/>
            <a:ext cx="42939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Filamentous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cyanobacteria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82484E89-B977-0CBB-E5DC-841814B191F4}"/>
              </a:ext>
            </a:extLst>
          </p:cNvPr>
          <p:cNvPicPr>
            <a:picLocks noChangeAspect="1"/>
          </p:cNvPicPr>
          <p:nvPr/>
        </p:nvPicPr>
        <p:blipFill rotWithShape="1">
          <a:blip r:embed="rId14"/>
          <a:srcRect l="17789" t="37526"/>
          <a:stretch/>
        </p:blipFill>
        <p:spPr>
          <a:xfrm rot="5400000">
            <a:off x="10591639" y="1089460"/>
            <a:ext cx="346069" cy="996576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DEE1E9D-C440-C228-092F-B5A5714833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404" y="1044134"/>
            <a:ext cx="5652839" cy="569606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Organize measurement data from prior years</a:t>
            </a:r>
          </a:p>
          <a:p>
            <a:pPr lvl="1"/>
            <a:r>
              <a:rPr lang="en-US" dirty="0"/>
              <a:t>Create statistical models to find patterns in blooms and possibly predict future blooms?</a:t>
            </a:r>
          </a:p>
          <a:p>
            <a:endParaRPr lang="en-US" dirty="0"/>
          </a:p>
          <a:p>
            <a:r>
              <a:rPr lang="en-US" dirty="0"/>
              <a:t>Organization of </a:t>
            </a:r>
            <a:r>
              <a:rPr lang="en-US" dirty="0" err="1"/>
              <a:t>FlowCam</a:t>
            </a:r>
            <a:r>
              <a:rPr lang="en-US" dirty="0"/>
              <a:t> image data</a:t>
            </a:r>
          </a:p>
          <a:p>
            <a:pPr lvl="1"/>
            <a:r>
              <a:rPr lang="en-US" dirty="0"/>
              <a:t>2021-2026</a:t>
            </a:r>
          </a:p>
          <a:p>
            <a:pPr lvl="1"/>
            <a:r>
              <a:rPr lang="en-US" dirty="0"/>
              <a:t>500k images per year</a:t>
            </a:r>
          </a:p>
          <a:p>
            <a:endParaRPr lang="en-US" dirty="0"/>
          </a:p>
          <a:p>
            <a:r>
              <a:rPr lang="en-US" dirty="0"/>
              <a:t>Refine and validate machine learning tool to classify </a:t>
            </a:r>
            <a:r>
              <a:rPr lang="en-US" dirty="0" err="1"/>
              <a:t>FlowCam</a:t>
            </a:r>
            <a:r>
              <a:rPr lang="en-US" dirty="0"/>
              <a:t> data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2402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5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76799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76F99-713F-D760-D9B3-AEAB9B754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850" y="-47371"/>
            <a:ext cx="11036300" cy="866775"/>
          </a:xfrm>
        </p:spPr>
        <p:txBody>
          <a:bodyPr>
            <a:normAutofit fontScale="90000"/>
          </a:bodyPr>
          <a:lstStyle/>
          <a:p>
            <a:r>
              <a:rPr lang="en-US" sz="4500" b="1" dirty="0">
                <a:latin typeface="Arial" panose="020B0604020202020204" pitchFamily="34" charset="0"/>
                <a:cs typeface="Arial" panose="020B0604020202020204" pitchFamily="34" charset="0"/>
              </a:rPr>
              <a:t>The first round of training and testing data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9790FC8-745D-416F-65D7-6A7D93B53046}"/>
              </a:ext>
            </a:extLst>
          </p:cNvPr>
          <p:cNvGrpSpPr/>
          <p:nvPr/>
        </p:nvGrpSpPr>
        <p:grpSpPr>
          <a:xfrm>
            <a:off x="4810497" y="4802118"/>
            <a:ext cx="6471141" cy="1199753"/>
            <a:chOff x="1231722" y="1881146"/>
            <a:chExt cx="6471141" cy="1199753"/>
          </a:xfrm>
        </p:grpSpPr>
        <p:pic>
          <p:nvPicPr>
            <p:cNvPr id="4" name="Picture 3" descr="A close up of a microscope&#10;&#10;AI-generated content may be incorrect.">
              <a:extLst>
                <a:ext uri="{FF2B5EF4-FFF2-40B4-BE49-F238E27FC236}">
                  <a16:creationId xmlns:a16="http://schemas.microsoft.com/office/drawing/2014/main" id="{15327AAC-4B09-9DF6-AF66-E65ACF4791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31722" y="1881146"/>
              <a:ext cx="844270" cy="1199753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774CA3F-26C9-A66B-AC94-F89920845F1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7789" t="37526"/>
            <a:stretch/>
          </p:blipFill>
          <p:spPr>
            <a:xfrm rot="5400000">
              <a:off x="2469225" y="1555893"/>
              <a:ext cx="346069" cy="996576"/>
            </a:xfrm>
            <a:prstGeom prst="rect">
              <a:avLst/>
            </a:prstGeom>
          </p:spPr>
        </p:pic>
        <p:pic>
          <p:nvPicPr>
            <p:cNvPr id="6" name="Picture 5" descr="A close up of a snowflake&#10;&#10;AI-generated content may be incorrect.">
              <a:extLst>
                <a:ext uri="{FF2B5EF4-FFF2-40B4-BE49-F238E27FC236}">
                  <a16:creationId xmlns:a16="http://schemas.microsoft.com/office/drawing/2014/main" id="{2275FB18-7351-2EC6-0E48-5B8E47C2F66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77771" y="1881146"/>
              <a:ext cx="674656" cy="674656"/>
            </a:xfrm>
            <a:prstGeom prst="rect">
              <a:avLst/>
            </a:prstGeom>
          </p:spPr>
        </p:pic>
        <p:pic>
          <p:nvPicPr>
            <p:cNvPr id="7" name="Picture 6" descr="A black cloud of smoke&#10;&#10;AI-generated content may be incorrect.">
              <a:extLst>
                <a:ext uri="{FF2B5EF4-FFF2-40B4-BE49-F238E27FC236}">
                  <a16:creationId xmlns:a16="http://schemas.microsoft.com/office/drawing/2014/main" id="{DD82BE4D-7175-F192-3B6F-934C8100DAB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027414" y="1881146"/>
              <a:ext cx="643699" cy="992824"/>
            </a:xfrm>
            <a:prstGeom prst="rect">
              <a:avLst/>
            </a:prstGeom>
          </p:spPr>
        </p:pic>
        <p:pic>
          <p:nvPicPr>
            <p:cNvPr id="8" name="Picture 7" descr="A close-up of a small white object&#10;&#10;AI-generated content may be incorrect.">
              <a:extLst>
                <a:ext uri="{FF2B5EF4-FFF2-40B4-BE49-F238E27FC236}">
                  <a16:creationId xmlns:a16="http://schemas.microsoft.com/office/drawing/2014/main" id="{B4CC4809-E1CC-C062-E233-F0AAA3BF726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002980" y="1881146"/>
              <a:ext cx="810674" cy="908514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3041595-A0A8-F956-7CC2-0973837A2B0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966978" y="1881146"/>
              <a:ext cx="661007" cy="771175"/>
            </a:xfrm>
            <a:prstGeom prst="rect">
              <a:avLst/>
            </a:prstGeom>
          </p:spPr>
        </p:pic>
        <p:pic>
          <p:nvPicPr>
            <p:cNvPr id="10" name="Picture 9" descr="A close up of a green object&#10;&#10;AI-generated content may be incorrect.">
              <a:extLst>
                <a:ext uri="{FF2B5EF4-FFF2-40B4-BE49-F238E27FC236}">
                  <a16:creationId xmlns:a16="http://schemas.microsoft.com/office/drawing/2014/main" id="{72CE28EF-BB83-E55C-67F0-187CE6FC002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864039" y="1881146"/>
              <a:ext cx="838824" cy="947561"/>
            </a:xfrm>
            <a:prstGeom prst="rect">
              <a:avLst/>
            </a:prstGeom>
          </p:spPr>
        </p:pic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325D793-EF33-E5E1-BC83-D266663787A2}"/>
              </a:ext>
            </a:extLst>
          </p:cNvPr>
          <p:cNvGrpSpPr/>
          <p:nvPr/>
        </p:nvGrpSpPr>
        <p:grpSpPr>
          <a:xfrm>
            <a:off x="300826" y="2014983"/>
            <a:ext cx="3458211" cy="1781304"/>
            <a:chOff x="300826" y="2014983"/>
            <a:chExt cx="3458211" cy="1781304"/>
          </a:xfrm>
        </p:grpSpPr>
        <p:sp>
          <p:nvSpPr>
            <p:cNvPr id="11" name="Content Placeholder 2">
              <a:extLst>
                <a:ext uri="{FF2B5EF4-FFF2-40B4-BE49-F238E27FC236}">
                  <a16:creationId xmlns:a16="http://schemas.microsoft.com/office/drawing/2014/main" id="{09D908F8-13F3-9446-D4A7-33D8AFF3DA81}"/>
                </a:ext>
              </a:extLst>
            </p:cNvPr>
            <p:cNvSpPr txBox="1">
              <a:spLocks/>
            </p:cNvSpPr>
            <p:nvPr/>
          </p:nvSpPr>
          <p:spPr>
            <a:xfrm>
              <a:off x="1220759" y="2014983"/>
              <a:ext cx="2538278" cy="1781304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700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dirty="0"/>
                <a:t>Train the ML model with some of these images</a:t>
              </a:r>
              <a:br>
                <a:rPr lang="en-US" dirty="0"/>
              </a:br>
              <a:endParaRPr lang="en-US" dirty="0"/>
            </a:p>
            <a:p>
              <a:pPr marL="0" indent="0">
                <a:buNone/>
              </a:pPr>
              <a:r>
                <a:rPr lang="en-US" dirty="0"/>
                <a:t>Evaluate the accuracy, precision of the model on the other images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C263BE8-230A-4AD3-7A8A-4D23F2C28E56}"/>
                </a:ext>
              </a:extLst>
            </p:cNvPr>
            <p:cNvSpPr/>
            <p:nvPr/>
          </p:nvSpPr>
          <p:spPr>
            <a:xfrm>
              <a:off x="300826" y="2133557"/>
              <a:ext cx="768216" cy="266700"/>
            </a:xfrm>
            <a:prstGeom prst="rect">
              <a:avLst/>
            </a:prstGeom>
            <a:solidFill>
              <a:srgbClr val="EBB23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D1A3560-7C96-00E0-5F05-BB17C8D1DD02}"/>
                </a:ext>
              </a:extLst>
            </p:cNvPr>
            <p:cNvSpPr/>
            <p:nvPr/>
          </p:nvSpPr>
          <p:spPr>
            <a:xfrm>
              <a:off x="300826" y="3042057"/>
              <a:ext cx="768216" cy="266700"/>
            </a:xfrm>
            <a:prstGeom prst="rect">
              <a:avLst/>
            </a:prstGeom>
            <a:solidFill>
              <a:srgbClr val="78C3E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208370EE-81DF-E05D-0EC1-082516F4D7F5}"/>
              </a:ext>
            </a:extLst>
          </p:cNvPr>
          <p:cNvSpPr/>
          <p:nvPr/>
        </p:nvSpPr>
        <p:spPr>
          <a:xfrm>
            <a:off x="4810497" y="926909"/>
            <a:ext cx="1150465" cy="5271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3B0C549-987D-E4E3-968F-B9F62C137428}"/>
              </a:ext>
            </a:extLst>
          </p:cNvPr>
          <p:cNvGrpSpPr/>
          <p:nvPr/>
        </p:nvGrpSpPr>
        <p:grpSpPr>
          <a:xfrm>
            <a:off x="5080817" y="5200262"/>
            <a:ext cx="6027134" cy="1657738"/>
            <a:chOff x="1710601" y="2124802"/>
            <a:chExt cx="6027134" cy="1657738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3342A51-7259-9276-8B0B-4CBA7A1AA4A9}"/>
                </a:ext>
              </a:extLst>
            </p:cNvPr>
            <p:cNvSpPr txBox="1"/>
            <p:nvPr/>
          </p:nvSpPr>
          <p:spPr>
            <a:xfrm rot="17805323">
              <a:off x="1473131" y="3148123"/>
              <a:ext cx="8442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Algae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71B58CB-6751-FD5E-525C-166E4C681D75}"/>
                </a:ext>
              </a:extLst>
            </p:cNvPr>
            <p:cNvSpPr txBox="1"/>
            <p:nvPr/>
          </p:nvSpPr>
          <p:spPr>
            <a:xfrm rot="17805323">
              <a:off x="2052307" y="2605983"/>
              <a:ext cx="160869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Filamentous</a:t>
              </a:r>
              <a:br>
                <a:rPr lang="en-US" dirty="0"/>
              </a:br>
              <a:r>
                <a:rPr lang="en-US" dirty="0"/>
                <a:t>cyanobacteria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8E6FA3F-2E2E-50D0-2FDF-A3AE4BBFD179}"/>
                </a:ext>
              </a:extLst>
            </p:cNvPr>
            <p:cNvSpPr txBox="1"/>
            <p:nvPr/>
          </p:nvSpPr>
          <p:spPr>
            <a:xfrm rot="17805323">
              <a:off x="3032911" y="2917801"/>
              <a:ext cx="13601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Asterionella</a:t>
              </a:r>
              <a:endParaRPr lang="en-US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F6CFD57-C339-693D-6531-353CBC040A86}"/>
                </a:ext>
              </a:extLst>
            </p:cNvPr>
            <p:cNvSpPr txBox="1"/>
            <p:nvPr/>
          </p:nvSpPr>
          <p:spPr>
            <a:xfrm rot="17805323">
              <a:off x="3975786" y="2917801"/>
              <a:ext cx="13601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Debris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4A507DD-86BC-801B-D2F5-A7218D7D849A}"/>
                </a:ext>
              </a:extLst>
            </p:cNvPr>
            <p:cNvSpPr txBox="1"/>
            <p:nvPr/>
          </p:nvSpPr>
          <p:spPr>
            <a:xfrm rot="17805323">
              <a:off x="4948882" y="2917801"/>
              <a:ext cx="13601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Microcystis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2D848E8-2AF2-1036-07DA-EB43854770EB}"/>
                </a:ext>
              </a:extLst>
            </p:cNvPr>
            <p:cNvSpPr txBox="1"/>
            <p:nvPr/>
          </p:nvSpPr>
          <p:spPr>
            <a:xfrm rot="17805323">
              <a:off x="5890896" y="2917801"/>
              <a:ext cx="13601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Single cells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383F5F9-C630-DC0A-58A8-FF27A8ED6500}"/>
                </a:ext>
              </a:extLst>
            </p:cNvPr>
            <p:cNvSpPr txBox="1"/>
            <p:nvPr/>
          </p:nvSpPr>
          <p:spPr>
            <a:xfrm rot="17805323">
              <a:off x="6872996" y="2917801"/>
              <a:ext cx="13601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Desmid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CFDD265-A89B-863F-B2EB-DE2A3C5AAA1E}"/>
              </a:ext>
            </a:extLst>
          </p:cNvPr>
          <p:cNvGrpSpPr/>
          <p:nvPr/>
        </p:nvGrpSpPr>
        <p:grpSpPr>
          <a:xfrm>
            <a:off x="3965274" y="918215"/>
            <a:ext cx="7449732" cy="3725857"/>
            <a:chOff x="3965274" y="918215"/>
            <a:chExt cx="7449732" cy="3725857"/>
          </a:xfrm>
        </p:grpSpPr>
        <p:pic>
          <p:nvPicPr>
            <p:cNvPr id="14" name="Picture 13" descr="A graph of a graph showing different types of cells&#10;&#10;AI-generated content may be incorrect.">
              <a:extLst>
                <a:ext uri="{FF2B5EF4-FFF2-40B4-BE49-F238E27FC236}">
                  <a16:creationId xmlns:a16="http://schemas.microsoft.com/office/drawing/2014/main" id="{680BC0AB-1FB7-D638-7546-625E0539B8B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l="2728" t="6295" b="15440"/>
            <a:stretch/>
          </p:blipFill>
          <p:spPr>
            <a:xfrm>
              <a:off x="4441070" y="918215"/>
              <a:ext cx="6973936" cy="3725857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48C9A38-3556-24AC-DE6C-4DA45C709F81}"/>
                </a:ext>
              </a:extLst>
            </p:cNvPr>
            <p:cNvSpPr txBox="1"/>
            <p:nvPr/>
          </p:nvSpPr>
          <p:spPr>
            <a:xfrm rot="16200000">
              <a:off x="2827292" y="2440905"/>
              <a:ext cx="273763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Number of images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299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6EE4498-D865-F5B5-2616-4FF6DC894791}"/>
              </a:ext>
            </a:extLst>
          </p:cNvPr>
          <p:cNvCxnSpPr>
            <a:cxnSpLocks/>
          </p:cNvCxnSpPr>
          <p:nvPr/>
        </p:nvCxnSpPr>
        <p:spPr>
          <a:xfrm>
            <a:off x="11243957" y="1414335"/>
            <a:ext cx="333146" cy="103233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0EF3ACF-D9F7-43E5-35A3-D7ACBF6F7E26}"/>
              </a:ext>
            </a:extLst>
          </p:cNvPr>
          <p:cNvCxnSpPr>
            <a:cxnSpLocks/>
          </p:cNvCxnSpPr>
          <p:nvPr/>
        </p:nvCxnSpPr>
        <p:spPr>
          <a:xfrm flipH="1">
            <a:off x="7283166" y="1471992"/>
            <a:ext cx="3018168" cy="9111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66C882-869D-BF1B-461C-8900E3006A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735" y="925974"/>
            <a:ext cx="5929446" cy="4942390"/>
          </a:xfrm>
        </p:spPr>
        <p:txBody>
          <a:bodyPr>
            <a:noAutofit/>
          </a:bodyPr>
          <a:lstStyle/>
          <a:p>
            <a:r>
              <a:rPr lang="en-US" sz="3000" dirty="0"/>
              <a:t>Identify more specific genera of filamentous cyanobacteria</a:t>
            </a:r>
          </a:p>
          <a:p>
            <a:endParaRPr lang="en-US" sz="3000" dirty="0"/>
          </a:p>
          <a:p>
            <a:r>
              <a:rPr lang="en-US" sz="3000" dirty="0"/>
              <a:t>Clustering approaches to parse out image datasets</a:t>
            </a:r>
          </a:p>
          <a:p>
            <a:endParaRPr lang="en-US" sz="3000" dirty="0"/>
          </a:p>
          <a:p>
            <a:r>
              <a:rPr lang="en-US" sz="3000" dirty="0"/>
              <a:t>Validating more images</a:t>
            </a:r>
          </a:p>
          <a:p>
            <a:pPr marL="460375" lvl="1" indent="-230188"/>
            <a:r>
              <a:rPr lang="en-US" sz="2600" dirty="0">
                <a:solidFill>
                  <a:srgbClr val="FF0000"/>
                </a:solidFill>
              </a:rPr>
              <a:t>Participation from volunteers to ID?</a:t>
            </a:r>
          </a:p>
          <a:p>
            <a:endParaRPr lang="en-US" sz="3000" dirty="0"/>
          </a:p>
          <a:p>
            <a:r>
              <a:rPr lang="en-US" sz="3000" dirty="0"/>
              <a:t>Test congruence of image analysis with DNA sequencing analysis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B89F390-4E58-58F2-44C4-BD1F7BB69231}"/>
              </a:ext>
            </a:extLst>
          </p:cNvPr>
          <p:cNvSpPr txBox="1">
            <a:spLocks/>
          </p:cNvSpPr>
          <p:nvPr/>
        </p:nvSpPr>
        <p:spPr>
          <a:xfrm>
            <a:off x="172932" y="59199"/>
            <a:ext cx="11036300" cy="866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500" b="1" dirty="0">
                <a:latin typeface="Arial" panose="020B0604020202020204" pitchFamily="34" charset="0"/>
                <a:cs typeface="Arial" panose="020B0604020202020204" pitchFamily="34" charset="0"/>
              </a:rPr>
              <a:t>On-going work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1181623-8E1C-2F3F-E3BE-BE3A14AF0BB9}"/>
              </a:ext>
            </a:extLst>
          </p:cNvPr>
          <p:cNvGrpSpPr/>
          <p:nvPr/>
        </p:nvGrpSpPr>
        <p:grpSpPr>
          <a:xfrm>
            <a:off x="7283166" y="2514772"/>
            <a:ext cx="4293937" cy="3192286"/>
            <a:chOff x="7172251" y="1794075"/>
            <a:chExt cx="4032595" cy="2997994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76EEEE6-F1D9-679E-8A1F-D04C16C26C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72251" y="1794075"/>
              <a:ext cx="1270000" cy="10795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AE2C7BC0-B387-2B6B-F58E-92CA628DD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607339" y="1794869"/>
              <a:ext cx="952500" cy="29972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58B8805-F562-71DD-5AAF-FFA23DFA05A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172251" y="2988669"/>
              <a:ext cx="723900" cy="11938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DE87513-776E-04FA-A78C-C08D928DCAD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967489" y="2988669"/>
              <a:ext cx="520700" cy="6096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AFAB75C-93CF-0DAD-BF20-BBB77AD0E0A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724927" y="1794075"/>
              <a:ext cx="317500" cy="147320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5598B15-D5C5-806D-B1D7-BC0C546EF72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214246" y="1794075"/>
              <a:ext cx="990600" cy="2273300"/>
            </a:xfrm>
            <a:prstGeom prst="rect">
              <a:avLst/>
            </a:prstGeom>
          </p:spPr>
        </p:pic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83E0A8BD-BFF5-A64D-214D-2C2CE4089CA8}"/>
              </a:ext>
            </a:extLst>
          </p:cNvPr>
          <p:cNvSpPr txBox="1"/>
          <p:nvPr/>
        </p:nvSpPr>
        <p:spPr>
          <a:xfrm>
            <a:off x="7557666" y="5707058"/>
            <a:ext cx="334156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you!</a:t>
            </a:r>
            <a:br>
              <a:rPr lang="en-US" sz="3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Questions?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B410F7B-1BDC-2E06-566B-3DE6BB81E62D}"/>
              </a:ext>
            </a:extLst>
          </p:cNvPr>
          <p:cNvGrpSpPr/>
          <p:nvPr/>
        </p:nvGrpSpPr>
        <p:grpSpPr>
          <a:xfrm>
            <a:off x="7371838" y="56848"/>
            <a:ext cx="3713222" cy="1443237"/>
            <a:chOff x="6380505" y="276713"/>
            <a:chExt cx="3713222" cy="1443237"/>
          </a:xfrm>
        </p:grpSpPr>
        <p:pic>
          <p:nvPicPr>
            <p:cNvPr id="15" name="Picture 14" descr="A close up of a microscope&#10;&#10;AI-generated content may be incorrect.">
              <a:extLst>
                <a:ext uri="{FF2B5EF4-FFF2-40B4-BE49-F238E27FC236}">
                  <a16:creationId xmlns:a16="http://schemas.microsoft.com/office/drawing/2014/main" id="{E4B1B6B7-E851-3C3B-73D1-244B0128F88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380505" y="304766"/>
              <a:ext cx="844270" cy="1199753"/>
            </a:xfrm>
            <a:prstGeom prst="rect">
              <a:avLst/>
            </a:prstGeom>
          </p:spPr>
        </p:pic>
        <p:pic>
          <p:nvPicPr>
            <p:cNvPr id="16" name="Picture 15" descr="A close up of a snowflake&#10;&#10;AI-generated content may be incorrect.">
              <a:extLst>
                <a:ext uri="{FF2B5EF4-FFF2-40B4-BE49-F238E27FC236}">
                  <a16:creationId xmlns:a16="http://schemas.microsoft.com/office/drawing/2014/main" id="{BDFEE0E8-0AA9-CBC7-3993-F80343D2719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330161" y="304766"/>
              <a:ext cx="674656" cy="674656"/>
            </a:xfrm>
            <a:prstGeom prst="rect">
              <a:avLst/>
            </a:prstGeom>
          </p:spPr>
        </p:pic>
        <p:pic>
          <p:nvPicPr>
            <p:cNvPr id="17" name="Picture 16" descr="A black cloud of smoke&#10;&#10;AI-generated content may be incorrect.">
              <a:extLst>
                <a:ext uri="{FF2B5EF4-FFF2-40B4-BE49-F238E27FC236}">
                  <a16:creationId xmlns:a16="http://schemas.microsoft.com/office/drawing/2014/main" id="{A27718C1-0440-F2F7-22B1-7B788184D12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5400000">
              <a:off x="7502021" y="873964"/>
              <a:ext cx="643699" cy="992824"/>
            </a:xfrm>
            <a:prstGeom prst="rect">
              <a:avLst/>
            </a:prstGeom>
          </p:spPr>
        </p:pic>
        <p:pic>
          <p:nvPicPr>
            <p:cNvPr id="18" name="Picture 17" descr="A close-up of a small white object&#10;&#10;AI-generated content may be incorrect.">
              <a:extLst>
                <a:ext uri="{FF2B5EF4-FFF2-40B4-BE49-F238E27FC236}">
                  <a16:creationId xmlns:a16="http://schemas.microsoft.com/office/drawing/2014/main" id="{B689C005-755D-7E3B-65BA-04B6FCEE2B2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167511" y="276713"/>
              <a:ext cx="661007" cy="740784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9322184D-25DE-22C1-6BDE-63A8A1724FF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 rot="5400000">
              <a:off x="8478050" y="1003859"/>
              <a:ext cx="661007" cy="771175"/>
            </a:xfrm>
            <a:prstGeom prst="rect">
              <a:avLst/>
            </a:prstGeom>
          </p:spPr>
        </p:pic>
        <p:pic>
          <p:nvPicPr>
            <p:cNvPr id="20" name="Picture 19" descr="A close up of a green object&#10;&#10;AI-generated content may be incorrect.">
              <a:extLst>
                <a:ext uri="{FF2B5EF4-FFF2-40B4-BE49-F238E27FC236}">
                  <a16:creationId xmlns:a16="http://schemas.microsoft.com/office/drawing/2014/main" id="{A4D91B0E-71E6-3610-5427-20AFF7E92C3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9254903" y="316438"/>
              <a:ext cx="838824" cy="947561"/>
            </a:xfrm>
            <a:prstGeom prst="rect">
              <a:avLst/>
            </a:prstGeom>
          </p:spPr>
        </p:pic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C3FCAA63-F11A-C17F-116D-A528A0950B3E}"/>
              </a:ext>
            </a:extLst>
          </p:cNvPr>
          <p:cNvSpPr txBox="1"/>
          <p:nvPr/>
        </p:nvSpPr>
        <p:spPr>
          <a:xfrm>
            <a:off x="7544487" y="2117799"/>
            <a:ext cx="42939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Filamentous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cyanobacteria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7DCA8E-ED0C-0D64-70FC-2080289C10B5}"/>
              </a:ext>
            </a:extLst>
          </p:cNvPr>
          <p:cNvPicPr>
            <a:picLocks noChangeAspect="1"/>
          </p:cNvPicPr>
          <p:nvPr/>
        </p:nvPicPr>
        <p:blipFill rotWithShape="1">
          <a:blip r:embed="rId14"/>
          <a:srcRect l="17789" t="37526"/>
          <a:stretch/>
        </p:blipFill>
        <p:spPr>
          <a:xfrm rot="5400000">
            <a:off x="10613410" y="784660"/>
            <a:ext cx="346069" cy="996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925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D53DD-1106-C1ED-4264-891ECED14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0FB0C-C8AB-5EA2-9FDD-2D0CAA4BF3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83086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Organize measurement data from prior years</a:t>
            </a:r>
          </a:p>
          <a:p>
            <a:pPr lvl="1"/>
            <a:r>
              <a:rPr lang="en-US" dirty="0"/>
              <a:t>Opportunity to create statistical models to find patterns in blooms and possibly predict future blooms?</a:t>
            </a:r>
          </a:p>
          <a:p>
            <a:endParaRPr lang="en-US" dirty="0"/>
          </a:p>
          <a:p>
            <a:r>
              <a:rPr lang="en-US" dirty="0"/>
              <a:t>Organization of </a:t>
            </a:r>
            <a:r>
              <a:rPr lang="en-US" dirty="0" err="1"/>
              <a:t>FlowCam</a:t>
            </a:r>
            <a:r>
              <a:rPr lang="en-US" dirty="0"/>
              <a:t> image data</a:t>
            </a:r>
          </a:p>
          <a:p>
            <a:pPr lvl="1"/>
            <a:r>
              <a:rPr lang="en-US" dirty="0"/>
              <a:t>2021-2026</a:t>
            </a:r>
          </a:p>
          <a:p>
            <a:pPr lvl="1"/>
            <a:r>
              <a:rPr lang="en-US" dirty="0"/>
              <a:t>500k images per year</a:t>
            </a:r>
          </a:p>
          <a:p>
            <a:endParaRPr lang="en-US" dirty="0"/>
          </a:p>
          <a:p>
            <a:r>
              <a:rPr lang="en-US" dirty="0"/>
              <a:t>Refine and validate machine learning tool to classify </a:t>
            </a:r>
            <a:r>
              <a:rPr lang="en-US" dirty="0" err="1"/>
              <a:t>FlowCam</a:t>
            </a:r>
            <a:r>
              <a:rPr lang="en-US" dirty="0"/>
              <a:t> data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65413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C7E74-9668-6510-9466-826A45D97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562" y="1036538"/>
            <a:ext cx="6553200" cy="1469861"/>
          </a:xfrm>
        </p:spPr>
        <p:txBody>
          <a:bodyPr/>
          <a:lstStyle/>
          <a:p>
            <a:r>
              <a:rPr lang="en-US" dirty="0"/>
              <a:t>Captures hundreds of microscopic images per sample</a:t>
            </a:r>
          </a:p>
          <a:p>
            <a:r>
              <a:rPr lang="en-US" dirty="0"/>
              <a:t>Analysis is still manual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F29DC1F-89BA-8380-D627-6D94BC79D515}"/>
              </a:ext>
            </a:extLst>
          </p:cNvPr>
          <p:cNvGrpSpPr/>
          <p:nvPr/>
        </p:nvGrpSpPr>
        <p:grpSpPr>
          <a:xfrm>
            <a:off x="584200" y="735249"/>
            <a:ext cx="3594100" cy="2337665"/>
            <a:chOff x="127001" y="672999"/>
            <a:chExt cx="5350106" cy="3479801"/>
          </a:xfrm>
        </p:grpSpPr>
        <p:pic>
          <p:nvPicPr>
            <p:cNvPr id="4" name="Picture 4" descr="Buy FlowCam LO Read Reviews">
              <a:extLst>
                <a:ext uri="{FF2B5EF4-FFF2-40B4-BE49-F238E27FC236}">
                  <a16:creationId xmlns:a16="http://schemas.microsoft.com/office/drawing/2014/main" id="{523A864F-BC11-2405-2244-91EA6076E04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538" r="50000" b="6837"/>
            <a:stretch/>
          </p:blipFill>
          <p:spPr bwMode="auto">
            <a:xfrm>
              <a:off x="127001" y="672999"/>
              <a:ext cx="2819400" cy="34798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0" name="Picture 2" descr="High-Resolution Flow Imaging Microscopy | Particle Analysis">
              <a:extLst>
                <a:ext uri="{FF2B5EF4-FFF2-40B4-BE49-F238E27FC236}">
                  <a16:creationId xmlns:a16="http://schemas.microsoft.com/office/drawing/2014/main" id="{D886EAB8-61D8-A7F6-83F7-125B67C3AD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82901" y="1330325"/>
              <a:ext cx="2594206" cy="19088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0AB5D446-D9EF-0207-8154-630F3A470975}"/>
              </a:ext>
            </a:extLst>
          </p:cNvPr>
          <p:cNvSpPr txBox="1"/>
          <p:nvPr/>
        </p:nvSpPr>
        <p:spPr>
          <a:xfrm>
            <a:off x="2287588" y="5776516"/>
            <a:ext cx="761682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Machine learning </a:t>
            </a:r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approaches</a:t>
            </a:r>
            <a:r>
              <a:rPr lang="en-US" sz="3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have the potential to automate this process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60D9C9-25F7-1B4B-83D6-74A8643FD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75" y="-3251"/>
            <a:ext cx="10515600" cy="996900"/>
          </a:xfrm>
        </p:spPr>
        <p:txBody>
          <a:bodyPr/>
          <a:lstStyle/>
          <a:p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FlowCam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output and analysis</a:t>
            </a:r>
          </a:p>
        </p:txBody>
      </p:sp>
      <p:pic>
        <p:nvPicPr>
          <p:cNvPr id="2052" name="Picture 4" descr="Buy FlowCam Cyano Read Reviews">
            <a:extLst>
              <a:ext uri="{FF2B5EF4-FFF2-40B4-BE49-F238E27FC236}">
                <a16:creationId xmlns:a16="http://schemas.microsoft.com/office/drawing/2014/main" id="{E37825ED-9643-7F36-108A-57ABF823B5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459" b="20927"/>
          <a:stretch/>
        </p:blipFill>
        <p:spPr bwMode="auto">
          <a:xfrm>
            <a:off x="277028" y="3471168"/>
            <a:ext cx="4365290" cy="192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D855EAB5-1028-E8F3-F2CC-599FD36D1057}"/>
              </a:ext>
            </a:extLst>
          </p:cNvPr>
          <p:cNvGrpSpPr/>
          <p:nvPr/>
        </p:nvGrpSpPr>
        <p:grpSpPr>
          <a:xfrm>
            <a:off x="6096000" y="2891328"/>
            <a:ext cx="6080125" cy="2418433"/>
            <a:chOff x="5749130" y="2913586"/>
            <a:chExt cx="6080125" cy="2418433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C5C4734-8032-0417-84B2-4ED062A8759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774530" y="3622018"/>
              <a:ext cx="6054725" cy="1710001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D6ABB65-F174-07BE-6389-A8445B8D412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t="-7443" r="4952" b="4956"/>
            <a:stretch/>
          </p:blipFill>
          <p:spPr>
            <a:xfrm>
              <a:off x="5749130" y="2913586"/>
              <a:ext cx="6054725" cy="640798"/>
            </a:xfrm>
            <a:prstGeom prst="rect">
              <a:avLst/>
            </a:prstGeom>
          </p:spPr>
        </p:pic>
      </p:grpSp>
      <p:sp>
        <p:nvSpPr>
          <p:cNvPr id="11" name="Right Arrow 10">
            <a:extLst>
              <a:ext uri="{FF2B5EF4-FFF2-40B4-BE49-F238E27FC236}">
                <a16:creationId xmlns:a16="http://schemas.microsoft.com/office/drawing/2014/main" id="{4F61BCDD-7524-853A-5986-FB57FA23EA7C}"/>
              </a:ext>
            </a:extLst>
          </p:cNvPr>
          <p:cNvSpPr/>
          <p:nvPr/>
        </p:nvSpPr>
        <p:spPr>
          <a:xfrm>
            <a:off x="4917281" y="4449306"/>
            <a:ext cx="1117600" cy="446679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3BBA026F-B33F-4D94-3131-6AC052A848A4}"/>
              </a:ext>
            </a:extLst>
          </p:cNvPr>
          <p:cNvSpPr/>
          <p:nvPr/>
        </p:nvSpPr>
        <p:spPr>
          <a:xfrm rot="5400000">
            <a:off x="2418897" y="2844867"/>
            <a:ext cx="578754" cy="446679"/>
          </a:xfrm>
          <a:prstGeom prst="rightArrow">
            <a:avLst>
              <a:gd name="adj1" fmla="val 44313"/>
              <a:gd name="adj2" fmla="val 5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DF6659-1D5F-3CE4-2BCB-E365AB289B90}"/>
              </a:ext>
            </a:extLst>
          </p:cNvPr>
          <p:cNvSpPr txBox="1"/>
          <p:nvPr/>
        </p:nvSpPr>
        <p:spPr>
          <a:xfrm>
            <a:off x="4810359" y="3910625"/>
            <a:ext cx="111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Nick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F205D5-9EC3-27AD-3003-257C5AD4CD37}"/>
              </a:ext>
            </a:extLst>
          </p:cNvPr>
          <p:cNvSpPr txBox="1"/>
          <p:nvPr/>
        </p:nvSpPr>
        <p:spPr>
          <a:xfrm>
            <a:off x="317365" y="5319600"/>
            <a:ext cx="43351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800 images per sample!</a:t>
            </a:r>
          </a:p>
        </p:txBody>
      </p:sp>
    </p:spTree>
    <p:extLst>
      <p:ext uri="{BB962C8B-B14F-4D97-AF65-F5344CB8AC3E}">
        <p14:creationId xmlns:p14="http://schemas.microsoft.com/office/powerpoint/2010/main" val="2957561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 animBg="1"/>
      <p:bldP spid="12" grpId="0" animBg="1"/>
      <p:bldP spid="13" grpId="0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61FE43C-B84F-3D36-2210-42F63C9CA8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070" y="141464"/>
            <a:ext cx="6238754" cy="2862652"/>
          </a:xfrm>
          <a:prstGeom prst="rect">
            <a:avLst/>
          </a:prstGeom>
        </p:spPr>
      </p:pic>
      <p:pic>
        <p:nvPicPr>
          <p:cNvPr id="9218" name="Picture 2" descr="Figure 1">
            <a:extLst>
              <a:ext uri="{FF2B5EF4-FFF2-40B4-BE49-F238E27FC236}">
                <a16:creationId xmlns:a16="http://schemas.microsoft.com/office/drawing/2014/main" id="{9FFE3D8D-E4E9-6956-862B-BE2660FA8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6295" y="995423"/>
            <a:ext cx="3879181" cy="5049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31FB501-F6EC-FAD7-F80B-2B22E30826C8}"/>
              </a:ext>
            </a:extLst>
          </p:cNvPr>
          <p:cNvSpPr txBox="1"/>
          <p:nvPr/>
        </p:nvSpPr>
        <p:spPr>
          <a:xfrm>
            <a:off x="555586" y="3785670"/>
            <a:ext cx="480148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$1000 system</a:t>
            </a:r>
            <a:b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vs.</a:t>
            </a:r>
            <a:b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$100,000 </a:t>
            </a:r>
            <a:r>
              <a:rPr lang="en-US" sz="3000" b="1" dirty="0" err="1">
                <a:latin typeface="Arial" panose="020B0604020202020204" pitchFamily="34" charset="0"/>
                <a:cs typeface="Arial" panose="020B0604020202020204" pitchFamily="34" charset="0"/>
              </a:rPr>
              <a:t>FlowCam</a:t>
            </a:r>
            <a:endParaRPr lang="en-US" sz="3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0863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0" y="0"/>
            <a:ext cx="12188952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24000" y="0"/>
            <a:ext cx="12188952" cy="868680"/>
          </a:xfrm>
          <a:prstGeom prst="rect">
            <a:avLst/>
          </a:prstGeom>
          <a:solidFill>
            <a:srgbClr val="04788C"/>
          </a:solidFill>
          <a:ln>
            <a:solidFill>
              <a:srgbClr val="047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600">
                <a:solidFill>
                  <a:srgbClr val="F7F8FA"/>
                </a:solidFill>
              </a:rPr>
              <a:t>9) Per-class F1-score</a:t>
            </a:r>
          </a:p>
        </p:txBody>
      </p:sp>
      <p:pic>
        <p:nvPicPr>
          <p:cNvPr id="4" name="Picture 3" descr="per_class_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868681"/>
            <a:ext cx="8651240" cy="5989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7438" y="6492242"/>
            <a:ext cx="293971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dirty="0">
                <a:solidFill>
                  <a:srgbClr val="303742"/>
                </a:solidFill>
              </a:rPr>
              <a:t>F1 per genus; top performers: Tri, Anabaena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0" y="0"/>
            <a:ext cx="12188952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24000" y="0"/>
            <a:ext cx="12188952" cy="868680"/>
          </a:xfrm>
          <a:prstGeom prst="rect">
            <a:avLst/>
          </a:prstGeom>
          <a:solidFill>
            <a:srgbClr val="04788C"/>
          </a:solidFill>
          <a:ln>
            <a:solidFill>
              <a:srgbClr val="047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600" dirty="0">
                <a:solidFill>
                  <a:srgbClr val="F7F8FA"/>
                </a:solidFill>
              </a:rPr>
              <a:t>10) Per-class PR-AUC</a:t>
            </a:r>
          </a:p>
        </p:txBody>
      </p:sp>
      <p:pic>
        <p:nvPicPr>
          <p:cNvPr id="4" name="Picture 3" descr="per_class_pr_au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868680"/>
            <a:ext cx="8651240" cy="5989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20276" y="6492241"/>
            <a:ext cx="299267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303742"/>
                </a:solidFill>
              </a:rPr>
              <a:t>High precision over wide recall across classes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0" y="0"/>
            <a:ext cx="12188952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24000" y="0"/>
            <a:ext cx="12188952" cy="868680"/>
          </a:xfrm>
          <a:prstGeom prst="rect">
            <a:avLst/>
          </a:prstGeom>
          <a:solidFill>
            <a:srgbClr val="04788C"/>
          </a:solidFill>
          <a:ln>
            <a:solidFill>
              <a:srgbClr val="047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600" dirty="0">
                <a:solidFill>
                  <a:srgbClr val="F7F8FA"/>
                </a:solidFill>
              </a:rPr>
              <a:t>11) Per-class ROC-AUC</a:t>
            </a:r>
          </a:p>
        </p:txBody>
      </p:sp>
      <p:pic>
        <p:nvPicPr>
          <p:cNvPr id="4" name="Picture 3" descr="per_class_roc_au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6568" y="840884"/>
            <a:ext cx="8691390" cy="60171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05082" y="6492241"/>
            <a:ext cx="221797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dirty="0">
                <a:solidFill>
                  <a:srgbClr val="303742"/>
                </a:solidFill>
              </a:rPr>
              <a:t>Near-perfect separability by ROC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0" y="0"/>
            <a:ext cx="12188952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24000" y="0"/>
            <a:ext cx="12188952" cy="868680"/>
          </a:xfrm>
          <a:prstGeom prst="rect">
            <a:avLst/>
          </a:prstGeom>
          <a:solidFill>
            <a:srgbClr val="04788C"/>
          </a:solidFill>
          <a:ln>
            <a:solidFill>
              <a:srgbClr val="047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600" dirty="0">
                <a:solidFill>
                  <a:srgbClr val="F7F8FA"/>
                </a:solidFill>
              </a:rPr>
              <a:t>12) Precision-Recall Curves (OVR)</a:t>
            </a:r>
          </a:p>
        </p:txBody>
      </p:sp>
      <p:pic>
        <p:nvPicPr>
          <p:cNvPr id="4" name="Picture 3" descr="pr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868680"/>
            <a:ext cx="7905902" cy="5989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13817" y="6492241"/>
            <a:ext cx="281916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dirty="0">
                <a:solidFill>
                  <a:srgbClr val="303742"/>
                </a:solidFill>
              </a:rPr>
              <a:t>Operating points set via Fβ=2.0 thresholds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0" y="0"/>
            <a:ext cx="12188952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24000" y="0"/>
            <a:ext cx="12188952" cy="868680"/>
          </a:xfrm>
          <a:prstGeom prst="rect">
            <a:avLst/>
          </a:prstGeom>
          <a:solidFill>
            <a:srgbClr val="04788C"/>
          </a:solidFill>
          <a:ln>
            <a:solidFill>
              <a:srgbClr val="047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600" dirty="0">
                <a:solidFill>
                  <a:srgbClr val="F7F8FA"/>
                </a:solidFill>
              </a:rPr>
              <a:t>13) ROC Curves (OVR)</a:t>
            </a:r>
          </a:p>
        </p:txBody>
      </p:sp>
      <p:pic>
        <p:nvPicPr>
          <p:cNvPr id="4" name="Picture 3" descr="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868680"/>
            <a:ext cx="7905902" cy="5989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73727" y="5707289"/>
            <a:ext cx="320446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dirty="0">
                <a:solidFill>
                  <a:srgbClr val="303742"/>
                </a:solidFill>
              </a:rPr>
              <a:t>Low FPR at high TPR; curves cluster near top-left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0" y="0"/>
            <a:ext cx="12188952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24000" y="0"/>
            <a:ext cx="12188952" cy="868680"/>
          </a:xfrm>
          <a:prstGeom prst="rect">
            <a:avLst/>
          </a:prstGeom>
          <a:solidFill>
            <a:srgbClr val="04788C"/>
          </a:solidFill>
          <a:ln>
            <a:solidFill>
              <a:srgbClr val="047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600" dirty="0">
                <a:solidFill>
                  <a:srgbClr val="F7F8FA"/>
                </a:solidFill>
              </a:rPr>
              <a:t>4) Modeling Approach (</a:t>
            </a:r>
            <a:r>
              <a:rPr lang="en-US" sz="2600" dirty="0">
                <a:solidFill>
                  <a:srgbClr val="F7F8FA"/>
                </a:solidFill>
              </a:rPr>
              <a:t>Multi Binary</a:t>
            </a:r>
            <a:r>
              <a:rPr sz="2600" dirty="0">
                <a:solidFill>
                  <a:srgbClr val="F7F8FA"/>
                </a:solidFill>
              </a:rPr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55520" y="1188721"/>
            <a:ext cx="7344896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303742"/>
                </a:solidFill>
              </a:rPr>
              <a:t>Shared EfficientNetV2‑S backbone → K binary heads (one‑vs‑rest)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303742"/>
                </a:solidFill>
              </a:rPr>
              <a:t>Per‑head temperature scaling; thresholds chosen by Fβ=2.0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303742"/>
                </a:solidFill>
              </a:rPr>
              <a:t>Easy to add/remove genera; robust to class imbalance</a:t>
            </a:r>
          </a:p>
        </p:txBody>
      </p:sp>
      <p:pic>
        <p:nvPicPr>
          <p:cNvPr id="8" name="Picture 7" descr="A diagram with text and arrows&#10;&#10;AI-generated content may be incorrect.">
            <a:extLst>
              <a:ext uri="{FF2B5EF4-FFF2-40B4-BE49-F238E27FC236}">
                <a16:creationId xmlns:a16="http://schemas.microsoft.com/office/drawing/2014/main" id="{FDA455C8-BC6D-0836-7BF0-6398FD9229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566930"/>
            <a:ext cx="7322645" cy="429107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A77E2-5904-F28D-212A-180369252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4D75238-BA5B-A2DD-8400-B36157E58162}"/>
              </a:ext>
            </a:extLst>
          </p:cNvPr>
          <p:cNvSpPr/>
          <p:nvPr/>
        </p:nvSpPr>
        <p:spPr>
          <a:xfrm>
            <a:off x="1524000" y="297455"/>
            <a:ext cx="12188952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6F76AB-E5EC-E23D-2136-0FC18C548423}"/>
              </a:ext>
            </a:extLst>
          </p:cNvPr>
          <p:cNvSpPr/>
          <p:nvPr/>
        </p:nvSpPr>
        <p:spPr>
          <a:xfrm>
            <a:off x="1524000" y="0"/>
            <a:ext cx="12188952" cy="868680"/>
          </a:xfrm>
          <a:prstGeom prst="rect">
            <a:avLst/>
          </a:prstGeom>
          <a:solidFill>
            <a:srgbClr val="04788C"/>
          </a:solidFill>
          <a:ln>
            <a:solidFill>
              <a:srgbClr val="047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600" dirty="0">
                <a:solidFill>
                  <a:srgbClr val="F7F8FA"/>
                </a:solidFill>
              </a:rPr>
              <a:t>6</a:t>
            </a:r>
            <a:r>
              <a:rPr sz="2600" dirty="0">
                <a:solidFill>
                  <a:srgbClr val="F7F8FA"/>
                </a:solidFill>
              </a:rPr>
              <a:t>) </a:t>
            </a:r>
            <a:r>
              <a:rPr lang="en-US" sz="2600" dirty="0">
                <a:solidFill>
                  <a:srgbClr val="F7F8FA"/>
                </a:solidFill>
              </a:rPr>
              <a:t>Imbalance Controls</a:t>
            </a:r>
          </a:p>
          <a:p>
            <a:endParaRPr sz="2600" dirty="0">
              <a:solidFill>
                <a:srgbClr val="F7F8F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CEB1AF6-AA93-8DF4-02F9-8F47C7611B5E}"/>
                  </a:ext>
                </a:extLst>
              </p:cNvPr>
              <p:cNvSpPr txBox="1"/>
              <p:nvPr/>
            </p:nvSpPr>
            <p:spPr>
              <a:xfrm>
                <a:off x="2255520" y="1188721"/>
                <a:ext cx="10114244" cy="440120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rgbClr val="303742"/>
                    </a:solidFill>
                  </a:rPr>
                  <a:t>Imbalance Controls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800" dirty="0" err="1">
                    <a:solidFill>
                      <a:srgbClr val="303742"/>
                    </a:solidFill>
                  </a:rPr>
                  <a:t>neg_ratio</a:t>
                </a:r>
                <a:r>
                  <a:rPr lang="en-US" sz="2800" dirty="0">
                    <a:solidFill>
                      <a:srgbClr val="303742"/>
                    </a:solidFill>
                  </a:rPr>
                  <a:t> = 3.0 → sample 3 negatives per positive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800" dirty="0" err="1">
                    <a:solidFill>
                      <a:srgbClr val="303742"/>
                    </a:solidFill>
                  </a:rPr>
                  <a:t>synthetic_ratio</a:t>
                </a:r>
                <a:r>
                  <a:rPr lang="en-US" sz="2800" dirty="0">
                    <a:solidFill>
                      <a:srgbClr val="303742"/>
                    </a:solidFill>
                  </a:rPr>
                  <a:t> = 0.30 → 30% blended synthetic positives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rgbClr val="303742"/>
                    </a:solidFill>
                  </a:rPr>
                  <a:t>Hard Negative Mining → mine misclassified examples;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rgbClr val="303742"/>
                    </a:solidFill>
                  </a:rPr>
                  <a:t>expand negative pool each round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rgbClr val="303742"/>
                    </a:solidFill>
                  </a:rPr>
                  <a:t>Total training: 60 epochs*Best epoch selected based on Value loss</a:t>
                </a:r>
                <a:endParaRPr lang="ar-AE" sz="2800" dirty="0">
                  <a:solidFill>
                    <a:srgbClr val="303742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rgbClr val="303742"/>
                    </a:solidFill>
                  </a:rPr>
                  <a:t>Test-Time Augmentation (TTA): ×5; combine = uniform average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rgbClr val="303742"/>
                    </a:solidFill>
                  </a:rPr>
                  <a:t>Decision rule: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rgbClr val="303742"/>
                    </a:solidFill>
                  </a:rPr>
                  <a:t>For class </a:t>
                </a:r>
                <a14:m>
                  <m:oMath xmlns:m="http://schemas.openxmlformats.org/officeDocument/2006/math">
                    <m:r>
                      <a:rPr lang="en-US" sz="2800">
                        <a:solidFill>
                          <a:srgbClr val="303742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800" dirty="0">
                    <a:solidFill>
                      <a:srgbClr val="303742"/>
                    </a:solidFill>
                  </a:rPr>
                  <a:t>: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800" i="1">
                            <a:solidFill>
                              <a:srgbClr val="30374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800">
                            <a:solidFill>
                              <a:srgbClr val="303742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ar-AE" sz="2800">
                            <a:solidFill>
                              <a:srgbClr val="303742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ar-AE" sz="2800">
                        <a:solidFill>
                          <a:srgbClr val="30374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800">
                        <a:solidFill>
                          <a:srgbClr val="303742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ar-AE" sz="2800" i="1">
                            <a:solidFill>
                              <a:srgbClr val="30374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solidFill>
                                  <a:srgbClr val="30374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800" i="0">
                                <a:solidFill>
                                  <a:srgbClr val="303742"/>
                                </a:solidFill>
                              </a:rPr>
                              <m:t>logit</m:t>
                            </m:r>
                          </m:e>
                          <m:sub>
                            <m:r>
                              <a:rPr lang="ar-AE" sz="2800">
                                <a:solidFill>
                                  <a:srgbClr val="303742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ar-AE" sz="2800">
                            <a:solidFill>
                              <a:srgbClr val="303742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sSub>
                          <m:sSubPr>
                            <m:ctrlPr>
                              <a:rPr lang="ar-AE" sz="2800" i="1">
                                <a:solidFill>
                                  <a:srgbClr val="30374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800">
                                <a:solidFill>
                                  <a:srgbClr val="303742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ar-AE" sz="2800">
                                <a:solidFill>
                                  <a:srgbClr val="303742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e>
                    </m:d>
                  </m:oMath>
                </a14:m>
                <a:endParaRPr lang="ar-AE" sz="2800" dirty="0">
                  <a:solidFill>
                    <a:srgbClr val="303742"/>
                  </a:solidFill>
                </a:endParaRP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rgbClr val="303742"/>
                    </a:solidFill>
                  </a:rPr>
                  <a:t>Use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30374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800" i="0">
                            <a:solidFill>
                              <a:srgbClr val="303742"/>
                            </a:solidFill>
                          </a:rPr>
                          <m:t>thr</m:t>
                        </m:r>
                      </m:e>
                      <m:sub>
                        <m:r>
                          <a:rPr lang="ar-AE" sz="2800">
                            <a:solidFill>
                              <a:srgbClr val="303742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ar-AE" sz="2800" dirty="0">
                    <a:solidFill>
                      <a:srgbClr val="303742"/>
                    </a:solidFill>
                  </a:rPr>
                  <a:t> </a:t>
                </a:r>
                <a:r>
                  <a:rPr lang="en-US" sz="2800" dirty="0">
                    <a:solidFill>
                      <a:srgbClr val="303742"/>
                    </a:solidFill>
                  </a:rPr>
                  <a:t>and/or argmax across classes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CEB1AF6-AA93-8DF4-02F9-8F47C7611B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5520" y="1188721"/>
                <a:ext cx="10114244" cy="4401205"/>
              </a:xfrm>
              <a:prstGeom prst="rect">
                <a:avLst/>
              </a:prstGeom>
              <a:blipFill>
                <a:blip r:embed="rId3"/>
                <a:stretch>
                  <a:fillRect l="-1129" t="-1437" r="-1380" b="-28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6165D0B2-016A-57DD-3132-5A39D3AA6E83}"/>
              </a:ext>
            </a:extLst>
          </p:cNvPr>
          <p:cNvSpPr txBox="1"/>
          <p:nvPr/>
        </p:nvSpPr>
        <p:spPr>
          <a:xfrm>
            <a:off x="1895026" y="6858001"/>
            <a:ext cx="170149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dirty="0">
                <a:solidFill>
                  <a:srgbClr val="303742"/>
                </a:solidFill>
              </a:rPr>
              <a:t>Augmentation montage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5BA44A-1ACB-222C-D838-6953D6FF3951}"/>
              </a:ext>
            </a:extLst>
          </p:cNvPr>
          <p:cNvSpPr txBox="1"/>
          <p:nvPr/>
        </p:nvSpPr>
        <p:spPr>
          <a:xfrm>
            <a:off x="1700271" y="-4076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2996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Details are in the caption following the image">
            <a:extLst>
              <a:ext uri="{FF2B5EF4-FFF2-40B4-BE49-F238E27FC236}">
                <a16:creationId xmlns:a16="http://schemas.microsoft.com/office/drawing/2014/main" id="{4E3055F9-011D-3967-1204-1128B9D6DB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1696" y="1334260"/>
            <a:ext cx="5644631" cy="3529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2F8AD5B-A0B1-9A27-49F1-A1A33D2C07D8}"/>
              </a:ext>
            </a:extLst>
          </p:cNvPr>
          <p:cNvSpPr txBox="1"/>
          <p:nvPr/>
        </p:nvSpPr>
        <p:spPr>
          <a:xfrm>
            <a:off x="2336038" y="4934969"/>
            <a:ext cx="777849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solidFill>
                  <a:srgbClr val="000000"/>
                </a:solidFill>
                <a:effectLst/>
                <a:latin typeface="Open Sans" panose="020F0502020204030204" pitchFamily="34" charset="0"/>
              </a:rPr>
              <a:t>Temperature dependence of the specific growth rates of the cyanobacteria </a:t>
            </a:r>
            <a:r>
              <a:rPr lang="en-US" sz="1400" b="0" i="1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Microcystis aeruginosa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 (</a:t>
            </a:r>
            <a:r>
              <a:rPr lang="en-US" sz="1400" b="1" i="0" dirty="0">
                <a:solidFill>
                  <a:srgbClr val="0056B3"/>
                </a:solidFill>
                <a:effectLst/>
                <a:latin typeface="Open Sans" panose="020B0606030504020204" pitchFamily="34" charset="0"/>
                <a:hlinkClick r:id="rId3"/>
              </a:rPr>
              <a:t>Reynolds, 2006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) and </a:t>
            </a:r>
            <a:r>
              <a:rPr lang="en-US" sz="1400" b="0" i="1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Planktothrix</a:t>
            </a:r>
            <a:r>
              <a:rPr lang="en-US" sz="1400" b="0" i="1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sz="1400" b="0" i="1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agardhii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 (</a:t>
            </a:r>
            <a:r>
              <a:rPr lang="en-US" sz="1400" b="1" i="0" dirty="0">
                <a:solidFill>
                  <a:srgbClr val="0056B3"/>
                </a:solidFill>
                <a:effectLst/>
                <a:latin typeface="Open Sans" panose="020B0606030504020204" pitchFamily="34" charset="0"/>
                <a:hlinkClick r:id="rId4"/>
              </a:rPr>
              <a:t>Foy </a:t>
            </a:r>
            <a:r>
              <a:rPr lang="en-US" sz="1400" b="1" i="1" dirty="0">
                <a:solidFill>
                  <a:srgbClr val="0056B3"/>
                </a:solidFill>
                <a:effectLst/>
                <a:latin typeface="Open Sans" panose="020B0606030504020204" pitchFamily="34" charset="0"/>
                <a:hlinkClick r:id="rId4"/>
              </a:rPr>
              <a:t>et al.</a:t>
            </a:r>
            <a:r>
              <a:rPr lang="en-US" sz="1400" b="1" i="0" dirty="0">
                <a:solidFill>
                  <a:srgbClr val="0056B3"/>
                </a:solidFill>
                <a:effectLst/>
                <a:latin typeface="Open Sans" panose="020B0606030504020204" pitchFamily="34" charset="0"/>
                <a:hlinkClick r:id="rId4"/>
              </a:rPr>
              <a:t>, 1976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), the diatom </a:t>
            </a:r>
            <a:r>
              <a:rPr lang="en-US" sz="1400" b="0" i="1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Asterionella</a:t>
            </a:r>
            <a:r>
              <a:rPr lang="en-US" sz="1400" b="0" i="1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sz="1400" b="0" i="1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formosa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 (</a:t>
            </a:r>
            <a:r>
              <a:rPr lang="en-US" sz="1400" b="1" i="0" dirty="0">
                <a:solidFill>
                  <a:srgbClr val="0056B3"/>
                </a:solidFill>
                <a:effectLst/>
                <a:latin typeface="Open Sans" panose="020B0606030504020204" pitchFamily="34" charset="0"/>
                <a:hlinkClick r:id="rId5"/>
              </a:rPr>
              <a:t>Butterwick </a:t>
            </a:r>
            <a:r>
              <a:rPr lang="en-US" sz="1400" b="1" i="1" dirty="0">
                <a:solidFill>
                  <a:srgbClr val="0056B3"/>
                </a:solidFill>
                <a:effectLst/>
                <a:latin typeface="Open Sans" panose="020B0606030504020204" pitchFamily="34" charset="0"/>
                <a:hlinkClick r:id="rId5"/>
              </a:rPr>
              <a:t>et al.</a:t>
            </a:r>
            <a:r>
              <a:rPr lang="en-US" sz="1400" b="1" i="0" dirty="0">
                <a:solidFill>
                  <a:srgbClr val="0056B3"/>
                </a:solidFill>
                <a:effectLst/>
                <a:latin typeface="Open Sans" panose="020B0606030504020204" pitchFamily="34" charset="0"/>
                <a:hlinkClick r:id="rId5"/>
              </a:rPr>
              <a:t>, 2005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) and the cryptophyte </a:t>
            </a:r>
            <a:r>
              <a:rPr lang="en-US" sz="1400" b="0" i="1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Cryptomonas</a:t>
            </a:r>
            <a:r>
              <a:rPr lang="en-US" sz="1400" b="0" i="1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sz="1400" b="0" i="1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marssonii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 (</a:t>
            </a:r>
            <a:r>
              <a:rPr lang="en-US" sz="1400" b="1" i="0" dirty="0">
                <a:solidFill>
                  <a:srgbClr val="0056B3"/>
                </a:solidFill>
                <a:effectLst/>
                <a:latin typeface="Open Sans" panose="020B0606030504020204" pitchFamily="34" charset="0"/>
                <a:hlinkClick r:id="rId5"/>
              </a:rPr>
              <a:t>Butterwick </a:t>
            </a:r>
            <a:r>
              <a:rPr lang="en-US" sz="1400" b="1" i="1" dirty="0">
                <a:solidFill>
                  <a:srgbClr val="0056B3"/>
                </a:solidFill>
                <a:effectLst/>
                <a:latin typeface="Open Sans" panose="020B0606030504020204" pitchFamily="34" charset="0"/>
                <a:hlinkClick r:id="rId5"/>
              </a:rPr>
              <a:t>et al.</a:t>
            </a:r>
            <a:r>
              <a:rPr lang="en-US" sz="1400" b="1" i="0" dirty="0">
                <a:solidFill>
                  <a:srgbClr val="0056B3"/>
                </a:solidFill>
                <a:effectLst/>
                <a:latin typeface="Open Sans" panose="020B0606030504020204" pitchFamily="34" charset="0"/>
                <a:hlinkClick r:id="rId5"/>
              </a:rPr>
              <a:t>, 2005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). The data are from controlled laboratory experiments using light-saturated and nutrient-saturated conditions. Solid lines are least-squares fits of the data to the temperature response curve of </a:t>
            </a:r>
            <a:r>
              <a:rPr lang="en-US" sz="1400" b="1" i="0" dirty="0">
                <a:solidFill>
                  <a:srgbClr val="0056B3"/>
                </a:solidFill>
                <a:effectLst/>
                <a:latin typeface="Open Sans" panose="020B0606030504020204" pitchFamily="34" charset="0"/>
                <a:hlinkClick r:id="rId6"/>
              </a:rPr>
              <a:t>Chen and Millero (1986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).</a:t>
            </a:r>
            <a:endParaRPr lang="en-US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8AC93C-859D-440A-3528-FA7E0EDA468C}"/>
              </a:ext>
            </a:extLst>
          </p:cNvPr>
          <p:cNvSpPr txBox="1"/>
          <p:nvPr/>
        </p:nvSpPr>
        <p:spPr>
          <a:xfrm>
            <a:off x="2518248" y="128482"/>
            <a:ext cx="777849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Evidence that warming temperatures favor cyanobacterial blooms</a:t>
            </a: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0B4AB1F7-603E-FFB6-080B-D258324B1EF1}"/>
              </a:ext>
            </a:extLst>
          </p:cNvPr>
          <p:cNvSpPr txBox="1"/>
          <p:nvPr/>
        </p:nvSpPr>
        <p:spPr>
          <a:xfrm>
            <a:off x="723814" y="6468323"/>
            <a:ext cx="11002944" cy="4518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r>
              <a:rPr lang="en-US" sz="1200" b="1" strike="noStrike" spc="-1" dirty="0">
                <a:solidFill>
                  <a:srgbClr val="0054A6"/>
                </a:solidFill>
                <a:latin typeface="Arial"/>
              </a:rPr>
              <a:t>Environ </a:t>
            </a:r>
            <a:r>
              <a:rPr lang="en-US" sz="1200" b="1" strike="noStrike" spc="-1" dirty="0" err="1">
                <a:solidFill>
                  <a:srgbClr val="0054A6"/>
                </a:solidFill>
                <a:latin typeface="Arial"/>
              </a:rPr>
              <a:t>Microbiol</a:t>
            </a:r>
            <a:r>
              <a:rPr lang="en-US" sz="1200" b="1" strike="noStrike" spc="-1" dirty="0">
                <a:solidFill>
                  <a:srgbClr val="0054A6"/>
                </a:solidFill>
                <a:latin typeface="Arial"/>
              </a:rPr>
              <a:t> Rep, Volume: 1, Issue: 1, Pages: 27-37, First published: 05 February 2009, DOI: (10.1111/j.1758-2229.2008.00004.x) </a:t>
            </a: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80983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3076</TotalTime>
  <Words>931</Words>
  <Application>Microsoft Office PowerPoint</Application>
  <PresentationFormat>Widescreen</PresentationFormat>
  <Paragraphs>155</Paragraphs>
  <Slides>21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Using data science and machine learning address cyanobacteria bloms in Wrocester</vt:lpstr>
      <vt:lpstr>The growing threat of cyanobacterial blooms</vt:lpstr>
      <vt:lpstr>PowerPoint Presentation</vt:lpstr>
      <vt:lpstr>PowerPoint Presentation</vt:lpstr>
      <vt:lpstr>Using machine learning for classification</vt:lpstr>
      <vt:lpstr>PowerPoint Presentation</vt:lpstr>
      <vt:lpstr>PowerPoint Presentation</vt:lpstr>
      <vt:lpstr>PowerPoint Presentation</vt:lpstr>
      <vt:lpstr>The first round of training and testing data</vt:lpstr>
      <vt:lpstr>PowerPoint Presentation</vt:lpstr>
      <vt:lpstr>PowerPoint Presentation</vt:lpstr>
      <vt:lpstr>FlowCam output and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machine learning to automatically identify cyanobacteria in WCMC samples</dc:title>
  <dc:creator>Nathan Ahlgren</dc:creator>
  <cp:lastModifiedBy>Nathan Ahlgren</cp:lastModifiedBy>
  <cp:revision>19</cp:revision>
  <dcterms:created xsi:type="dcterms:W3CDTF">2026-04-01T15:10:38Z</dcterms:created>
  <dcterms:modified xsi:type="dcterms:W3CDTF">2026-09-16T21:29:52Z</dcterms:modified>
</cp:coreProperties>
</file>